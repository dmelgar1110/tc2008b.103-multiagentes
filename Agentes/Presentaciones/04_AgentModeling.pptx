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50" r:id="rId5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6858000" type="screen4x3"/>
  <p:notesSz cx="6858000" cy="9144000"/>
  <p:embeddedFontLst>
    <p:embeddedFont>
      <p:font typeface="Garamond" panose="02020404030301010803" pitchFamily="18" charset="0"/>
      <p:regular r:id="rId21"/>
      <p:bold r:id="rId22"/>
      <p:italic r:id="rId23"/>
      <p:boldItalic r:id="rId24"/>
    </p:embeddedFont>
    <p:embeddedFont>
      <p:font typeface="Noto Sans Symbols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EpInkpOfEtGMEL688XY5VwV09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72" y="6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4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2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0412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" name="Google Shape;8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2" cy="411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n"/>
          <p:cNvSpPr txBox="1">
            <a:spLocks noGrp="1"/>
          </p:cNvSpPr>
          <p:nvPr>
            <p:ph type="sldNum" idx="4"/>
          </p:nvPr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215900" marR="0" lvl="0" indent="-215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d9cf19e6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" name="Google Shape;46;g2d9cf19e6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f0b059abbb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" name="Google Shape;59;g2f0b059abbb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4fcc6007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" name="Google Shape;65;g2a4fcc6007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a4fcc6007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" name="Google Shape;71;g2a4fcc6007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a4fe57861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" name="Google Shape;77;g2a4fe57861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a4fcc6007c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g2a4fcc6007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a4fcc6007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g2a4fcc6007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a4fe57861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g2a4fe57861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a4fe578614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g2a4fe57861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a4fe57861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2a4fe57861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a4fe578614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g2a4fe578614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a4fe57861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2a4fe57861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4fe578614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2a4fe578614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a4fe578614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g2a4fe578614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ayout with centered title and subtitle placeholders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62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2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2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4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f0b059abbb_0_204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g2f0b059abbb_0_20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2f0b059abbb_0_204"/>
          <p:cNvSpPr txBox="1">
            <a:spLocks noGrp="1"/>
          </p:cNvSpPr>
          <p:nvPr>
            <p:ph type="dt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g2f0b059abbb_0_20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g2f0b059abbb_0_204"/>
          <p:cNvSpPr txBox="1">
            <a:spLocks noGrp="1"/>
          </p:cNvSpPr>
          <p:nvPr>
            <p:ph type="sldNum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4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8012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8012" cy="452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4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2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4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4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1"/>
          <p:cNvSpPr txBox="1">
            <a:spLocks noGrp="1"/>
          </p:cNvSpPr>
          <p:nvPr>
            <p:ph type="title"/>
          </p:nvPr>
        </p:nvSpPr>
        <p:spPr>
          <a:xfrm>
            <a:off x="914400" y="1524000"/>
            <a:ext cx="7621587" cy="175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61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2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61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4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61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1"/>
          <p:cNvSpPr/>
          <p:nvPr/>
        </p:nvSpPr>
        <p:spPr>
          <a:xfrm>
            <a:off x="609600" y="1219200"/>
            <a:ext cx="7924800" cy="914400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550" cap="flat" cmpd="sng">
            <a:solidFill>
              <a:srgbClr val="CC99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17;p61"/>
          <p:cNvCxnSpPr/>
          <p:nvPr/>
        </p:nvCxnSpPr>
        <p:spPr>
          <a:xfrm>
            <a:off x="1981200" y="3962400"/>
            <a:ext cx="6511925" cy="1587"/>
          </a:xfrm>
          <a:prstGeom prst="straightConnector1">
            <a:avLst/>
          </a:prstGeom>
          <a:noFill/>
          <a:ln w="19075" cap="flat" cmpd="sng">
            <a:solidFill>
              <a:srgbClr val="CC99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3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8012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006633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26" name="Google Shape;26;p6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8012" cy="452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3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2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6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4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63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20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aramond"/>
              <a:buNone/>
              <a:defRPr sz="12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3"/>
          <p:cNvSpPr/>
          <p:nvPr/>
        </p:nvSpPr>
        <p:spPr>
          <a:xfrm>
            <a:off x="381000" y="228600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75" cap="flat" cmpd="sng">
            <a:solidFill>
              <a:srgbClr val="CC99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63"/>
          <p:cNvCxnSpPr/>
          <p:nvPr/>
        </p:nvCxnSpPr>
        <p:spPr>
          <a:xfrm>
            <a:off x="457200" y="6172200"/>
            <a:ext cx="8229600" cy="1587"/>
          </a:xfrm>
          <a:prstGeom prst="straightConnector1">
            <a:avLst/>
          </a:prstGeom>
          <a:noFill/>
          <a:ln w="19075" cap="flat" cmpd="sng">
            <a:solidFill>
              <a:srgbClr val="CC99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gif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d9cf19e6a7_0_0"/>
          <p:cNvSpPr/>
          <p:nvPr/>
        </p:nvSpPr>
        <p:spPr>
          <a:xfrm>
            <a:off x="0" y="-1"/>
            <a:ext cx="9143700" cy="685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2d9cf19e6a7_0_0"/>
          <p:cNvSpPr/>
          <p:nvPr/>
        </p:nvSpPr>
        <p:spPr>
          <a:xfrm>
            <a:off x="228" y="0"/>
            <a:ext cx="9143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g2d9cf19e6a7_0_0" descr="A blue circle with white flame in the midd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352" y="2371869"/>
            <a:ext cx="3106320" cy="3031658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51" name="Google Shape;51;g2d9cf19e6a7_0_0"/>
          <p:cNvGrpSpPr/>
          <p:nvPr/>
        </p:nvGrpSpPr>
        <p:grpSpPr>
          <a:xfrm>
            <a:off x="-7315" y="-5977"/>
            <a:ext cx="4683132" cy="6863979"/>
            <a:chOff x="-5196" y="-5977"/>
            <a:chExt cx="6244176" cy="6863979"/>
          </a:xfrm>
        </p:grpSpPr>
        <p:sp>
          <p:nvSpPr>
            <p:cNvPr id="52" name="Google Shape;52;g2d9cf19e6a7_0_0"/>
            <p:cNvSpPr/>
            <p:nvPr/>
          </p:nvSpPr>
          <p:spPr>
            <a:xfrm flipH="1">
              <a:off x="305" y="34854"/>
              <a:ext cx="6028697" cy="6817170"/>
            </a:xfrm>
            <a:custGeom>
              <a:avLst/>
              <a:gdLst/>
              <a:ahLst/>
              <a:cxnLst/>
              <a:rect l="l" t="t" r="r" b="b"/>
              <a:pathLst>
                <a:path w="6028697" h="6817170" extrusionOk="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235"/>
                  </a:srgbClr>
                </a:gs>
                <a:gs pos="2000">
                  <a:srgbClr val="FFFFFF">
                    <a:alpha val="8235"/>
                  </a:srgbClr>
                </a:gs>
                <a:gs pos="16000">
                  <a:srgbClr val="35742A">
                    <a:alpha val="8235"/>
                  </a:srgbClr>
                </a:gs>
                <a:gs pos="85000">
                  <a:srgbClr val="CC9900">
                    <a:alpha val="8235"/>
                  </a:srgbClr>
                </a:gs>
                <a:gs pos="100000">
                  <a:srgbClr val="FFFFFF">
                    <a:alpha val="8235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g2d9cf19e6a7_0_0"/>
            <p:cNvSpPr/>
            <p:nvPr/>
          </p:nvSpPr>
          <p:spPr>
            <a:xfrm flipH="1">
              <a:off x="-5196" y="1"/>
              <a:ext cx="6170617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235"/>
                  </a:srgbClr>
                </a:gs>
                <a:gs pos="2000">
                  <a:srgbClr val="FFFFFF">
                    <a:alpha val="8235"/>
                  </a:srgbClr>
                </a:gs>
                <a:gs pos="16000">
                  <a:srgbClr val="35742A">
                    <a:alpha val="8235"/>
                  </a:srgbClr>
                </a:gs>
                <a:gs pos="85000">
                  <a:srgbClr val="CC9900">
                    <a:alpha val="8235"/>
                  </a:srgbClr>
                </a:gs>
                <a:gs pos="100000">
                  <a:srgbClr val="FFFFFF">
                    <a:alpha val="8235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2d9cf19e6a7_0_0"/>
            <p:cNvSpPr/>
            <p:nvPr/>
          </p:nvSpPr>
          <p:spPr>
            <a:xfrm flipH="1">
              <a:off x="5717" y="-5977"/>
              <a:ext cx="6233263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235"/>
                  </a:srgbClr>
                </a:gs>
                <a:gs pos="2000">
                  <a:srgbClr val="FFFFFF">
                    <a:alpha val="8235"/>
                  </a:srgbClr>
                </a:gs>
                <a:gs pos="16000">
                  <a:srgbClr val="35742A">
                    <a:alpha val="8235"/>
                  </a:srgbClr>
                </a:gs>
                <a:gs pos="85000">
                  <a:srgbClr val="CC9900">
                    <a:alpha val="8235"/>
                  </a:srgbClr>
                </a:gs>
                <a:gs pos="100000">
                  <a:srgbClr val="FFFFFF">
                    <a:alpha val="8235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g2d9cf19e6a7_0_0"/>
          <p:cNvSpPr txBox="1"/>
          <p:nvPr/>
        </p:nvSpPr>
        <p:spPr>
          <a:xfrm>
            <a:off x="4943000" y="4267829"/>
            <a:ext cx="3604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lvl="0">
              <a:buSzPct val="100000"/>
            </a:pPr>
            <a:r>
              <a:rPr lang="en-US" sz="3200" b="1">
                <a:solidFill>
                  <a:srgbClr val="006633"/>
                </a:solidFill>
              </a:rPr>
              <a:t>MODELADO DE AGENTES</a:t>
            </a:r>
            <a:endParaRPr sz="5000" b="1" i="0" u="none" strike="noStrike" cap="none" dirty="0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05;p1">
            <a:extLst>
              <a:ext uri="{FF2B5EF4-FFF2-40B4-BE49-F238E27FC236}">
                <a16:creationId xmlns:a16="http://schemas.microsoft.com/office/drawing/2014/main" id="{FBFECA8C-2156-885D-DAB9-14331BDB6DDC}"/>
              </a:ext>
            </a:extLst>
          </p:cNvPr>
          <p:cNvSpPr txBox="1">
            <a:spLocks/>
          </p:cNvSpPr>
          <p:nvPr/>
        </p:nvSpPr>
        <p:spPr>
          <a:xfrm>
            <a:off x="3360930" y="249228"/>
            <a:ext cx="5782200" cy="3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24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766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40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❑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600"/>
              <a:buFont typeface="Noto Sans Symbols"/>
              <a:buNone/>
              <a:tabLst/>
              <a:defRPr/>
            </a:pPr>
            <a:r>
              <a:rPr kumimoji="0" lang="es-MX" sz="3000" b="1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TC2008B Modelación de Sistemas </a:t>
            </a:r>
            <a:r>
              <a:rPr kumimoji="0" lang="es-MX" sz="3000" b="1" i="0" u="none" strike="noStrike" kern="0" cap="none" spc="0" normalizeH="0" baseline="0" noProof="0" dirty="0" err="1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Multiagentes</a:t>
            </a:r>
            <a:r>
              <a:rPr kumimoji="0" lang="es-MX" sz="3000" b="1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con Gráficos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600"/>
              <a:buFont typeface="Noto Sans Symbols"/>
              <a:buNone/>
              <a:tabLst/>
              <a:defRPr/>
            </a:pPr>
            <a:endParaRPr kumimoji="0" lang="es-MX" sz="3383" b="1" i="0" u="none" strike="noStrike" kern="0" cap="none" spc="0" normalizeH="0" baseline="0" noProof="0" dirty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600"/>
              <a:buFont typeface="Noto Sans Symbols"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Alan Flores Saldivar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  <a:tabLst/>
              <a:defRPr/>
            </a:pPr>
            <a:r>
              <a:rPr kumimoji="0" lang="es-MX" sz="2000" b="0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Escuela de Ingeniería y Ciencias
Departamento de Ciencias de la Computación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alan.flores_s@tec.mx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  <a:tabLst/>
              <a:defRPr/>
            </a:pPr>
            <a:endParaRPr kumimoji="0" lang="es-MX" sz="900" b="0" i="0" u="none" strike="noStrike" kern="0" cap="none" spc="0" normalizeH="0" baseline="0" noProof="0" dirty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0b059abbb_0_105"/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AgentPy</a:t>
            </a:r>
            <a:r>
              <a:rPr lang="en-US" dirty="0"/>
              <a:t> Framework</a:t>
            </a:r>
            <a:endParaRPr dirty="0"/>
          </a:p>
        </p:txBody>
      </p:sp>
      <p:sp>
        <p:nvSpPr>
          <p:cNvPr id="62" name="Google Shape;62;g2f0b059abbb_0_105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7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n-US" sz="2100" dirty="0" err="1">
                <a:solidFill>
                  <a:schemeClr val="dk1"/>
                </a:solidFill>
              </a:rPr>
              <a:t>AgentPy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s-MX" sz="2100" dirty="0">
                <a:solidFill>
                  <a:schemeClr val="dk1"/>
                </a:solidFill>
              </a:rPr>
              <a:t>es una biblioteca de código abierto para el desarrollo y análisis de modelos basados en agentes en Python. Este </a:t>
            </a:r>
            <a:r>
              <a:rPr lang="es-MX" sz="2100" dirty="0" err="1">
                <a:solidFill>
                  <a:schemeClr val="dk1"/>
                </a:solidFill>
              </a:rPr>
              <a:t>framework</a:t>
            </a:r>
            <a:r>
              <a:rPr lang="es-MX" sz="2100" dirty="0">
                <a:solidFill>
                  <a:schemeClr val="dk1"/>
                </a:solidFill>
              </a:rPr>
              <a:t> integra las tareas de</a:t>
            </a:r>
            <a:endParaRPr sz="2100" dirty="0">
              <a:solidFill>
                <a:schemeClr val="dk1"/>
              </a:solidFill>
            </a:endParaRPr>
          </a:p>
          <a:p>
            <a:pPr lvl="0" indent="-361950">
              <a:spcBef>
                <a:spcPts val="520"/>
              </a:spcBef>
              <a:buClr>
                <a:schemeClr val="dk1"/>
              </a:buClr>
              <a:buSzPts val="2100"/>
              <a:buChar char="●"/>
            </a:pPr>
            <a:r>
              <a:rPr lang="es-MX" sz="2100" dirty="0">
                <a:solidFill>
                  <a:schemeClr val="dk1"/>
                </a:solidFill>
              </a:rPr>
              <a:t>diseño de modelos,
simulaciones interactivas,
experimentos numéricos,
y análisis de datos dentro de un único entorno</a:t>
            </a:r>
            <a:r>
              <a:rPr lang="en-US" sz="2100" dirty="0">
                <a:solidFill>
                  <a:schemeClr val="dk1"/>
                </a:solidFill>
              </a:rPr>
              <a:t>.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170"/>
              <a:buNone/>
            </a:pPr>
            <a:endParaRPr sz="2300" b="1" dirty="0">
              <a:solidFill>
                <a:srgbClr val="00339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170"/>
              <a:buNone/>
            </a:pPr>
            <a:endParaRPr sz="17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a4fcc6007c_0_2"/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AgentPy Framework</a:t>
            </a:r>
            <a:endParaRPr/>
          </a:p>
        </p:txBody>
      </p:sp>
      <p:sp>
        <p:nvSpPr>
          <p:cNvPr id="68" name="Google Shape;68;g2a4fcc6007c_0_2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7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520"/>
              </a:spcBef>
            </a:pPr>
            <a:r>
              <a:rPr lang="es-MX" sz="2100" dirty="0" err="1">
                <a:solidFill>
                  <a:schemeClr val="dk1"/>
                </a:solidFill>
              </a:rPr>
              <a:t>AgentPy</a:t>
            </a:r>
            <a:r>
              <a:rPr lang="es-MX" sz="2100" dirty="0">
                <a:solidFill>
                  <a:schemeClr val="dk1"/>
                </a:solidFill>
              </a:rPr>
              <a:t> es una biblioteca de </a:t>
            </a:r>
            <a:r>
              <a:rPr lang="es-MX" sz="2100" b="1" dirty="0">
                <a:solidFill>
                  <a:schemeClr val="dk1"/>
                </a:solidFill>
              </a:rPr>
              <a:t>código abierto </a:t>
            </a:r>
            <a:r>
              <a:rPr lang="es-MX" sz="2100" dirty="0">
                <a:solidFill>
                  <a:schemeClr val="dk1"/>
                </a:solidFill>
              </a:rPr>
              <a:t>para el desarrollo y análisis de </a:t>
            </a:r>
            <a:r>
              <a:rPr lang="es-MX" sz="2100" b="1" dirty="0">
                <a:solidFill>
                  <a:schemeClr val="dk1"/>
                </a:solidFill>
              </a:rPr>
              <a:t>modelos basados en agentes</a:t>
            </a:r>
            <a:r>
              <a:rPr lang="es-MX" sz="2100" dirty="0">
                <a:solidFill>
                  <a:schemeClr val="dk1"/>
                </a:solidFill>
              </a:rPr>
              <a:t> en Python. Este </a:t>
            </a:r>
            <a:r>
              <a:rPr lang="es-MX" sz="2100" dirty="0" err="1">
                <a:solidFill>
                  <a:schemeClr val="dk1"/>
                </a:solidFill>
              </a:rPr>
              <a:t>framework</a:t>
            </a:r>
            <a:r>
              <a:rPr lang="es-MX" sz="2100" dirty="0">
                <a:solidFill>
                  <a:schemeClr val="dk1"/>
                </a:solidFill>
              </a:rPr>
              <a:t> integra las tareas de</a:t>
            </a:r>
          </a:p>
          <a:p>
            <a:pPr lvl="0" indent="-361950">
              <a:spcBef>
                <a:spcPts val="520"/>
              </a:spcBef>
              <a:buClr>
                <a:schemeClr val="dk1"/>
              </a:buClr>
              <a:buSzPts val="2100"/>
              <a:buChar char="●"/>
            </a:pPr>
            <a:r>
              <a:rPr lang="es-MX" sz="2100" dirty="0">
                <a:solidFill>
                  <a:schemeClr val="dk1"/>
                </a:solidFill>
              </a:rPr>
              <a:t>diseño de modelos,
simulaciones interactivas,
experimentos numéricos,
y análisis de datos dentro de un único entorno.</a:t>
            </a:r>
          </a:p>
          <a:p>
            <a:pPr marL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</a:endParaRPr>
          </a:p>
          <a:p>
            <a:pPr marL="0" lvl="0" indent="0">
              <a:spcBef>
                <a:spcPts val="520"/>
              </a:spcBef>
            </a:pPr>
            <a:r>
              <a:rPr lang="es-MX" sz="2100" dirty="0">
                <a:solidFill>
                  <a:schemeClr val="dk1"/>
                </a:solidFill>
              </a:rPr>
              <a:t>El paquete está optimizado para la computación interactiva con</a:t>
            </a:r>
            <a:r>
              <a:rPr lang="en-US" sz="2100" dirty="0">
                <a:solidFill>
                  <a:schemeClr val="dk1"/>
                </a:solidFill>
              </a:rPr>
              <a:t>: 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dirty="0" err="1">
                <a:solidFill>
                  <a:schemeClr val="dk1"/>
                </a:solidFill>
              </a:rPr>
              <a:t>IPython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dirty="0" err="1">
                <a:solidFill>
                  <a:schemeClr val="dk1"/>
                </a:solidFill>
              </a:rPr>
              <a:t>IPySimulate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dirty="0">
                <a:solidFill>
                  <a:schemeClr val="dk1"/>
                </a:solidFill>
              </a:rPr>
              <a:t>y </a:t>
            </a:r>
            <a:r>
              <a:rPr lang="en-US" sz="2100" dirty="0" err="1">
                <a:solidFill>
                  <a:schemeClr val="dk1"/>
                </a:solidFill>
              </a:rPr>
              <a:t>Jupyter</a:t>
            </a:r>
            <a:r>
              <a:rPr lang="en-US" sz="2100" dirty="0">
                <a:solidFill>
                  <a:schemeClr val="dk1"/>
                </a:solidFill>
              </a:rPr>
              <a:t>.</a:t>
            </a:r>
            <a:endParaRPr sz="17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a4fcc6007c_0_7"/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Agent-based models: </a:t>
            </a:r>
            <a:r>
              <a:rPr lang="en-US" b="1" dirty="0"/>
              <a:t>class Model</a:t>
            </a:r>
            <a:endParaRPr b="1" dirty="0"/>
          </a:p>
        </p:txBody>
      </p:sp>
      <p:sp>
        <p:nvSpPr>
          <p:cNvPr id="74" name="Google Shape;74;g2a4fcc6007c_0_7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7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chemeClr val="dk1"/>
                </a:solidFill>
              </a:rPr>
              <a:t>class Model</a:t>
            </a:r>
            <a:r>
              <a:rPr lang="en-US" sz="1900" dirty="0">
                <a:solidFill>
                  <a:schemeClr val="dk1"/>
                </a:solidFill>
              </a:rPr>
              <a:t>(parameters=None, _</a:t>
            </a:r>
            <a:r>
              <a:rPr lang="en-US" sz="1900" dirty="0" err="1">
                <a:solidFill>
                  <a:schemeClr val="dk1"/>
                </a:solidFill>
              </a:rPr>
              <a:t>run_id</a:t>
            </a:r>
            <a:r>
              <a:rPr lang="en-US" sz="1900" dirty="0">
                <a:solidFill>
                  <a:schemeClr val="dk1"/>
                </a:solidFill>
              </a:rPr>
              <a:t>=None, **</a:t>
            </a:r>
            <a:r>
              <a:rPr lang="en-US" sz="1900" dirty="0" err="1">
                <a:solidFill>
                  <a:schemeClr val="dk1"/>
                </a:solidFill>
              </a:rPr>
              <a:t>kwargs</a:t>
            </a:r>
            <a:r>
              <a:rPr lang="en-US" sz="1900" dirty="0">
                <a:solidFill>
                  <a:schemeClr val="dk1"/>
                </a:solidFill>
              </a:rPr>
              <a:t>)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 dirty="0">
                <a:solidFill>
                  <a:schemeClr val="dk1"/>
                </a:solidFill>
              </a:rPr>
              <a:t>parameters: </a:t>
            </a:r>
            <a:r>
              <a:rPr lang="en-US" sz="1700" dirty="0">
                <a:solidFill>
                  <a:schemeClr val="dk1"/>
                </a:solidFill>
              </a:rPr>
              <a:t>Dictionary of the model’s parameters. Automatically defined:</a:t>
            </a:r>
            <a:endParaRPr sz="1900" dirty="0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steps (int, optional)</a:t>
            </a:r>
            <a:r>
              <a:rPr lang="en-US" sz="17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700" dirty="0">
                <a:solidFill>
                  <a:schemeClr val="dk1"/>
                </a:solidFill>
              </a:rPr>
              <a:t> </a:t>
            </a:r>
            <a:r>
              <a:rPr lang="en-US" sz="1500" dirty="0">
                <a:solidFill>
                  <a:schemeClr val="dk1"/>
                </a:solidFill>
              </a:rPr>
              <a:t>Defines the maximum number of time-steps. If none is passed, </a:t>
            </a:r>
            <a:r>
              <a:rPr lang="en-US" sz="1500" b="1" i="1" dirty="0">
                <a:solidFill>
                  <a:schemeClr val="dk1"/>
                </a:solidFill>
              </a:rPr>
              <a:t>there will be no step limit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endParaRPr sz="1500" dirty="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7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seed (int, optional):</a:t>
            </a:r>
            <a:r>
              <a:rPr lang="en-US" sz="1500" dirty="0">
                <a:solidFill>
                  <a:schemeClr val="dk1"/>
                </a:solidFill>
              </a:rPr>
              <a:t> Used to initiate the model’s random number generators. If none is passed, </a:t>
            </a:r>
            <a:r>
              <a:rPr lang="en-US" sz="1500" b="1" dirty="0">
                <a:solidFill>
                  <a:schemeClr val="dk1"/>
                </a:solidFill>
              </a:rPr>
              <a:t>a random seed will be generated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 dirty="0">
                <a:solidFill>
                  <a:schemeClr val="dk1"/>
                </a:solidFill>
              </a:rPr>
              <a:t>**</a:t>
            </a:r>
            <a:r>
              <a:rPr lang="en-US" sz="1900" b="1" dirty="0" err="1">
                <a:solidFill>
                  <a:schemeClr val="dk1"/>
                </a:solidFill>
              </a:rPr>
              <a:t>kwargs</a:t>
            </a:r>
            <a:r>
              <a:rPr lang="en-US" sz="1900" dirty="0">
                <a:solidFill>
                  <a:schemeClr val="dk1"/>
                </a:solidFill>
              </a:rPr>
              <a:t> – </a:t>
            </a:r>
            <a:r>
              <a:rPr lang="en-US" sz="1700" dirty="0">
                <a:solidFill>
                  <a:schemeClr val="dk1"/>
                </a:solidFill>
              </a:rPr>
              <a:t>Will be forwarded to </a:t>
            </a:r>
            <a:r>
              <a:rPr lang="en-US" sz="1700" dirty="0" err="1">
                <a:solidFill>
                  <a:schemeClr val="dk1"/>
                </a:solidFill>
              </a:rPr>
              <a:t>Model.setup</a:t>
            </a:r>
            <a:r>
              <a:rPr lang="en-US" sz="1700" dirty="0">
                <a:solidFill>
                  <a:schemeClr val="dk1"/>
                </a:solidFill>
              </a:rPr>
              <a:t>().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a4fe578614_0_21"/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Agent-based models: </a:t>
            </a:r>
            <a:r>
              <a:rPr lang="en-US" b="1"/>
              <a:t>class Model</a:t>
            </a:r>
            <a:endParaRPr b="1"/>
          </a:p>
        </p:txBody>
      </p:sp>
      <p:sp>
        <p:nvSpPr>
          <p:cNvPr id="80" name="Google Shape;80;g2a4fe578614_0_21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7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</a:rPr>
              <a:t>class Model</a:t>
            </a:r>
            <a:r>
              <a:rPr lang="en-US" sz="1900">
                <a:solidFill>
                  <a:schemeClr val="dk1"/>
                </a:solidFill>
              </a:rPr>
              <a:t>(parameters=None, _run_id=None, **kwargs)</a:t>
            </a:r>
            <a:endParaRPr sz="19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</a:rPr>
              <a:t>parameters: </a:t>
            </a:r>
            <a:r>
              <a:rPr lang="en-US" sz="1700">
                <a:solidFill>
                  <a:schemeClr val="dk1"/>
                </a:solidFill>
              </a:rPr>
              <a:t>Dictionary of the model’s parameters. Automatically defined:</a:t>
            </a:r>
            <a:endParaRPr sz="1900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steps (int, optional)</a:t>
            </a: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700">
                <a:solidFill>
                  <a:schemeClr val="dk1"/>
                </a:solidFill>
              </a:rPr>
              <a:t> </a:t>
            </a:r>
            <a:r>
              <a:rPr lang="en-US" sz="1500">
                <a:solidFill>
                  <a:schemeClr val="dk1"/>
                </a:solidFill>
              </a:rPr>
              <a:t>Defines the maximum number of time-steps. If none is passed, </a:t>
            </a:r>
            <a:r>
              <a:rPr lang="en-US" sz="1500" b="1" i="1">
                <a:solidFill>
                  <a:schemeClr val="dk1"/>
                </a:solidFill>
              </a:rPr>
              <a:t>there will be no step limit</a:t>
            </a:r>
            <a:r>
              <a:rPr lang="en-US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7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seed (int, optional):</a:t>
            </a:r>
            <a:r>
              <a:rPr lang="en-US" sz="1500">
                <a:solidFill>
                  <a:schemeClr val="dk1"/>
                </a:solidFill>
              </a:rPr>
              <a:t> Used to initiate the model’s random number generators. If none is passed, </a:t>
            </a:r>
            <a:r>
              <a:rPr lang="en-US" sz="1500" b="1">
                <a:solidFill>
                  <a:schemeClr val="dk1"/>
                </a:solidFill>
              </a:rPr>
              <a:t>a random seed will be generated</a:t>
            </a:r>
            <a:r>
              <a:rPr lang="en-US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</a:rPr>
              <a:t>**kwargs</a:t>
            </a:r>
            <a:r>
              <a:rPr lang="en-US" sz="1900">
                <a:solidFill>
                  <a:schemeClr val="dk1"/>
                </a:solidFill>
              </a:rPr>
              <a:t> – </a:t>
            </a:r>
            <a:r>
              <a:rPr lang="en-US" sz="1700">
                <a:solidFill>
                  <a:schemeClr val="dk1"/>
                </a:solidFill>
              </a:rPr>
              <a:t>Will be forwarded to Model.setup().</a:t>
            </a:r>
            <a:endParaRPr sz="170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</a:rPr>
              <a:t>Attributes</a:t>
            </a:r>
            <a:r>
              <a:rPr lang="en-US" sz="1900">
                <a:solidFill>
                  <a:schemeClr val="dk1"/>
                </a:solidFill>
              </a:rPr>
              <a:t>:</a:t>
            </a: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900">
                <a:solidFill>
                  <a:schemeClr val="dk1"/>
                </a:solidFill>
              </a:rPr>
              <a:t> – The model’s parameters.</a:t>
            </a: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1900" b="1">
                <a:solidFill>
                  <a:schemeClr val="dk1"/>
                </a:solidFill>
              </a:rPr>
              <a:t> </a:t>
            </a:r>
            <a:r>
              <a:rPr lang="en-US" sz="1900">
                <a:solidFill>
                  <a:schemeClr val="dk1"/>
                </a:solidFill>
              </a:rPr>
              <a:t>– Current time-step of the model.</a:t>
            </a: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random, nprandom</a:t>
            </a:r>
            <a:r>
              <a:rPr lang="en-US" sz="1900">
                <a:solidFill>
                  <a:schemeClr val="dk1"/>
                </a:solidFill>
              </a:rPr>
              <a:t> – Random number generators (Numpy).</a:t>
            </a: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reporters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900">
                <a:solidFill>
                  <a:schemeClr val="dk1"/>
                </a:solidFill>
              </a:rPr>
              <a:t>– The model’s documented reporters.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a4fcc6007c_0_27"/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Agent-based models: </a:t>
            </a:r>
            <a:r>
              <a:rPr lang="en-US" b="1"/>
              <a:t>class Model</a:t>
            </a:r>
            <a:endParaRPr b="1"/>
          </a:p>
        </p:txBody>
      </p:sp>
      <p:sp>
        <p:nvSpPr>
          <p:cNvPr id="86" name="Google Shape;86;g2a4fcc6007c_0_27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5345100" cy="29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</a:rPr>
              <a:t>Methods</a:t>
            </a:r>
            <a:r>
              <a:rPr lang="en-US" sz="1900">
                <a:solidFill>
                  <a:schemeClr val="dk1"/>
                </a:solidFill>
              </a:rPr>
              <a:t>:</a:t>
            </a:r>
            <a:endParaRPr sz="19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run():</a:t>
            </a:r>
            <a:r>
              <a:rPr lang="en-US" sz="1600">
                <a:solidFill>
                  <a:schemeClr val="dk1"/>
                </a:solidFill>
              </a:rPr>
              <a:t> Executes simulation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setup()</a:t>
            </a:r>
            <a:r>
              <a:rPr lang="en-US" sz="1600">
                <a:solidFill>
                  <a:schemeClr val="dk1"/>
                </a:solidFill>
              </a:rPr>
              <a:t>: Initialize values and attributes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step()</a:t>
            </a:r>
            <a:r>
              <a:rPr lang="en-US" sz="1600">
                <a:solidFill>
                  <a:schemeClr val="dk1"/>
                </a:solidFill>
              </a:rPr>
              <a:t>: Called to execute each simulation step (excluding t==0).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update():</a:t>
            </a:r>
            <a:r>
              <a:rPr lang="en-US" sz="1600">
                <a:solidFill>
                  <a:schemeClr val="dk1"/>
                </a:solidFill>
              </a:rPr>
              <a:t> Called after each simulation step (including t==0). 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end(): </a:t>
            </a:r>
            <a:r>
              <a:rPr lang="en-US" sz="1600">
                <a:solidFill>
                  <a:schemeClr val="dk1"/>
                </a:solidFill>
              </a:rPr>
              <a:t>Defines the model’s actions after the last simulation step.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stop()</a:t>
            </a:r>
            <a:r>
              <a:rPr lang="en-US" sz="1600">
                <a:solidFill>
                  <a:schemeClr val="dk1"/>
                </a:solidFill>
              </a:rPr>
              <a:t>: Stops Model.run() during an active simulation.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87" name="Google Shape;87;g2a4fcc6007c_0_27"/>
          <p:cNvPicPr preferRelativeResize="0"/>
          <p:nvPr/>
        </p:nvPicPr>
        <p:blipFill rotWithShape="1">
          <a:blip r:embed="rId3">
            <a:alphaModFix/>
          </a:blip>
          <a:srcRect l="43333" t="17940" b="11092"/>
          <a:stretch/>
        </p:blipFill>
        <p:spPr>
          <a:xfrm>
            <a:off x="6090175" y="957450"/>
            <a:ext cx="2814175" cy="42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4fcc6007c_0_37"/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Agent-based models: </a:t>
            </a:r>
            <a:r>
              <a:rPr lang="en-US" b="1"/>
              <a:t>class Agent</a:t>
            </a:r>
            <a:endParaRPr b="1"/>
          </a:p>
        </p:txBody>
      </p:sp>
      <p:sp>
        <p:nvSpPr>
          <p:cNvPr id="93" name="Google Shape;93;g2a4fcc6007c_0_37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</a:rPr>
              <a:t>class Agent(model, *args, **kwargs)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</a:rPr>
              <a:t>model – </a:t>
            </a:r>
            <a:r>
              <a:rPr lang="en-US" sz="1700">
                <a:solidFill>
                  <a:schemeClr val="dk1"/>
                </a:solidFill>
              </a:rPr>
              <a:t>The model instance.</a:t>
            </a:r>
            <a:endParaRPr sz="17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</a:rPr>
              <a:t>**kwargs – </a:t>
            </a:r>
            <a:r>
              <a:rPr lang="en-US" sz="1700">
                <a:solidFill>
                  <a:schemeClr val="dk1"/>
                </a:solidFill>
              </a:rPr>
              <a:t>Will be forwarded to Agent.setup().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2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a4fe578614_0_26"/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Agent-based models: </a:t>
            </a:r>
            <a:r>
              <a:rPr lang="en-US" b="1"/>
              <a:t>class Agent</a:t>
            </a:r>
            <a:endParaRPr b="1"/>
          </a:p>
        </p:txBody>
      </p:sp>
      <p:sp>
        <p:nvSpPr>
          <p:cNvPr id="99" name="Google Shape;99;g2a4fe578614_0_26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</a:rPr>
              <a:t>class Agent(model, *args, **kwargs)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</a:rPr>
              <a:t>model – </a:t>
            </a:r>
            <a:r>
              <a:rPr lang="en-US" sz="1700">
                <a:solidFill>
                  <a:schemeClr val="dk1"/>
                </a:solidFill>
              </a:rPr>
              <a:t>The model instance.</a:t>
            </a:r>
            <a:endParaRPr sz="17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</a:rPr>
              <a:t>**kwargs – </a:t>
            </a:r>
            <a:r>
              <a:rPr lang="en-US" sz="1700">
                <a:solidFill>
                  <a:schemeClr val="dk1"/>
                </a:solidFill>
              </a:rPr>
              <a:t>Will be forwarded to Agent.setup().</a:t>
            </a:r>
            <a:endParaRPr sz="17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520"/>
              </a:spcBef>
              <a:spcAft>
                <a:spcPts val="0"/>
              </a:spcAft>
              <a:buNone/>
            </a:pP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</a:rPr>
              <a:t>Variables</a:t>
            </a:r>
            <a:endParaRPr sz="1900" b="1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model – </a:t>
            </a:r>
            <a:r>
              <a:rPr lang="en-US" sz="1600">
                <a:solidFill>
                  <a:schemeClr val="dk1"/>
                </a:solidFill>
              </a:rPr>
              <a:t>The model instance.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p (AttrDict) – </a:t>
            </a:r>
            <a:r>
              <a:rPr lang="en-US" sz="1600">
                <a:solidFill>
                  <a:schemeClr val="dk1"/>
                </a:solidFill>
              </a:rPr>
              <a:t>The model parameters.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vars – </a:t>
            </a:r>
            <a:r>
              <a:rPr lang="en-US" sz="1600">
                <a:solidFill>
                  <a:schemeClr val="dk1"/>
                </a:solidFill>
              </a:rPr>
              <a:t>Names of the agent’s custom variables.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2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a4fe578614_0_31"/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Agent-based models: </a:t>
            </a:r>
            <a:r>
              <a:rPr lang="en-US" b="1"/>
              <a:t>class Agent</a:t>
            </a:r>
            <a:endParaRPr b="1"/>
          </a:p>
        </p:txBody>
      </p:sp>
      <p:sp>
        <p:nvSpPr>
          <p:cNvPr id="105" name="Google Shape;105;g2a4fe578614_0_31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</a:rPr>
              <a:t>class Agent(model, *args, **kwargs)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</a:rPr>
              <a:t>model – </a:t>
            </a:r>
            <a:r>
              <a:rPr lang="en-US" sz="1700">
                <a:solidFill>
                  <a:schemeClr val="dk1"/>
                </a:solidFill>
              </a:rPr>
              <a:t>The model instance.</a:t>
            </a:r>
            <a:endParaRPr sz="17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</a:rPr>
              <a:t>**kwargs – </a:t>
            </a:r>
            <a:r>
              <a:rPr lang="en-US" sz="1700">
                <a:solidFill>
                  <a:schemeClr val="dk1"/>
                </a:solidFill>
              </a:rPr>
              <a:t>Will be forwarded to Agent.setup().</a:t>
            </a:r>
            <a:endParaRPr sz="17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520"/>
              </a:spcBef>
              <a:spcAft>
                <a:spcPts val="0"/>
              </a:spcAft>
              <a:buNone/>
            </a:pP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</a:rPr>
              <a:t>Variables</a:t>
            </a:r>
            <a:endParaRPr sz="1900" b="1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model – </a:t>
            </a:r>
            <a:r>
              <a:rPr lang="en-US" sz="1600">
                <a:solidFill>
                  <a:schemeClr val="dk1"/>
                </a:solidFill>
              </a:rPr>
              <a:t>The model instance.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p (AttrDict) – </a:t>
            </a:r>
            <a:r>
              <a:rPr lang="en-US" sz="1600">
                <a:solidFill>
                  <a:schemeClr val="dk1"/>
                </a:solidFill>
              </a:rPr>
              <a:t>The model parameters.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vars – </a:t>
            </a:r>
            <a:r>
              <a:rPr lang="en-US" sz="1600">
                <a:solidFill>
                  <a:schemeClr val="dk1"/>
                </a:solidFill>
              </a:rPr>
              <a:t>Names of the agent’s custom variables.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</a:rPr>
              <a:t>Methods</a:t>
            </a:r>
            <a:r>
              <a:rPr lang="en-US" sz="1900">
                <a:solidFill>
                  <a:schemeClr val="dk1"/>
                </a:solidFill>
              </a:rPr>
              <a:t>:</a:t>
            </a:r>
            <a:endParaRPr sz="19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setup()</a:t>
            </a:r>
            <a:r>
              <a:rPr lang="en-US" sz="1600">
                <a:solidFill>
                  <a:schemeClr val="dk1"/>
                </a:solidFill>
              </a:rPr>
              <a:t>: Initialize values and attributes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Custom methods.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a4fe578614_0_4"/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Agent-based models: </a:t>
            </a:r>
            <a:r>
              <a:rPr lang="en-US" b="1"/>
              <a:t>Environments</a:t>
            </a:r>
            <a:endParaRPr b="1"/>
          </a:p>
        </p:txBody>
      </p:sp>
      <p:sp>
        <p:nvSpPr>
          <p:cNvPr id="111" name="Google Shape;111;g2a4fe578614_0_4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class Grid</a:t>
            </a:r>
            <a:r>
              <a:rPr lang="en-US" sz="1800">
                <a:solidFill>
                  <a:schemeClr val="dk1"/>
                </a:solidFill>
              </a:rPr>
              <a:t>(model, shape, torus=False, track_empty=False,</a:t>
            </a:r>
            <a:endParaRPr sz="18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check_border=True, **kwargs)</a:t>
            </a:r>
            <a:endParaRPr sz="18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700" b="1">
                <a:solidFill>
                  <a:schemeClr val="dk1"/>
                </a:solidFill>
              </a:rPr>
              <a:t>model – </a:t>
            </a:r>
            <a:r>
              <a:rPr lang="en-US" sz="1500">
                <a:solidFill>
                  <a:schemeClr val="dk1"/>
                </a:solidFill>
              </a:rPr>
              <a:t>The model instance.</a:t>
            </a:r>
            <a:endParaRPr sz="15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700" b="1">
                <a:solidFill>
                  <a:schemeClr val="dk1"/>
                </a:solidFill>
              </a:rPr>
              <a:t>shape – </a:t>
            </a:r>
            <a:r>
              <a:rPr lang="en-US" sz="1500">
                <a:solidFill>
                  <a:schemeClr val="dk1"/>
                </a:solidFill>
              </a:rPr>
              <a:t>Size of the grid</a:t>
            </a:r>
            <a:endParaRPr sz="15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700" b="1">
                <a:solidFill>
                  <a:schemeClr val="dk1"/>
                </a:solidFill>
              </a:rPr>
              <a:t>track_empty (bool, optional) – </a:t>
            </a:r>
            <a:r>
              <a:rPr lang="en-US" sz="1400">
                <a:solidFill>
                  <a:schemeClr val="dk1"/>
                </a:solidFill>
              </a:rPr>
              <a:t>Whether to keep track of empty cells (default False). If true, empty cells can be accessed via Grid.empty</a:t>
            </a:r>
            <a:endParaRPr sz="14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700" b="1">
                <a:solidFill>
                  <a:schemeClr val="dk1"/>
                </a:solidFill>
              </a:rPr>
              <a:t>**kwargs – </a:t>
            </a:r>
            <a:r>
              <a:rPr lang="en-US" sz="1500">
                <a:solidFill>
                  <a:schemeClr val="dk1"/>
                </a:solidFill>
              </a:rPr>
              <a:t>Will be forwarded to Grid.setup().</a:t>
            </a:r>
            <a:br>
              <a:rPr lang="en-US" sz="1700" b="1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a4fe578614_0_36"/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Agent-based models: </a:t>
            </a:r>
            <a:r>
              <a:rPr lang="en-US" b="1"/>
              <a:t>Environments</a:t>
            </a:r>
            <a:endParaRPr b="1"/>
          </a:p>
        </p:txBody>
      </p:sp>
      <p:sp>
        <p:nvSpPr>
          <p:cNvPr id="117" name="Google Shape;117;g2a4fe578614_0_36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class Grid</a:t>
            </a:r>
            <a:r>
              <a:rPr lang="en-US" sz="1800">
                <a:solidFill>
                  <a:schemeClr val="dk1"/>
                </a:solidFill>
              </a:rPr>
              <a:t>(model, shape, torus=False, track_empty=False,</a:t>
            </a:r>
            <a:endParaRPr sz="18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check_border=True, **kwargs)</a:t>
            </a:r>
            <a:endParaRPr sz="18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700" b="1">
                <a:solidFill>
                  <a:schemeClr val="dk1"/>
                </a:solidFill>
              </a:rPr>
              <a:t>model – </a:t>
            </a:r>
            <a:r>
              <a:rPr lang="en-US" sz="1500">
                <a:solidFill>
                  <a:schemeClr val="dk1"/>
                </a:solidFill>
              </a:rPr>
              <a:t>The model instance.</a:t>
            </a:r>
            <a:endParaRPr sz="15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700" b="1">
                <a:solidFill>
                  <a:schemeClr val="dk1"/>
                </a:solidFill>
              </a:rPr>
              <a:t>shape – </a:t>
            </a:r>
            <a:r>
              <a:rPr lang="en-US" sz="1500">
                <a:solidFill>
                  <a:schemeClr val="dk1"/>
                </a:solidFill>
              </a:rPr>
              <a:t>Size of the grid</a:t>
            </a:r>
            <a:endParaRPr sz="15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700" b="1">
                <a:solidFill>
                  <a:schemeClr val="dk1"/>
                </a:solidFill>
              </a:rPr>
              <a:t>track_empty (bool, optional) – </a:t>
            </a:r>
            <a:r>
              <a:rPr lang="en-US" sz="1400">
                <a:solidFill>
                  <a:schemeClr val="dk1"/>
                </a:solidFill>
              </a:rPr>
              <a:t>Whether to keep track of empty cells (default False). If true, empty cells can be accessed via Grid.empty</a:t>
            </a:r>
            <a:endParaRPr sz="14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700" b="1">
                <a:solidFill>
                  <a:schemeClr val="dk1"/>
                </a:solidFill>
              </a:rPr>
              <a:t>**kwargs – </a:t>
            </a:r>
            <a:r>
              <a:rPr lang="en-US" sz="1500">
                <a:solidFill>
                  <a:schemeClr val="dk1"/>
                </a:solidFill>
              </a:rPr>
              <a:t>Will be forwarded to Grid.setup().</a:t>
            </a:r>
            <a:br>
              <a:rPr lang="en-US" sz="1700" b="1">
                <a:solidFill>
                  <a:schemeClr val="dk1"/>
                </a:solidFill>
              </a:rPr>
            </a:br>
            <a:endParaRPr sz="19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Variables</a:t>
            </a:r>
            <a:endParaRPr sz="1800" b="1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agents– </a:t>
            </a:r>
            <a:r>
              <a:rPr lang="en-US" sz="1600">
                <a:solidFill>
                  <a:schemeClr val="dk1"/>
                </a:solidFill>
              </a:rPr>
              <a:t> Iterator over all agents in the grid..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positions (dict) – </a:t>
            </a:r>
            <a:r>
              <a:rPr lang="en-US" sz="1600">
                <a:solidFill>
                  <a:schemeClr val="dk1"/>
                </a:solidFill>
              </a:rPr>
              <a:t>Dictionary linking each agent instance to its position</a:t>
            </a:r>
            <a:r>
              <a:rPr lang="en-US" sz="1600" b="1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endParaRPr sz="19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a4fe578614_0_41"/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Agent-based models: </a:t>
            </a:r>
            <a:r>
              <a:rPr lang="en-US" b="1"/>
              <a:t>Environments</a:t>
            </a:r>
            <a:endParaRPr b="1"/>
          </a:p>
        </p:txBody>
      </p:sp>
      <p:sp>
        <p:nvSpPr>
          <p:cNvPr id="123" name="Google Shape;123;g2a4fe578614_0_41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class Grid</a:t>
            </a:r>
            <a:r>
              <a:rPr lang="en-US" sz="1800">
                <a:solidFill>
                  <a:schemeClr val="dk1"/>
                </a:solidFill>
              </a:rPr>
              <a:t>(model, shape, torus=False, track_empty=False,</a:t>
            </a:r>
            <a:endParaRPr sz="18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check_border=True, **kwargs)</a:t>
            </a:r>
            <a:endParaRPr sz="18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700" b="1">
                <a:solidFill>
                  <a:schemeClr val="dk1"/>
                </a:solidFill>
              </a:rPr>
              <a:t>model – </a:t>
            </a:r>
            <a:r>
              <a:rPr lang="en-US" sz="1500">
                <a:solidFill>
                  <a:schemeClr val="dk1"/>
                </a:solidFill>
              </a:rPr>
              <a:t>The model instance.</a:t>
            </a:r>
            <a:endParaRPr sz="15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700" b="1">
                <a:solidFill>
                  <a:schemeClr val="dk1"/>
                </a:solidFill>
              </a:rPr>
              <a:t>shape – </a:t>
            </a:r>
            <a:r>
              <a:rPr lang="en-US" sz="1500">
                <a:solidFill>
                  <a:schemeClr val="dk1"/>
                </a:solidFill>
              </a:rPr>
              <a:t>Size of the grid</a:t>
            </a:r>
            <a:endParaRPr sz="15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700" b="1">
                <a:solidFill>
                  <a:schemeClr val="dk1"/>
                </a:solidFill>
              </a:rPr>
              <a:t>track_empty (bool, optional) – </a:t>
            </a:r>
            <a:r>
              <a:rPr lang="en-US" sz="1400">
                <a:solidFill>
                  <a:schemeClr val="dk1"/>
                </a:solidFill>
              </a:rPr>
              <a:t>Whether to keep track of empty cells (default False). If true, empty cells can be accessed via Grid.empty</a:t>
            </a:r>
            <a:endParaRPr sz="14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700" b="1">
                <a:solidFill>
                  <a:schemeClr val="dk1"/>
                </a:solidFill>
              </a:rPr>
              <a:t>**kwargs – </a:t>
            </a:r>
            <a:r>
              <a:rPr lang="en-US" sz="1500">
                <a:solidFill>
                  <a:schemeClr val="dk1"/>
                </a:solidFill>
              </a:rPr>
              <a:t>Will be forwarded to Grid.setup().</a:t>
            </a:r>
            <a:br>
              <a:rPr lang="en-US" sz="1700" b="1">
                <a:solidFill>
                  <a:schemeClr val="dk1"/>
                </a:solidFill>
              </a:rPr>
            </a:br>
            <a:endParaRPr sz="19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Variables</a:t>
            </a:r>
            <a:endParaRPr sz="1800" b="1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agents– </a:t>
            </a:r>
            <a:r>
              <a:rPr lang="en-US" sz="1600">
                <a:solidFill>
                  <a:schemeClr val="dk1"/>
                </a:solidFill>
              </a:rPr>
              <a:t> Iterator over all agents in the grid..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positions (dict) – </a:t>
            </a:r>
            <a:r>
              <a:rPr lang="en-US" sz="1600">
                <a:solidFill>
                  <a:schemeClr val="dk1"/>
                </a:solidFill>
              </a:rPr>
              <a:t>Dictionary linking each agent instance to its position</a:t>
            </a:r>
            <a:r>
              <a:rPr lang="en-US" sz="1600" b="1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</a:rPr>
              <a:t>Methods</a:t>
            </a:r>
            <a:r>
              <a:rPr lang="en-US" sz="1900">
                <a:solidFill>
                  <a:schemeClr val="dk1"/>
                </a:solidFill>
              </a:rPr>
              <a:t>:</a:t>
            </a:r>
            <a:endParaRPr sz="19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setup</a:t>
            </a:r>
            <a:r>
              <a:rPr lang="en-US" sz="1600">
                <a:solidFill>
                  <a:schemeClr val="dk1"/>
                </a:solidFill>
              </a:rPr>
              <a:t>: Initialize values and attributes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add_agents, remove_agents: </a:t>
            </a:r>
            <a:r>
              <a:rPr lang="en-US" sz="1600">
                <a:solidFill>
                  <a:schemeClr val="dk1"/>
                </a:solidFill>
              </a:rPr>
              <a:t>adds/removes agents to/from the environment.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move_by, move_to: </a:t>
            </a:r>
            <a:r>
              <a:rPr lang="en-US" sz="1600">
                <a:solidFill>
                  <a:schemeClr val="dk1"/>
                </a:solidFill>
              </a:rPr>
              <a:t>Moves agents within the grid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neighbors </a:t>
            </a:r>
            <a:r>
              <a:rPr lang="en-US" sz="1600">
                <a:solidFill>
                  <a:schemeClr val="dk1"/>
                </a:solidFill>
              </a:rPr>
              <a:t>returns an agent’s neighbors within a given distance.</a:t>
            </a:r>
            <a:r>
              <a:rPr lang="en-US" sz="1600" b="1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a4fe578614_0_63"/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Agent-based models: </a:t>
            </a:r>
            <a:r>
              <a:rPr lang="en-US" b="1"/>
              <a:t>Environments</a:t>
            </a:r>
            <a:endParaRPr b="1"/>
          </a:p>
        </p:txBody>
      </p:sp>
      <p:sp>
        <p:nvSpPr>
          <p:cNvPr id="129" name="Google Shape;129;g2a4fe578614_0_63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class Space</a:t>
            </a:r>
            <a:r>
              <a:rPr lang="en-US" sz="1800">
                <a:solidFill>
                  <a:schemeClr val="dk1"/>
                </a:solidFill>
              </a:rPr>
              <a:t>(model, shape, torus=False, track_empty=False,</a:t>
            </a:r>
            <a:endParaRPr sz="18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check_border=True, **kwargs)</a:t>
            </a:r>
            <a:endParaRPr sz="18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700" b="1">
                <a:solidFill>
                  <a:schemeClr val="dk1"/>
                </a:solidFill>
              </a:rPr>
              <a:t>model – </a:t>
            </a:r>
            <a:r>
              <a:rPr lang="en-US" sz="1500">
                <a:solidFill>
                  <a:schemeClr val="dk1"/>
                </a:solidFill>
              </a:rPr>
              <a:t>The model instance.</a:t>
            </a:r>
            <a:endParaRPr sz="15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700" b="1">
                <a:solidFill>
                  <a:schemeClr val="dk1"/>
                </a:solidFill>
              </a:rPr>
              <a:t>shape – </a:t>
            </a:r>
            <a:r>
              <a:rPr lang="en-US" sz="1500">
                <a:solidFill>
                  <a:schemeClr val="dk1"/>
                </a:solidFill>
              </a:rPr>
              <a:t>Size of the grid</a:t>
            </a:r>
            <a:endParaRPr sz="14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700" b="1">
                <a:solidFill>
                  <a:schemeClr val="dk1"/>
                </a:solidFill>
              </a:rPr>
              <a:t>**kwargs – </a:t>
            </a:r>
            <a:r>
              <a:rPr lang="en-US" sz="1500">
                <a:solidFill>
                  <a:schemeClr val="dk1"/>
                </a:solidFill>
              </a:rPr>
              <a:t>Will be forwarded to Grid.setup().</a:t>
            </a:r>
            <a:br>
              <a:rPr lang="en-US" sz="1700" b="1">
                <a:solidFill>
                  <a:schemeClr val="dk1"/>
                </a:solidFill>
              </a:rPr>
            </a:br>
            <a:endParaRPr sz="19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Variables</a:t>
            </a:r>
            <a:endParaRPr sz="1800" b="1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agents– </a:t>
            </a:r>
            <a:r>
              <a:rPr lang="en-US" sz="1600">
                <a:solidFill>
                  <a:schemeClr val="dk1"/>
                </a:solidFill>
              </a:rPr>
              <a:t> Iterator over all agents in the grid..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positions (dict) – </a:t>
            </a:r>
            <a:r>
              <a:rPr lang="en-US" sz="1600">
                <a:solidFill>
                  <a:schemeClr val="dk1"/>
                </a:solidFill>
              </a:rPr>
              <a:t>Dictionary linking each agent instance to its position</a:t>
            </a:r>
            <a:r>
              <a:rPr lang="en-US" sz="1600" b="1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</a:rPr>
              <a:t>Methods</a:t>
            </a:r>
            <a:r>
              <a:rPr lang="en-US" sz="1900">
                <a:solidFill>
                  <a:schemeClr val="dk1"/>
                </a:solidFill>
              </a:rPr>
              <a:t>:</a:t>
            </a:r>
            <a:endParaRPr sz="19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setup</a:t>
            </a:r>
            <a:r>
              <a:rPr lang="en-US" sz="1600">
                <a:solidFill>
                  <a:schemeClr val="dk1"/>
                </a:solidFill>
              </a:rPr>
              <a:t>: Initialize values and attributes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add_agents, remove_agents: </a:t>
            </a:r>
            <a:r>
              <a:rPr lang="en-US" sz="1600">
                <a:solidFill>
                  <a:schemeClr val="dk1"/>
                </a:solidFill>
              </a:rPr>
              <a:t>adds/removes agents to/from the environment.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move_by, move_to: </a:t>
            </a:r>
            <a:r>
              <a:rPr lang="en-US" sz="1600">
                <a:solidFill>
                  <a:schemeClr val="dk1"/>
                </a:solidFill>
              </a:rPr>
              <a:t>Moves agents within the grid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 b="1">
                <a:solidFill>
                  <a:schemeClr val="dk1"/>
                </a:solidFill>
              </a:rPr>
              <a:t>neighbors </a:t>
            </a:r>
            <a:r>
              <a:rPr lang="en-US" sz="1600">
                <a:solidFill>
                  <a:schemeClr val="dk1"/>
                </a:solidFill>
              </a:rPr>
              <a:t>returns an agent’s neighbors within a given distance.</a:t>
            </a:r>
            <a:r>
              <a:rPr lang="en-US" sz="1600" b="1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4fe578614_0_68"/>
          <p:cNvSpPr txBox="1">
            <a:spLocks noGrp="1"/>
          </p:cNvSpPr>
          <p:nvPr>
            <p:ph type="title"/>
          </p:nvPr>
        </p:nvSpPr>
        <p:spPr>
          <a:xfrm>
            <a:off x="457200" y="277822"/>
            <a:ext cx="8229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/>
              <a:t>Diagramas</a:t>
            </a:r>
            <a:endParaRPr b="1" dirty="0"/>
          </a:p>
        </p:txBody>
      </p:sp>
      <p:pic>
        <p:nvPicPr>
          <p:cNvPr id="135" name="Google Shape;135;g2a4fe578614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224" y="1017325"/>
            <a:ext cx="2980075" cy="206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2a4fe578614_0_68"/>
          <p:cNvPicPr preferRelativeResize="0"/>
          <p:nvPr/>
        </p:nvPicPr>
        <p:blipFill rotWithShape="1">
          <a:blip r:embed="rId4">
            <a:alphaModFix/>
          </a:blip>
          <a:srcRect l="10097" r="6867" b="7071"/>
          <a:stretch/>
        </p:blipFill>
        <p:spPr>
          <a:xfrm>
            <a:off x="5243001" y="563600"/>
            <a:ext cx="3045250" cy="242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a4fe578614_0_68"/>
          <p:cNvSpPr txBox="1"/>
          <p:nvPr/>
        </p:nvSpPr>
        <p:spPr>
          <a:xfrm>
            <a:off x="370800" y="2858950"/>
            <a:ext cx="8402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        UML	                                      Sequence</a:t>
            </a:r>
            <a:endParaRPr sz="2000"/>
          </a:p>
        </p:txBody>
      </p:sp>
      <p:pic>
        <p:nvPicPr>
          <p:cNvPr id="138" name="Google Shape;138;g2a4fe578614_0_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125" y="3749450"/>
            <a:ext cx="4107600" cy="193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2a4fe578614_0_68"/>
          <p:cNvSpPr txBox="1"/>
          <p:nvPr/>
        </p:nvSpPr>
        <p:spPr>
          <a:xfrm>
            <a:off x="370800" y="5602150"/>
            <a:ext cx="8402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                  State Machine	                                                 Flow</a:t>
            </a:r>
            <a:endParaRPr sz="2000"/>
          </a:p>
        </p:txBody>
      </p:sp>
      <p:pic>
        <p:nvPicPr>
          <p:cNvPr id="140" name="Google Shape;140;g2a4fe578614_0_68"/>
          <p:cNvPicPr preferRelativeResize="0"/>
          <p:nvPr/>
        </p:nvPicPr>
        <p:blipFill rotWithShape="1">
          <a:blip r:embed="rId6">
            <a:alphaModFix/>
          </a:blip>
          <a:srcRect l="43333" t="17940" b="11092"/>
          <a:stretch/>
        </p:blipFill>
        <p:spPr>
          <a:xfrm>
            <a:off x="5356425" y="3749450"/>
            <a:ext cx="1510300" cy="229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F5DF901266EB46A712FE93801BA1D6" ma:contentTypeVersion="15" ma:contentTypeDescription="Create a new document." ma:contentTypeScope="" ma:versionID="7cf47ee2fdae45ad2b2738e5487ef8f5">
  <xsd:schema xmlns:xsd="http://www.w3.org/2001/XMLSchema" xmlns:xs="http://www.w3.org/2001/XMLSchema" xmlns:p="http://schemas.microsoft.com/office/2006/metadata/properties" xmlns:ns2="70ec0d4c-04c6-4704-9b9d-f9c1df4ff1ba" xmlns:ns3="c0587088-7c24-4881-8fa2-37f7164e5ccf" targetNamespace="http://schemas.microsoft.com/office/2006/metadata/properties" ma:root="true" ma:fieldsID="ab34482a2b14c90b47d89902a7710ce8" ns2:_="" ns3:_="">
    <xsd:import namespace="70ec0d4c-04c6-4704-9b9d-f9c1df4ff1ba"/>
    <xsd:import namespace="c0587088-7c24-4881-8fa2-37f7164e5c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ec0d4c-04c6-4704-9b9d-f9c1df4ff1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13b0b881-3bf5-4493-8d21-dd6cf614d6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587088-7c24-4881-8fa2-37f7164e5cc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1e35ec3c-03b4-409f-a06e-371fbcf352db}" ma:internalName="TaxCatchAll" ma:showField="CatchAllData" ma:web="c0587088-7c24-4881-8fa2-37f7164e5c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ec0d4c-04c6-4704-9b9d-f9c1df4ff1ba">
      <Terms xmlns="http://schemas.microsoft.com/office/infopath/2007/PartnerControls"/>
    </lcf76f155ced4ddcb4097134ff3c332f>
    <TaxCatchAll xmlns="c0587088-7c24-4881-8fa2-37f7164e5ccf" xsi:nil="true"/>
  </documentManagement>
</p:properties>
</file>

<file path=customXml/itemProps1.xml><?xml version="1.0" encoding="utf-8"?>
<ds:datastoreItem xmlns:ds="http://schemas.openxmlformats.org/officeDocument/2006/customXml" ds:itemID="{8AF57B4C-2571-4A33-B081-3F60B7D602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ec0d4c-04c6-4704-9b9d-f9c1df4ff1ba"/>
    <ds:schemaRef ds:uri="c0587088-7c24-4881-8fa2-37f7164e5c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CAE1A1-8622-4794-B047-AE24037102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D9B504-BCD1-4BEB-B1C3-2E66D25F7811}">
  <ds:schemaRefs>
    <ds:schemaRef ds:uri="http://schemas.microsoft.com/office/2006/metadata/properties"/>
    <ds:schemaRef ds:uri="http://schemas.microsoft.com/office/infopath/2007/PartnerControls"/>
    <ds:schemaRef ds:uri="70ec0d4c-04c6-4704-9b9d-f9c1df4ff1ba"/>
    <ds:schemaRef ds:uri="c0587088-7c24-4881-8fa2-37f7164e5cc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1101</Words>
  <Application>Microsoft Office PowerPoint</Application>
  <PresentationFormat>On-screen Show (4:3)</PresentationFormat>
  <Paragraphs>126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Courier New</vt:lpstr>
      <vt:lpstr>Arial</vt:lpstr>
      <vt:lpstr>Noto Sans Symbols</vt:lpstr>
      <vt:lpstr>Times New Roman</vt:lpstr>
      <vt:lpstr>Garamond</vt:lpstr>
      <vt:lpstr>POI_THEME_TEMPLATE_DESIGN</vt:lpstr>
      <vt:lpstr>POI_THEME_TEMPLATE_DESIGN</vt:lpstr>
      <vt:lpstr>PowerPoint Presentation</vt:lpstr>
      <vt:lpstr>AgentPy Framework</vt:lpstr>
      <vt:lpstr>AgentPy Framework</vt:lpstr>
      <vt:lpstr>Agent-based models: class Model</vt:lpstr>
      <vt:lpstr>Agent-based models: class Model</vt:lpstr>
      <vt:lpstr>Agent-based models: class Model</vt:lpstr>
      <vt:lpstr>Agent-based models: class Agent</vt:lpstr>
      <vt:lpstr>Agent-based models: class Agent</vt:lpstr>
      <vt:lpstr>Agent-based models: class Agent</vt:lpstr>
      <vt:lpstr>Agent-based models: Environments</vt:lpstr>
      <vt:lpstr>Agent-based models: Environments</vt:lpstr>
      <vt:lpstr>Agent-based models: Environments</vt:lpstr>
      <vt:lpstr>Agent-based models: Environments</vt:lpstr>
      <vt:lpstr>Diagramas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Jeff Rosenschein</dc:creator>
  <cp:lastModifiedBy>Alfredo Alan Flores Saldivar</cp:lastModifiedBy>
  <cp:revision>2</cp:revision>
  <dcterms:created xsi:type="dcterms:W3CDTF">2002-09-12T12:30:06Z</dcterms:created>
  <dcterms:modified xsi:type="dcterms:W3CDTF">2025-08-18T23:06:28Z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0x01010094F5DF901266EB46A712FE93801BA1D6</vt:lpwstr>
  </property>
</Properties>
</file>