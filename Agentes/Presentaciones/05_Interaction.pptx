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4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x="9144000" cy="6858000" type="screen4x3"/>
  <p:notesSz cx="6858000" cy="9144000"/>
  <p:embeddedFontLst>
    <p:embeddedFont>
      <p:font typeface="Garamond" panose="02020404030301010803" pitchFamily="18" charset="0"/>
      <p:regular r:id="rId49"/>
      <p:bold r:id="rId50"/>
      <p:italic r:id="rId51"/>
      <p:boldItalic r:id="rId52"/>
    </p:embeddedFont>
    <p:embeddedFont>
      <p:font typeface="Noto Sans Symbols" panose="020B0604020202020204" charset="0"/>
      <p:regular r:id="rId53"/>
      <p:bold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gSlCvy9JkQEwKqsFXcYYA2SGTk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5DE6BE1-7F08-431B-BF9F-D011DF1F1256}">
  <a:tblStyle styleId="{75DE6BE1-7F08-431B-BF9F-D011DF1F125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72" y="6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2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customschemas.google.com/relationships/presentationmetadata" Target="metadata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4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dd93aa846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" name="Google Shape;36;g2dd93aa846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1495bbbab6_17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" name="Google Shape;49;g31495bbbab6_17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142ad63b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g3142ad63b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dff263e88c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2dff263e88c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212688469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 sz="1400"/>
          </a:p>
        </p:txBody>
      </p:sp>
      <p:sp>
        <p:nvSpPr>
          <p:cNvPr id="70" name="Google Shape;70;g2721268846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1" name="Google Shape;71;g2721268846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" name="Google Shape;72;g27212688469_0_0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ff263e88c_0_15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 sz="1400"/>
          </a:p>
        </p:txBody>
      </p:sp>
      <p:sp>
        <p:nvSpPr>
          <p:cNvPr id="79" name="Google Shape;79;g2dff263e88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0" name="Google Shape;80;g2dff263e88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g2dff263e88c_0_159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212688469_0_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 sz="1400"/>
          </a:p>
        </p:txBody>
      </p:sp>
      <p:sp>
        <p:nvSpPr>
          <p:cNvPr id="87" name="Google Shape;87;g2721268846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8" name="Google Shape;88;g2721268846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g27212688469_0_8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721268846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2721268846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7212688469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g27212688469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21268846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g2721268846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212688469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27212688469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21268846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g2721268846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212688469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7212688469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7212688469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7212688469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7212688469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g27212688469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7212688469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27212688469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212688469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g27212688469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ff263e8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2dff263e8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ff263e88c_0_40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 sz="1400"/>
          </a:p>
        </p:txBody>
      </p:sp>
      <p:sp>
        <p:nvSpPr>
          <p:cNvPr id="205" name="Google Shape;205;g2dff263e88c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6" name="Google Shape;206;g2dff263e88c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g2dff263e88c_0_401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dff263e88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g2dff263e88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ff263e88c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g2dff263e88c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dff263e88c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g2dff263e88c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dff263e88c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g2dff263e88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dff263e88c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g2dff263e88c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147bf366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g3147bf366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147bf366a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g3147bf366a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47bf366a8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147bf366a8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147bf366a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g3147bf366a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147bf366a8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g3147bf366a8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1495bbbab6_17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g31495bbbab6_17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495bbbab6_17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g31495bbbab6_17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dff263e88c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g2dff263e88c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7212688469_0_1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 sz="1400"/>
          </a:p>
        </p:txBody>
      </p:sp>
      <p:sp>
        <p:nvSpPr>
          <p:cNvPr id="315" name="Google Shape;315;g2721268846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6" name="Google Shape;316;g2721268846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27212688469_0_19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 sz="1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dff263e88c_0_23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 sz="1400"/>
          </a:p>
        </p:txBody>
      </p:sp>
      <p:sp>
        <p:nvSpPr>
          <p:cNvPr id="323" name="Google Shape;323;g2dff263e88c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24" name="Google Shape;324;g2dff263e88c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g2dff263e88c_0_239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 sz="14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dff263e88c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g2dff263e88c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dff263e88c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8" name="Google Shape;338;g2dff263e88c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dff263e88c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g2dff263e88c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dff263e88c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g2dff263e88c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dff263e88c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g2dff263e88c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dff263e88c_0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g2dff263e88c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dff263e88c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g2dff263e88c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dff263e88c_0_37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 sz="1400"/>
          </a:p>
        </p:txBody>
      </p:sp>
      <p:sp>
        <p:nvSpPr>
          <p:cNvPr id="381" name="Google Shape;381;g2dff263e88c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82" name="Google Shape;382;g2dff263e88c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g2dff263e88c_0_378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 sz="1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dff263e88c_0_39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43</a:t>
            </a:fld>
            <a:endParaRPr sz="1400"/>
          </a:p>
        </p:txBody>
      </p:sp>
      <p:sp>
        <p:nvSpPr>
          <p:cNvPr id="389" name="Google Shape;389;g2dff263e88c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0" name="Google Shape;390;g2dff263e88c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g2dff263e88c_0_393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43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>
            <a:spLocks noGrp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9"/>
          <p:cNvSpPr txBox="1">
            <a:spLocks noGrp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>
            <a:endParaRPr/>
          </a:p>
        </p:txBody>
      </p:sp>
      <p:sp>
        <p:nvSpPr>
          <p:cNvPr id="21" name="Google Shape;21;p49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9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9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49"/>
          <p:cNvSpPr/>
          <p:nvPr/>
        </p:nvSpPr>
        <p:spPr>
          <a:xfrm>
            <a:off x="609600" y="1219200"/>
            <a:ext cx="7924800" cy="914400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49"/>
          <p:cNvCxnSpPr/>
          <p:nvPr/>
        </p:nvCxnSpPr>
        <p:spPr>
          <a:xfrm>
            <a:off x="1981200" y="3962400"/>
            <a:ext cx="6511925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f200629609_0_18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marL="914400" lvl="1" indent="-29718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marL="1371600" lvl="2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marL="2286000" lvl="4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marL="2743200" lvl="5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marL="3200400" lvl="6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marL="3657600" lvl="7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marL="4114800" lvl="8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0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8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2" name="Google Shape;12;p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24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766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40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8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48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8"/>
          <p:cNvSpPr/>
          <p:nvPr/>
        </p:nvSpPr>
        <p:spPr>
          <a:xfrm>
            <a:off x="381000" y="228600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17;p48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dd93aa8466_0_0"/>
          <p:cNvSpPr/>
          <p:nvPr/>
        </p:nvSpPr>
        <p:spPr>
          <a:xfrm>
            <a:off x="0" y="-1"/>
            <a:ext cx="9143700" cy="685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dd93aa8466_0_0"/>
          <p:cNvSpPr/>
          <p:nvPr/>
        </p:nvSpPr>
        <p:spPr>
          <a:xfrm>
            <a:off x="228" y="0"/>
            <a:ext cx="9143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g2dd93aa8466_0_0" descr="A blue circle with white flame in the midd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352" y="2371869"/>
            <a:ext cx="3106320" cy="3031658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41" name="Google Shape;41;g2dd93aa8466_0_0"/>
          <p:cNvGrpSpPr/>
          <p:nvPr/>
        </p:nvGrpSpPr>
        <p:grpSpPr>
          <a:xfrm>
            <a:off x="-7315" y="-5977"/>
            <a:ext cx="4683132" cy="6863979"/>
            <a:chOff x="-5196" y="-5977"/>
            <a:chExt cx="6244176" cy="6863979"/>
          </a:xfrm>
        </p:grpSpPr>
        <p:sp>
          <p:nvSpPr>
            <p:cNvPr id="42" name="Google Shape;42;g2dd93aa8466_0_0"/>
            <p:cNvSpPr/>
            <p:nvPr/>
          </p:nvSpPr>
          <p:spPr>
            <a:xfrm flipH="1">
              <a:off x="305" y="34854"/>
              <a:ext cx="6028697" cy="6817170"/>
            </a:xfrm>
            <a:custGeom>
              <a:avLst/>
              <a:gdLst/>
              <a:ahLst/>
              <a:cxnLst/>
              <a:rect l="l" t="t" r="r" b="b"/>
              <a:pathLst>
                <a:path w="6028697" h="6817170" extrusionOk="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35742A">
                    <a:alpha val="8627"/>
                  </a:srgbClr>
                </a:gs>
                <a:gs pos="85000">
                  <a:srgbClr val="CC9900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2dd93aa8466_0_0"/>
            <p:cNvSpPr/>
            <p:nvPr/>
          </p:nvSpPr>
          <p:spPr>
            <a:xfrm flipH="1">
              <a:off x="-5196" y="1"/>
              <a:ext cx="6170617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35742A">
                    <a:alpha val="8627"/>
                  </a:srgbClr>
                </a:gs>
                <a:gs pos="85000">
                  <a:srgbClr val="CC9900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2dd93aa8466_0_0"/>
            <p:cNvSpPr/>
            <p:nvPr/>
          </p:nvSpPr>
          <p:spPr>
            <a:xfrm flipH="1">
              <a:off x="5717" y="-5977"/>
              <a:ext cx="6233263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35742A">
                    <a:alpha val="8627"/>
                  </a:srgbClr>
                </a:gs>
                <a:gs pos="85000">
                  <a:srgbClr val="CC9900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g2dd93aa8466_0_0"/>
          <p:cNvSpPr txBox="1"/>
          <p:nvPr/>
        </p:nvSpPr>
        <p:spPr>
          <a:xfrm>
            <a:off x="4675825" y="4267825"/>
            <a:ext cx="38718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 algn="ctr">
              <a:buSzPct val="100000"/>
            </a:pPr>
            <a:r>
              <a:rPr lang="en-US" sz="3200" b="1" dirty="0">
                <a:solidFill>
                  <a:srgbClr val="006633"/>
                </a:solidFill>
              </a:rPr>
              <a:t>INTERACCIÓN MULTIAGENTE</a:t>
            </a:r>
            <a:endParaRPr sz="5000" b="1" i="0" u="none" strike="noStrike" cap="none" dirty="0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05;p1">
            <a:extLst>
              <a:ext uri="{FF2B5EF4-FFF2-40B4-BE49-F238E27FC236}">
                <a16:creationId xmlns:a16="http://schemas.microsoft.com/office/drawing/2014/main" id="{C6428987-1098-AE45-5B59-6B8F9E18E758}"/>
              </a:ext>
            </a:extLst>
          </p:cNvPr>
          <p:cNvSpPr txBox="1">
            <a:spLocks/>
          </p:cNvSpPr>
          <p:nvPr/>
        </p:nvSpPr>
        <p:spPr>
          <a:xfrm>
            <a:off x="3360930" y="249228"/>
            <a:ext cx="5782200" cy="3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24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766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40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600"/>
              <a:buFont typeface="Noto Sans Symbols"/>
              <a:buNone/>
              <a:tabLst/>
              <a:defRPr/>
            </a:pPr>
            <a:r>
              <a:rPr kumimoji="0" lang="es-MX" sz="30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TC2008B Modelación de Sistemas </a:t>
            </a:r>
            <a:r>
              <a:rPr kumimoji="0" lang="es-MX" sz="3000" b="1" i="0" u="none" strike="noStrike" kern="0" cap="none" spc="0" normalizeH="0" baseline="0" noProof="0" dirty="0" err="1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Multiagentes</a:t>
            </a:r>
            <a:r>
              <a:rPr kumimoji="0" lang="es-MX" sz="30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con Gráficos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600"/>
              <a:buFont typeface="Noto Sans Symbols"/>
              <a:buNone/>
              <a:tabLst/>
              <a:defRPr/>
            </a:pPr>
            <a:endParaRPr kumimoji="0" lang="es-MX" sz="3383" b="1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600"/>
              <a:buFont typeface="Noto Sans Symbols"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Alan Flores Saldivar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  <a:tabLst/>
              <a:defRPr/>
            </a:pP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Escuela de Ingeniería y Ciencias
Departamento de Ciencias de la Computación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alan.flores_s@tec.mx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  <a:tabLst/>
              <a:defRPr/>
            </a:pPr>
            <a:endParaRPr kumimoji="0" lang="es-MX" sz="900" b="0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495bbbab6_17_38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  <p:sp>
        <p:nvSpPr>
          <p:cNvPr id="52" name="Google Shape;52;g31495bbbab6_17_38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/>
              <a:t>Agendas sugeridas</a:t>
            </a:r>
            <a:endParaRPr/>
          </a:p>
        </p:txBody>
      </p:sp>
      <p:sp>
        <p:nvSpPr>
          <p:cNvPr id="53" name="Google Shape;53;g31495bbbab6_17_38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4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1" dirty="0"/>
              <a:t>Agenda 1: </a:t>
            </a:r>
            <a:endParaRPr sz="2200" b="1" dirty="0"/>
          </a:p>
          <a:p>
            <a:pPr marL="457200" lvl="0" indent="-288925" algn="l" rtl="0">
              <a:spcBef>
                <a:spcPts val="600"/>
              </a:spcBef>
              <a:spcAft>
                <a:spcPts val="0"/>
              </a:spcAft>
              <a:buSzPts val="950"/>
              <a:buChar char="■"/>
            </a:pPr>
            <a:r>
              <a:rPr lang="en-US" sz="2000" b="1" dirty="0"/>
              <a:t>Martes 26 de </a:t>
            </a:r>
            <a:r>
              <a:rPr lang="en-US" sz="2000" b="1" dirty="0" err="1"/>
              <a:t>noviembre</a:t>
            </a:r>
            <a:r>
              <a:rPr lang="en-US" sz="2000" dirty="0"/>
              <a:t>: </a:t>
            </a:r>
            <a:r>
              <a:rPr lang="en-US" sz="2000" dirty="0" err="1"/>
              <a:t>presentación</a:t>
            </a:r>
            <a:r>
              <a:rPr lang="en-US" sz="2000" dirty="0"/>
              <a:t> final de </a:t>
            </a:r>
            <a:r>
              <a:rPr lang="en-US" sz="2000" dirty="0" err="1"/>
              <a:t>solución</a:t>
            </a:r>
            <a:r>
              <a:rPr lang="en-US" sz="2000" dirty="0"/>
              <a:t> de </a:t>
            </a:r>
            <a:r>
              <a:rPr lang="en-US" sz="2000" dirty="0" err="1"/>
              <a:t>reto</a:t>
            </a:r>
            <a:r>
              <a:rPr lang="en-US" sz="2000" dirty="0"/>
              <a:t> (</a:t>
            </a:r>
            <a:r>
              <a:rPr lang="en-US" sz="2000" dirty="0" err="1"/>
              <a:t>ejecución</a:t>
            </a:r>
            <a:r>
              <a:rPr lang="en-US" sz="2000" dirty="0"/>
              <a:t> y </a:t>
            </a:r>
            <a:r>
              <a:rPr lang="en-US" sz="2000" dirty="0" err="1"/>
              <a:t>modelos</a:t>
            </a:r>
            <a:r>
              <a:rPr lang="en-US" sz="2000" dirty="0"/>
              <a:t> con </a:t>
            </a:r>
            <a:r>
              <a:rPr lang="en-US" sz="2000" dirty="0" err="1"/>
              <a:t>avance</a:t>
            </a:r>
            <a:r>
              <a:rPr lang="en-US" sz="2000" dirty="0"/>
              <a:t> hasta ese </a:t>
            </a:r>
            <a:r>
              <a:rPr lang="en-US" sz="2000" dirty="0" err="1"/>
              <a:t>momento</a:t>
            </a:r>
            <a:r>
              <a:rPr lang="en-US" sz="2000" dirty="0"/>
              <a:t>).</a:t>
            </a:r>
            <a:endParaRPr sz="2000" b="1" dirty="0"/>
          </a:p>
          <a:p>
            <a:pPr marL="457200" lvl="0" indent="-288925" algn="l" rtl="0">
              <a:spcBef>
                <a:spcPts val="600"/>
              </a:spcBef>
              <a:spcAft>
                <a:spcPts val="0"/>
              </a:spcAft>
              <a:buSzPts val="950"/>
              <a:buChar char="■"/>
            </a:pPr>
            <a:r>
              <a:rPr lang="en-US" sz="2000" b="1" dirty="0" err="1"/>
              <a:t>Miércoles</a:t>
            </a:r>
            <a:r>
              <a:rPr lang="en-US" sz="2000" b="1" dirty="0"/>
              <a:t> 27 de </a:t>
            </a:r>
            <a:r>
              <a:rPr lang="en-US" sz="2000" b="1" dirty="0" err="1"/>
              <a:t>noviembre</a:t>
            </a:r>
            <a:r>
              <a:rPr lang="en-US" sz="2000" dirty="0"/>
              <a:t>: Examen final (MAS). Se </a:t>
            </a:r>
            <a:r>
              <a:rPr lang="en-US" sz="2000" dirty="0" err="1"/>
              <a:t>presenta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horario</a:t>
            </a:r>
            <a:r>
              <a:rPr lang="en-US" sz="2000" dirty="0"/>
              <a:t> de </a:t>
            </a:r>
            <a:r>
              <a:rPr lang="en-US" sz="2000" dirty="0" err="1"/>
              <a:t>clase</a:t>
            </a:r>
            <a:r>
              <a:rPr lang="en-US" sz="2000" dirty="0"/>
              <a:t> de </a:t>
            </a:r>
            <a:r>
              <a:rPr lang="en-US" sz="2000" dirty="0" err="1"/>
              <a:t>maner</a:t>
            </a:r>
            <a:r>
              <a:rPr lang="en-US" sz="2000" dirty="0"/>
              <a:t> no </a:t>
            </a:r>
            <a:r>
              <a:rPr lang="en-US" sz="2000" dirty="0" err="1"/>
              <a:t>presencial</a:t>
            </a:r>
            <a:r>
              <a:rPr lang="en-US" sz="2000" dirty="0"/>
              <a:t> (</a:t>
            </a:r>
            <a:r>
              <a:rPr lang="en-US" sz="2000" dirty="0" err="1"/>
              <a:t>sujeto</a:t>
            </a:r>
            <a:r>
              <a:rPr lang="en-US" sz="2000" dirty="0"/>
              <a:t> a </a:t>
            </a:r>
            <a:r>
              <a:rPr lang="en-US" sz="2000" dirty="0" err="1"/>
              <a:t>presentación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martes)</a:t>
            </a:r>
            <a:endParaRPr sz="2000" b="1" dirty="0"/>
          </a:p>
          <a:p>
            <a:pPr marL="457200" lvl="0" indent="-288925" algn="l" rtl="0">
              <a:spcBef>
                <a:spcPts val="600"/>
              </a:spcBef>
              <a:spcAft>
                <a:spcPts val="0"/>
              </a:spcAft>
              <a:buSzPts val="950"/>
              <a:buChar char="■"/>
            </a:pPr>
            <a:r>
              <a:rPr lang="en-US" sz="2000" b="1" dirty="0"/>
              <a:t>Viernes 29 de </a:t>
            </a:r>
            <a:r>
              <a:rPr lang="en-US" sz="2000" b="1" dirty="0" err="1"/>
              <a:t>noviembre</a:t>
            </a:r>
            <a:r>
              <a:rPr lang="en-US" sz="2000" dirty="0"/>
              <a:t>: </a:t>
            </a:r>
            <a:r>
              <a:rPr lang="en-US" sz="2000" dirty="0" err="1"/>
              <a:t>Entrega</a:t>
            </a:r>
            <a:r>
              <a:rPr lang="en-US" sz="2000" dirty="0"/>
              <a:t> de </a:t>
            </a:r>
            <a:r>
              <a:rPr lang="en-US" sz="2000" dirty="0" err="1"/>
              <a:t>versión</a:t>
            </a:r>
            <a:r>
              <a:rPr lang="en-US" sz="2000" dirty="0"/>
              <a:t> final de </a:t>
            </a:r>
            <a:r>
              <a:rPr lang="en-US" sz="2000" dirty="0" err="1"/>
              <a:t>reto</a:t>
            </a:r>
            <a:r>
              <a:rPr lang="en-US" sz="2000" dirty="0"/>
              <a:t>: </a:t>
            </a:r>
            <a:r>
              <a:rPr lang="en-US" sz="2000" dirty="0" err="1"/>
              <a:t>Documentación</a:t>
            </a:r>
            <a:r>
              <a:rPr lang="en-US" sz="2000" dirty="0"/>
              <a:t> + video de </a:t>
            </a:r>
            <a:r>
              <a:rPr lang="en-US" sz="2000" dirty="0" err="1"/>
              <a:t>ejecución</a:t>
            </a:r>
            <a:r>
              <a:rPr lang="en-US" sz="2000" dirty="0"/>
              <a:t>.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1" dirty="0"/>
              <a:t>Agenda 2:</a:t>
            </a:r>
            <a:endParaRPr sz="2200" b="1" dirty="0"/>
          </a:p>
          <a:p>
            <a:pPr marL="457200" lvl="0" indent="-288925" algn="l" rtl="0">
              <a:spcBef>
                <a:spcPts val="600"/>
              </a:spcBef>
              <a:spcAft>
                <a:spcPts val="0"/>
              </a:spcAft>
              <a:buSzPts val="950"/>
              <a:buChar char="■"/>
            </a:pPr>
            <a:r>
              <a:rPr lang="en-US" sz="2000" b="1" dirty="0"/>
              <a:t>Martes 26 de </a:t>
            </a:r>
            <a:r>
              <a:rPr lang="en-US" sz="2000" b="1" dirty="0" err="1"/>
              <a:t>noviembre</a:t>
            </a:r>
            <a:r>
              <a:rPr lang="en-US" sz="2000" dirty="0"/>
              <a:t>: Examen final (MAS). Se </a:t>
            </a:r>
            <a:r>
              <a:rPr lang="en-US" sz="2000" dirty="0" err="1"/>
              <a:t>presenta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horario</a:t>
            </a:r>
            <a:r>
              <a:rPr lang="en-US" sz="2000" dirty="0"/>
              <a:t> de </a:t>
            </a:r>
            <a:r>
              <a:rPr lang="en-US" sz="2000" dirty="0" err="1"/>
              <a:t>clase</a:t>
            </a:r>
            <a:r>
              <a:rPr lang="en-US" sz="2000" dirty="0"/>
              <a:t> de </a:t>
            </a:r>
            <a:r>
              <a:rPr lang="en-US" sz="2000" dirty="0" err="1"/>
              <a:t>manera</a:t>
            </a:r>
            <a:r>
              <a:rPr lang="en-US" sz="2000" dirty="0"/>
              <a:t> </a:t>
            </a:r>
            <a:r>
              <a:rPr lang="en-US" sz="2000" dirty="0" err="1"/>
              <a:t>presencial</a:t>
            </a:r>
            <a:r>
              <a:rPr lang="en-US" sz="2000" dirty="0"/>
              <a:t>.</a:t>
            </a:r>
            <a:endParaRPr sz="2000" b="1" dirty="0"/>
          </a:p>
          <a:p>
            <a:pPr marL="457200" lvl="0" indent="-288925" algn="l" rtl="0">
              <a:spcBef>
                <a:spcPts val="600"/>
              </a:spcBef>
              <a:spcAft>
                <a:spcPts val="0"/>
              </a:spcAft>
              <a:buSzPts val="950"/>
              <a:buChar char="■"/>
            </a:pPr>
            <a:r>
              <a:rPr lang="en-US" sz="2000" b="1" dirty="0"/>
              <a:t>Jueves 28 de </a:t>
            </a:r>
            <a:r>
              <a:rPr lang="en-US" sz="2000" b="1" dirty="0" err="1"/>
              <a:t>noviembre</a:t>
            </a:r>
            <a:r>
              <a:rPr lang="en-US" sz="2000" dirty="0"/>
              <a:t>: </a:t>
            </a:r>
            <a:r>
              <a:rPr lang="en-US" sz="2000" dirty="0" err="1"/>
              <a:t>Presentaciń</a:t>
            </a:r>
            <a:r>
              <a:rPr lang="en-US" sz="2000" dirty="0"/>
              <a:t> final de </a:t>
            </a:r>
            <a:r>
              <a:rPr lang="en-US" sz="2000" dirty="0" err="1"/>
              <a:t>reto</a:t>
            </a:r>
            <a:r>
              <a:rPr lang="en-US" sz="2000" dirty="0"/>
              <a:t>.</a:t>
            </a:r>
            <a:endParaRPr sz="2000" b="1" dirty="0"/>
          </a:p>
          <a:p>
            <a:pPr marL="457200" lvl="0" indent="-288925" algn="l" rtl="0">
              <a:spcBef>
                <a:spcPts val="600"/>
              </a:spcBef>
              <a:spcAft>
                <a:spcPts val="0"/>
              </a:spcAft>
              <a:buSzPts val="950"/>
              <a:buChar char="■"/>
            </a:pPr>
            <a:r>
              <a:rPr lang="en-US" sz="2000" b="1" dirty="0"/>
              <a:t>Viernes 29 de </a:t>
            </a:r>
            <a:r>
              <a:rPr lang="en-US" sz="2000" b="1" dirty="0" err="1"/>
              <a:t>noviembre</a:t>
            </a:r>
            <a:r>
              <a:rPr lang="en-US" sz="2000" dirty="0"/>
              <a:t>: </a:t>
            </a:r>
            <a:r>
              <a:rPr lang="en-US" sz="2000" dirty="0" err="1"/>
              <a:t>Entrega</a:t>
            </a:r>
            <a:r>
              <a:rPr lang="en-US" sz="2000" dirty="0"/>
              <a:t> de </a:t>
            </a:r>
            <a:r>
              <a:rPr lang="en-US" sz="2000" dirty="0" err="1"/>
              <a:t>versión</a:t>
            </a:r>
            <a:r>
              <a:rPr lang="en-US" sz="2000" dirty="0"/>
              <a:t> final de </a:t>
            </a:r>
            <a:r>
              <a:rPr lang="en-US" sz="2000" dirty="0" err="1"/>
              <a:t>reto</a:t>
            </a:r>
            <a:r>
              <a:rPr lang="en-US" sz="2000" dirty="0"/>
              <a:t>: </a:t>
            </a:r>
            <a:r>
              <a:rPr lang="en-US" sz="2000" dirty="0" err="1"/>
              <a:t>Documentación</a:t>
            </a:r>
            <a:r>
              <a:rPr lang="en-US" sz="2000" dirty="0"/>
              <a:t> + video de </a:t>
            </a:r>
            <a:r>
              <a:rPr lang="en-US" sz="2000" dirty="0" err="1"/>
              <a:t>ejecución</a:t>
            </a:r>
            <a:r>
              <a:rPr lang="en-US" sz="2000" dirty="0"/>
              <a:t>.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42ad63b4b_0_0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59" name="Google Shape;59;g3142ad63b4b_0_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Agent </a:t>
            </a:r>
            <a:r>
              <a:rPr lang="en-US"/>
              <a:t>Interaction</a:t>
            </a:r>
            <a:endParaRPr dirty="0"/>
          </a:p>
        </p:txBody>
      </p:sp>
      <p:sp>
        <p:nvSpPr>
          <p:cNvPr id="60" name="Google Shape;60;g3142ad63b4b_0_0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Noto Sans Symbols"/>
              <a:buChar char="■"/>
            </a:pPr>
            <a:r>
              <a:rPr lang="en-US" sz="2300"/>
              <a:t>Bibliography for this section:</a:t>
            </a:r>
            <a:br>
              <a:rPr lang="en-US" sz="2300"/>
            </a:br>
            <a:endParaRPr sz="2300"/>
          </a:p>
          <a:p>
            <a:pPr marL="669925" marR="0" lvl="1" indent="-33623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Noto Sans Symbols"/>
              <a:buChar char="❑"/>
            </a:pPr>
            <a:r>
              <a:rPr lang="en-US" sz="2300"/>
              <a:t>Chapter  of </a:t>
            </a:r>
            <a:r>
              <a:rPr lang="en-US" sz="2300" b="1"/>
              <a:t>Artficial Intelligence: A Modern Approach </a:t>
            </a:r>
            <a:r>
              <a:rPr lang="en-US" sz="2300"/>
              <a:t>(Russel and Norvig)</a:t>
            </a:r>
            <a:br>
              <a:rPr lang="en-US" sz="2300"/>
            </a:br>
            <a:endParaRPr sz="2300"/>
          </a:p>
          <a:p>
            <a:pPr marL="669925" marR="0" lvl="1" indent="-33623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Noto Sans Symbols"/>
              <a:buChar char="❑"/>
            </a:pPr>
            <a:r>
              <a:rPr lang="en-US" sz="2300"/>
              <a:t>Chapters 6-7 of </a:t>
            </a:r>
            <a:r>
              <a:rPr lang="en-US" sz="2300" b="1"/>
              <a:t>An Introduction to MultiAgent Systems </a:t>
            </a:r>
            <a:r>
              <a:rPr lang="en-US" sz="2300"/>
              <a:t>(Wooldridge)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ff263e88c_0_153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66" name="Google Shape;66;g2dff263e88c_0_153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Agent </a:t>
            </a:r>
            <a:r>
              <a:rPr lang="en-US"/>
              <a:t>Interaction</a:t>
            </a:r>
            <a:endParaRPr/>
          </a:p>
        </p:txBody>
      </p:sp>
      <p:sp>
        <p:nvSpPr>
          <p:cNvPr id="67" name="Google Shape;67;g2dff263e88c_0_153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Utilities and preferences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Encounters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Game theory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Strategies (Dominant, Nash Equilibrium)</a:t>
            </a:r>
            <a:endParaRPr sz="2400"/>
          </a:p>
          <a:p>
            <a: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The Prisoner’s Dilemma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212688469_0_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/>
              <a:t>MultiAgent Systems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g27212688469_0_0"/>
          <p:cNvSpPr txBox="1">
            <a:spLocks noGrp="1"/>
          </p:cNvSpPr>
          <p:nvPr>
            <p:ph type="body" idx="1"/>
          </p:nvPr>
        </p:nvSpPr>
        <p:spPr>
          <a:xfrm>
            <a:off x="164950" y="1600200"/>
            <a:ext cx="4209900" cy="4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None/>
            </a:pPr>
            <a:r>
              <a:rPr lang="en-US" sz="2100"/>
              <a:t>A multiagent system contains a number of agents</a:t>
            </a:r>
            <a:endParaRPr sz="2100"/>
          </a:p>
          <a:p>
            <a:pPr marL="34290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50"/>
              <a:buChar char="■"/>
            </a:pPr>
            <a:r>
              <a:rPr lang="en-US" sz="2100"/>
              <a:t>which interact through communication</a:t>
            </a:r>
            <a:endParaRPr sz="2100"/>
          </a:p>
          <a:p>
            <a:pPr marL="34290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50"/>
              <a:buChar char="■"/>
            </a:pPr>
            <a:r>
              <a:rPr lang="en-US" sz="2100"/>
              <a:t>are able to act in an environment</a:t>
            </a:r>
            <a:endParaRPr sz="2100"/>
          </a:p>
          <a:p>
            <a:pPr marL="34290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50"/>
              <a:buChar char="■"/>
            </a:pPr>
            <a:r>
              <a:rPr lang="en-US" sz="2100"/>
              <a:t>have different “spheres of influence” (which may coincide)</a:t>
            </a:r>
            <a:endParaRPr sz="2100"/>
          </a:p>
          <a:p>
            <a:pPr marL="34290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50"/>
              <a:buChar char="■"/>
            </a:pPr>
            <a:r>
              <a:rPr lang="en-US" sz="2100"/>
              <a:t>will be linked by other (organizational) relationships</a:t>
            </a:r>
            <a:endParaRPr sz="21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100"/>
          </a:p>
        </p:txBody>
      </p:sp>
      <p:pic>
        <p:nvPicPr>
          <p:cNvPr id="76" name="Google Shape;76;g27212688469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4775" y="1661178"/>
            <a:ext cx="4770625" cy="42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ff263e88c_0_159"/>
          <p:cNvSpPr txBox="1">
            <a:spLocks noGrp="1"/>
          </p:cNvSpPr>
          <p:nvPr>
            <p:ph type="title"/>
          </p:nvPr>
        </p:nvSpPr>
        <p:spPr>
          <a:xfrm>
            <a:off x="457200" y="277805"/>
            <a:ext cx="82296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Decision Theory</a:t>
            </a:r>
            <a:endParaRPr/>
          </a:p>
        </p:txBody>
      </p:sp>
      <p:sp>
        <p:nvSpPr>
          <p:cNvPr id="84" name="Google Shape;84;g2dff263e88c_0_159"/>
          <p:cNvSpPr txBox="1">
            <a:spLocks noGrp="1"/>
          </p:cNvSpPr>
          <p:nvPr>
            <p:ph type="body" idx="1"/>
          </p:nvPr>
        </p:nvSpPr>
        <p:spPr>
          <a:xfrm>
            <a:off x="457200" y="1196250"/>
            <a:ext cx="8229600" cy="49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Examines how individuals and groups make choices. Decision theory aims to provide a framework for making rational decisions by evaluating different options and their potential outcomes.</a:t>
            </a:r>
            <a:endParaRPr sz="1800" b="1"/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en-US" sz="1700" b="1"/>
              <a:t>Decision Maker (Agent)</a:t>
            </a:r>
            <a:r>
              <a:rPr lang="en-US" sz="1700"/>
              <a:t>: Entity making the choice.</a:t>
            </a: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en-US" sz="1700" b="1"/>
              <a:t>Alternatives (Options)</a:t>
            </a:r>
            <a:r>
              <a:rPr lang="en-US" sz="1700"/>
              <a:t>: Possible actions or strategies to choose from.</a:t>
            </a: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en-US" sz="1700" b="1"/>
              <a:t>Outcomes</a:t>
            </a:r>
            <a:r>
              <a:rPr lang="en-US" sz="1700"/>
              <a:t>: Results of choosing a particular alternative.</a:t>
            </a: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en-US" sz="1700" b="1"/>
              <a:t>Preferences</a:t>
            </a:r>
            <a:r>
              <a:rPr lang="en-US" sz="1700"/>
              <a:t>: Ranking of outcomes based on agent’s desirability.</a:t>
            </a: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en-US" sz="1700" b="1"/>
              <a:t>Utility</a:t>
            </a:r>
            <a:r>
              <a:rPr lang="en-US" sz="1700"/>
              <a:t>: A numerical representation of the agent's preferences for outcome comparison.</a:t>
            </a: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en-US" sz="1700" b="1"/>
              <a:t>Risk and Uncertainty</a:t>
            </a:r>
            <a:r>
              <a:rPr lang="en-US" sz="1700"/>
              <a:t>: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en-US" sz="1700" b="1"/>
              <a:t>Risk</a:t>
            </a:r>
            <a:r>
              <a:rPr lang="en-US" sz="1700"/>
              <a:t>: When the probabilities of different outcomes are known.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en-US" sz="1700" b="1"/>
              <a:t>Uncertainty</a:t>
            </a:r>
            <a:r>
              <a:rPr lang="en-US" sz="1700"/>
              <a:t>: When the probabilities of outcomes are unknown.</a:t>
            </a: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lang="en-US" sz="1700" b="1"/>
              <a:t>Expected Utility</a:t>
            </a:r>
            <a:r>
              <a:rPr lang="en-US" sz="1700"/>
              <a:t>:</a:t>
            </a:r>
            <a:endParaRPr sz="1700"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en-US" sz="1700"/>
              <a:t>Decisions under risk, where the decision-maker chooses the alternative with the highest expected utility.</a:t>
            </a: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7212688469_0_8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CC3300"/>
                </a:solidFill>
              </a:rPr>
              <a:t>Utilities and Preferences</a:t>
            </a:r>
            <a:endParaRPr/>
          </a:p>
        </p:txBody>
      </p:sp>
      <p:sp>
        <p:nvSpPr>
          <p:cNvPr id="92" name="Google Shape;92;g27212688469_0_8"/>
          <p:cNvSpPr txBox="1">
            <a:spLocks noGrp="1"/>
          </p:cNvSpPr>
          <p:nvPr>
            <p:ph type="body" idx="1"/>
          </p:nvPr>
        </p:nvSpPr>
        <p:spPr>
          <a:xfrm>
            <a:off x="457200" y="1163625"/>
            <a:ext cx="8229600" cy="49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"/>
              <a:buChar char="■"/>
            </a:pPr>
            <a:r>
              <a:rPr lang="en-US" sz="2300"/>
              <a:t>Assume we have just two agents: 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Ag = {i, j}</a:t>
            </a:r>
            <a:endParaRPr sz="2700"/>
          </a:p>
          <a:p>
            <a:pPr marL="342900" lvl="0" indent="-3238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390"/>
              <a:buChar char="■"/>
            </a:pPr>
            <a:r>
              <a:rPr lang="en-US" sz="2300"/>
              <a:t>Agents are </a:t>
            </a:r>
            <a:r>
              <a:rPr lang="en-US" sz="2300" i="1">
                <a:solidFill>
                  <a:srgbClr val="003399"/>
                </a:solidFill>
              </a:rPr>
              <a:t>self-interested</a:t>
            </a:r>
            <a:r>
              <a:rPr lang="en-US" sz="2300"/>
              <a:t>: they </a:t>
            </a:r>
            <a:r>
              <a:rPr lang="en-US" sz="2300" i="1">
                <a:solidFill>
                  <a:srgbClr val="003399"/>
                </a:solidFill>
              </a:rPr>
              <a:t>have preferences over how the environment is</a:t>
            </a:r>
            <a:endParaRPr sz="2700"/>
          </a:p>
          <a:p>
            <a:pPr marL="342900" lvl="0" indent="-3238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390"/>
              <a:buChar char="■"/>
            </a:pPr>
            <a:r>
              <a:rPr lang="en-US" sz="2300">
                <a:latin typeface="Noto Sans Symbols"/>
                <a:ea typeface="Noto Sans Symbols"/>
                <a:cs typeface="Noto Sans Symbols"/>
                <a:sym typeface="Noto Sans Symbols"/>
              </a:rPr>
              <a:t>Ω = 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23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300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300">
                <a:latin typeface="Noto Sans Symbols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3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300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300">
                <a:latin typeface="Noto Sans Symbols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…}</a:t>
            </a:r>
            <a:r>
              <a:rPr lang="en-US" sz="2300"/>
              <a:t>is the set of “outcomes” that agents have preferences over</a:t>
            </a:r>
            <a:endParaRPr sz="2700"/>
          </a:p>
          <a:p>
            <a:pPr marL="342900" lvl="0" indent="-3238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390"/>
              <a:buChar char="■"/>
            </a:pPr>
            <a:r>
              <a:rPr lang="en-US" sz="2300"/>
              <a:t>We capture preferences by </a:t>
            </a:r>
            <a:r>
              <a:rPr lang="en-US" sz="2300" i="1">
                <a:solidFill>
                  <a:srgbClr val="003399"/>
                </a:solidFill>
              </a:rPr>
              <a:t>utility functions</a:t>
            </a:r>
            <a:r>
              <a:rPr lang="en-US" sz="2300"/>
              <a:t>:</a:t>
            </a:r>
            <a:br>
              <a:rPr lang="en-US" sz="2300"/>
            </a:br>
            <a:r>
              <a:rPr lang="en-US" sz="2300"/>
              <a:t>			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3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 =</a:t>
            </a:r>
            <a:r>
              <a:rPr lang="en-US" sz="2300"/>
              <a:t> </a:t>
            </a:r>
            <a:r>
              <a:rPr lang="en-US" sz="2300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300"/>
              <a:t> → ℝ</a:t>
            </a:r>
            <a:br>
              <a:rPr lang="en-US" sz="2300"/>
            </a:br>
            <a:r>
              <a:rPr lang="en-US" sz="2300"/>
              <a:t>			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300" i="1" baseline="-250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 =</a:t>
            </a:r>
            <a:r>
              <a:rPr lang="en-US" sz="2300"/>
              <a:t> </a:t>
            </a:r>
            <a:r>
              <a:rPr lang="en-US" sz="2300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300"/>
              <a:t> → ℝ</a:t>
            </a:r>
            <a:endParaRPr sz="2300"/>
          </a:p>
          <a:p>
            <a:pPr marL="342900" lvl="0" indent="-3238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390"/>
              <a:buChar char="■"/>
            </a:pPr>
            <a:r>
              <a:rPr lang="en-US" sz="2300"/>
              <a:t>Utility functions lead to </a:t>
            </a:r>
            <a:r>
              <a:rPr lang="en-US" sz="2300" i="1">
                <a:solidFill>
                  <a:srgbClr val="003399"/>
                </a:solidFill>
              </a:rPr>
              <a:t>preference orderings</a:t>
            </a:r>
            <a:r>
              <a:rPr lang="en-US" sz="2300" i="1"/>
              <a:t> </a:t>
            </a:r>
            <a:r>
              <a:rPr lang="en-US" sz="2300"/>
              <a:t>over outcomes:</a:t>
            </a:r>
            <a:br>
              <a:rPr lang="en-US" sz="2300"/>
            </a:br>
            <a:r>
              <a:rPr lang="en-US" sz="2300"/>
              <a:t>		</a:t>
            </a:r>
            <a:r>
              <a:rPr lang="en-US" sz="23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300"/>
              <a:t> ≥</a:t>
            </a:r>
            <a:r>
              <a:rPr lang="en-US" sz="23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300"/>
              <a:t> </a:t>
            </a:r>
            <a:r>
              <a:rPr lang="en-US" sz="23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300"/>
              <a:t>’ means 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3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300"/>
              <a:t>(</a:t>
            </a:r>
            <a:r>
              <a:rPr lang="en-US" sz="23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300"/>
              <a:t>) ≥ 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3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300"/>
              <a:t>(</a:t>
            </a:r>
            <a:r>
              <a:rPr lang="en-US" sz="23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300"/>
              <a:t>’)</a:t>
            </a:r>
            <a:br>
              <a:rPr lang="en-US" sz="2300"/>
            </a:br>
            <a:r>
              <a:rPr lang="en-US" sz="2300"/>
              <a:t> 		</a:t>
            </a:r>
            <a:r>
              <a:rPr lang="en-US" sz="23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300"/>
              <a:t> &gt;</a:t>
            </a:r>
            <a:r>
              <a:rPr lang="en-US" sz="23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300"/>
              <a:t> </a:t>
            </a:r>
            <a:r>
              <a:rPr lang="en-US" sz="23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300"/>
              <a:t>’ means 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3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300"/>
              <a:t>(</a:t>
            </a:r>
            <a:r>
              <a:rPr lang="en-US" sz="23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300"/>
              <a:t>) &gt; </a:t>
            </a:r>
            <a:r>
              <a:rPr lang="en-US" sz="2300" i="1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3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300"/>
              <a:t>(</a:t>
            </a:r>
            <a:r>
              <a:rPr lang="en-US" sz="23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300"/>
              <a:t>’)</a:t>
            </a:r>
            <a:endParaRPr sz="2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7212688469_0_26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8" name="Google Shape;98;g27212688469_0_26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What is Utility?</a:t>
            </a:r>
            <a:endParaRPr/>
          </a:p>
        </p:txBody>
      </p:sp>
      <p:sp>
        <p:nvSpPr>
          <p:cNvPr id="99" name="Google Shape;99;g27212688469_0_26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Noto Sans Symbols"/>
              <a:buChar char="■"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Utility is </a:t>
            </a:r>
            <a:r>
              <a:rPr lang="en-US" sz="23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money (but it is a useful analogy)</a:t>
            </a:r>
            <a:endParaRPr sz="2300"/>
          </a:p>
          <a:p>
            <a:pPr marL="342900" marR="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Noto Sans Symbols"/>
              <a:buChar char="■"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relationship between utility &amp; money:</a:t>
            </a:r>
            <a:endParaRPr sz="2300"/>
          </a:p>
        </p:txBody>
      </p:sp>
      <p:pic>
        <p:nvPicPr>
          <p:cNvPr id="100" name="Google Shape;100;g27212688469_0_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9800" y="1981200"/>
            <a:ext cx="4495800" cy="442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212688469_0_11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6" name="Google Shape;106;g27212688469_0_112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What is Utility?</a:t>
            </a:r>
            <a:endParaRPr/>
          </a:p>
        </p:txBody>
      </p:sp>
      <p:sp>
        <p:nvSpPr>
          <p:cNvPr id="107" name="Google Shape;107;g27212688469_0_112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Noto Sans Symbols"/>
              <a:buChar char="■"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Utility is </a:t>
            </a:r>
            <a:r>
              <a:rPr lang="en-US" sz="23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money (but it is a useful analogy)</a:t>
            </a:r>
            <a:endParaRPr sz="2300"/>
          </a:p>
          <a:p>
            <a:pPr marL="342900" marR="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Noto Sans Symbols"/>
              <a:buChar char="■"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relationship between utility &amp; money:</a:t>
            </a:r>
            <a:endParaRPr sz="2300"/>
          </a:p>
        </p:txBody>
      </p:sp>
      <p:pic>
        <p:nvPicPr>
          <p:cNvPr id="108" name="Google Shape;108;g27212688469_0_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2448" y="3037225"/>
            <a:ext cx="457201" cy="4572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9" name="Google Shape;109;g27212688469_0_112"/>
          <p:cNvGraphicFramePr/>
          <p:nvPr/>
        </p:nvGraphicFramePr>
        <p:xfrm>
          <a:off x="1245925" y="2369375"/>
          <a:ext cx="6716975" cy="3534410"/>
        </p:xfrm>
        <a:graphic>
          <a:graphicData uri="http://schemas.openxmlformats.org/drawingml/2006/table">
            <a:tbl>
              <a:tblPr>
                <a:noFill/>
                <a:tableStyleId>{75DE6BE1-7F08-431B-BF9F-D011DF1F1256}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3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4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5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6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7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b="1" u="none" strike="noStrike" cap="none"/>
                        <a:t>  100</a:t>
                      </a:r>
                      <a:endParaRPr sz="17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3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4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    150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0" name="Google Shape;110;g27212688469_0_112"/>
          <p:cNvSpPr/>
          <p:nvPr/>
        </p:nvSpPr>
        <p:spPr>
          <a:xfrm>
            <a:off x="5449650" y="2875875"/>
            <a:ext cx="537900" cy="542400"/>
          </a:xfrm>
          <a:prstGeom prst="ellipse">
            <a:avLst/>
          </a:prstGeom>
          <a:solidFill>
            <a:srgbClr val="CC33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g27212688469_0_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2448" y="3037225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27212688469_0_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798" y="5426300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7212688469_0_124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8" name="Google Shape;118;g27212688469_0_124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What is Utility?</a:t>
            </a:r>
            <a:endParaRPr/>
          </a:p>
        </p:txBody>
      </p:sp>
      <p:sp>
        <p:nvSpPr>
          <p:cNvPr id="119" name="Google Shape;119;g27212688469_0_124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079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50"/>
              <a:buChar char="■"/>
            </a:pPr>
            <a:r>
              <a:rPr lang="en-US" sz="2300" b="1">
                <a:solidFill>
                  <a:srgbClr val="980000"/>
                </a:solidFill>
              </a:rPr>
              <a:t>U((1, 7)) = 100</a:t>
            </a:r>
            <a:r>
              <a:rPr lang="en-US" sz="2300"/>
              <a:t>, </a:t>
            </a:r>
            <a:r>
              <a:rPr lang="en-US" sz="2300" b="1">
                <a:solidFill>
                  <a:srgbClr val="1C4587"/>
                </a:solidFill>
              </a:rPr>
              <a:t>u((4,1)) = 150</a:t>
            </a:r>
            <a:endParaRPr sz="2300" b="1">
              <a:solidFill>
                <a:srgbClr val="1C4587"/>
              </a:solidFill>
            </a:endParaRPr>
          </a:p>
          <a:p>
            <a:pPr marL="457200" lvl="0" indent="-3079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50"/>
              <a:buChar char="■"/>
            </a:pPr>
            <a:r>
              <a:rPr lang="en-US" sz="2300"/>
              <a:t>Preference: (4, 1) &gt; (1, 7)</a:t>
            </a:r>
            <a:endParaRPr sz="2300"/>
          </a:p>
        </p:txBody>
      </p:sp>
      <p:pic>
        <p:nvPicPr>
          <p:cNvPr id="120" name="Google Shape;120;g27212688469_0_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2448" y="3037225"/>
            <a:ext cx="457201" cy="4572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g27212688469_0_124"/>
          <p:cNvGraphicFramePr/>
          <p:nvPr/>
        </p:nvGraphicFramePr>
        <p:xfrm>
          <a:off x="1245925" y="2369375"/>
          <a:ext cx="6716975" cy="3534410"/>
        </p:xfrm>
        <a:graphic>
          <a:graphicData uri="http://schemas.openxmlformats.org/drawingml/2006/table">
            <a:tbl>
              <a:tblPr>
                <a:noFill/>
                <a:tableStyleId>{75DE6BE1-7F08-431B-BF9F-D011DF1F1256}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3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4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5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6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7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8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8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b="1" u="none" strike="noStrike" cap="none"/>
                        <a:t>  100</a:t>
                      </a:r>
                      <a:endParaRPr sz="17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98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8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8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8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8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3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1155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4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1155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    150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1155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1155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1155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1155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1155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" name="Google Shape;122;g27212688469_0_124"/>
          <p:cNvSpPr/>
          <p:nvPr/>
        </p:nvSpPr>
        <p:spPr>
          <a:xfrm>
            <a:off x="5449650" y="2875875"/>
            <a:ext cx="537900" cy="542400"/>
          </a:xfrm>
          <a:prstGeom prst="ellipse">
            <a:avLst/>
          </a:prstGeom>
          <a:solidFill>
            <a:srgbClr val="CC33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g27212688469_0_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2448" y="3037225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27212688469_0_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798" y="5426300"/>
            <a:ext cx="457201" cy="45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212688469_0_135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30" name="Google Shape;130;g27212688469_0_135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What is Utility?</a:t>
            </a:r>
            <a:endParaRPr/>
          </a:p>
        </p:txBody>
      </p:sp>
      <p:sp>
        <p:nvSpPr>
          <p:cNvPr id="131" name="Google Shape;131;g27212688469_0_135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3795600" cy="12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70"/>
              <a:buNone/>
            </a:pPr>
            <a:r>
              <a:rPr lang="en-US" sz="2300"/>
              <a:t>Walking a cell: </a:t>
            </a:r>
            <a:r>
              <a:rPr lang="en-US" sz="2300" b="1">
                <a:solidFill>
                  <a:srgbClr val="CC3300"/>
                </a:solidFill>
              </a:rPr>
              <a:t>-10</a:t>
            </a:r>
            <a:r>
              <a:rPr lang="en-US" sz="2300"/>
              <a:t>. Then:</a:t>
            </a:r>
            <a:endParaRPr sz="2300"/>
          </a:p>
          <a:p>
            <a:pPr marL="457200" lvl="0" indent="-3079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50"/>
              <a:buChar char="■"/>
            </a:pPr>
            <a:r>
              <a:rPr lang="en-US" sz="2300"/>
              <a:t>U((1, 7)) = 100 </a:t>
            </a:r>
            <a:r>
              <a:rPr lang="en-US" sz="2300" b="1">
                <a:solidFill>
                  <a:srgbClr val="CC3300"/>
                </a:solidFill>
              </a:rPr>
              <a:t>- 20</a:t>
            </a:r>
            <a:r>
              <a:rPr lang="en-US" sz="2300"/>
              <a:t> = 80</a:t>
            </a:r>
            <a:endParaRPr sz="2300"/>
          </a:p>
          <a:p>
            <a:pPr marL="457200" lvl="0" indent="-3079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50"/>
              <a:buChar char="■"/>
            </a:pPr>
            <a:r>
              <a:rPr lang="en-US" sz="2300"/>
              <a:t>U((4,1)) = 150 </a:t>
            </a:r>
            <a:r>
              <a:rPr lang="en-US" sz="2300" b="1">
                <a:solidFill>
                  <a:srgbClr val="CC3300"/>
                </a:solidFill>
              </a:rPr>
              <a:t>- 70</a:t>
            </a:r>
            <a:r>
              <a:rPr lang="en-US" sz="2300"/>
              <a:t> = 80</a:t>
            </a:r>
            <a:endParaRPr sz="2300"/>
          </a:p>
        </p:txBody>
      </p:sp>
      <p:pic>
        <p:nvPicPr>
          <p:cNvPr id="132" name="Google Shape;132;g27212688469_0_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2448" y="3037225"/>
            <a:ext cx="457201" cy="4572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" name="Google Shape;133;g27212688469_0_135"/>
          <p:cNvGraphicFramePr/>
          <p:nvPr/>
        </p:nvGraphicFramePr>
        <p:xfrm>
          <a:off x="1245925" y="2369375"/>
          <a:ext cx="6716975" cy="3534410"/>
        </p:xfrm>
        <a:graphic>
          <a:graphicData uri="http://schemas.openxmlformats.org/drawingml/2006/table">
            <a:tbl>
              <a:tblPr>
                <a:noFill/>
                <a:tableStyleId>{75DE6BE1-7F08-431B-BF9F-D011DF1F1256}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3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4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5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6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7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1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n-US" sz="1700" b="1" u="none" strike="noStrike" cap="none"/>
                        <a:t>  100</a:t>
                      </a:r>
                      <a:endParaRPr sz="17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2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3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4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    150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66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" name="Google Shape;134;g27212688469_0_135"/>
          <p:cNvSpPr/>
          <p:nvPr/>
        </p:nvSpPr>
        <p:spPr>
          <a:xfrm>
            <a:off x="5449650" y="2875875"/>
            <a:ext cx="537900" cy="542400"/>
          </a:xfrm>
          <a:prstGeom prst="ellipse">
            <a:avLst/>
          </a:prstGeom>
          <a:solidFill>
            <a:srgbClr val="CC33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g27212688469_0_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2448" y="3037225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7212688469_0_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798" y="5426300"/>
            <a:ext cx="457201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7212688469_0_135"/>
          <p:cNvSpPr txBox="1"/>
          <p:nvPr/>
        </p:nvSpPr>
        <p:spPr>
          <a:xfrm>
            <a:off x="4953000" y="168087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 7) = (4,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27212688469_0_135"/>
          <p:cNvSpPr/>
          <p:nvPr/>
        </p:nvSpPr>
        <p:spPr>
          <a:xfrm>
            <a:off x="4320100" y="1889750"/>
            <a:ext cx="86070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7212688469_0_17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44" name="Google Shape;144;g27212688469_0_172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rgbClr val="CC3300"/>
                </a:solidFill>
                <a:latin typeface="Garamond"/>
                <a:ea typeface="Garamond"/>
                <a:cs typeface="Garamond"/>
                <a:sym typeface="Garamond"/>
              </a:rPr>
              <a:t>Multiagent Encounters</a:t>
            </a:r>
            <a:endParaRPr/>
          </a:p>
        </p:txBody>
      </p:sp>
      <p:sp>
        <p:nvSpPr>
          <p:cNvPr id="145" name="Google Shape;145;g27212688469_0_172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458200" cy="4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90"/>
              <a:buFont typeface="Noto Sans Symbols"/>
              <a:buChar char="■"/>
            </a:pPr>
            <a:r>
              <a:rPr lang="en-US" sz="2300"/>
              <a:t>M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odel of the environment in which agents will act</a:t>
            </a:r>
            <a:r>
              <a:rPr lang="en-US" sz="2300"/>
              <a:t>:</a:t>
            </a:r>
            <a:endParaRPr sz="2700"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agents simultaneously choose an action to perform, and </a:t>
            </a:r>
            <a:r>
              <a:rPr lang="en-US" sz="2200"/>
              <a:t>in consequence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outcome in </a:t>
            </a:r>
            <a:r>
              <a:rPr lang="en-US" sz="22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will result</a:t>
            </a:r>
            <a:endParaRPr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200" b="0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actual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outcome depends on the </a:t>
            </a:r>
            <a:r>
              <a:rPr lang="en-US" sz="2200" b="0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combination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actions</a:t>
            </a:r>
            <a:endParaRPr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each agent has two possible actions</a:t>
            </a:r>
            <a:r>
              <a:rPr lang="en-US" sz="2200"/>
              <a:t>: 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(“cooperate”=silent) and 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(“defect”=</a:t>
            </a:r>
            <a:r>
              <a:rPr lang="en-US" sz="2200"/>
              <a:t>betray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marL="342900" marR="0" lvl="0" indent="-3238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390"/>
              <a:buFont typeface="Noto Sans Symbols"/>
              <a:buChar char="■"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 behavior given by </a:t>
            </a:r>
            <a:r>
              <a:rPr lang="en-US" sz="23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transformer function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700"/>
          </a:p>
        </p:txBody>
      </p:sp>
      <p:pic>
        <p:nvPicPr>
          <p:cNvPr id="146" name="Google Shape;146;g27212688469_0_1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5150" y="3962400"/>
            <a:ext cx="5778650" cy="7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7212688469_0_231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52" name="Google Shape;152;g27212688469_0_231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rgbClr val="CC3300"/>
                </a:solidFill>
                <a:latin typeface="Garamond"/>
                <a:ea typeface="Garamond"/>
                <a:cs typeface="Garamond"/>
                <a:sym typeface="Garamond"/>
              </a:rPr>
              <a:t>Multiagent Encounters</a:t>
            </a:r>
            <a:endParaRPr/>
          </a:p>
        </p:txBody>
      </p:sp>
      <p:sp>
        <p:nvSpPr>
          <p:cNvPr id="153" name="Google Shape;153;g27212688469_0_231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458200" cy="4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6865" algn="l" rtl="0">
              <a:spcBef>
                <a:spcPts val="0"/>
              </a:spcBef>
              <a:spcAft>
                <a:spcPts val="0"/>
              </a:spcAft>
              <a:buSzPts val="1390"/>
              <a:buChar char="■"/>
            </a:pPr>
            <a:r>
              <a:rPr lang="en-US" sz="2300"/>
              <a:t>Model of the environment in which agents will act:</a:t>
            </a:r>
            <a:endParaRPr sz="2700"/>
          </a:p>
          <a:p>
            <a:pPr marL="914400" lvl="1" indent="-312419" algn="l" rtl="0">
              <a:spcBef>
                <a:spcPts val="440"/>
              </a:spcBef>
              <a:spcAft>
                <a:spcPts val="0"/>
              </a:spcAft>
              <a:buSzPts val="1320"/>
              <a:buChar char="❑"/>
            </a:pPr>
            <a:r>
              <a:rPr lang="en-US" sz="2200"/>
              <a:t>agents simultaneously choose an action to perform, and in consequence an outcome in </a:t>
            </a:r>
            <a:r>
              <a:rPr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200"/>
              <a:t> will result</a:t>
            </a:r>
            <a:endParaRPr/>
          </a:p>
          <a:p>
            <a:pPr marL="914400" lvl="1" indent="-312419" algn="l" rtl="0">
              <a:spcBef>
                <a:spcPts val="440"/>
              </a:spcBef>
              <a:spcAft>
                <a:spcPts val="0"/>
              </a:spcAft>
              <a:buSzPts val="1320"/>
              <a:buChar char="❑"/>
            </a:pPr>
            <a:r>
              <a:rPr lang="en-US" sz="2200"/>
              <a:t>the </a:t>
            </a:r>
            <a:r>
              <a:rPr lang="en-US" sz="2200" i="1">
                <a:solidFill>
                  <a:srgbClr val="003399"/>
                </a:solidFill>
              </a:rPr>
              <a:t>actual</a:t>
            </a:r>
            <a:r>
              <a:rPr lang="en-US" sz="2200" i="1"/>
              <a:t> </a:t>
            </a:r>
            <a:r>
              <a:rPr lang="en-US" sz="2200"/>
              <a:t>outcome depends on the </a:t>
            </a:r>
            <a:r>
              <a:rPr lang="en-US" sz="2200" i="1">
                <a:solidFill>
                  <a:srgbClr val="003399"/>
                </a:solidFill>
              </a:rPr>
              <a:t>combination</a:t>
            </a:r>
            <a:r>
              <a:rPr lang="en-US" sz="2200" i="1"/>
              <a:t> </a:t>
            </a:r>
            <a:r>
              <a:rPr lang="en-US" sz="2200"/>
              <a:t>of actions</a:t>
            </a:r>
            <a:endParaRPr/>
          </a:p>
          <a:p>
            <a:pPr marL="914400" lvl="1" indent="-312419" algn="l" rtl="0">
              <a:spcBef>
                <a:spcPts val="440"/>
              </a:spcBef>
              <a:spcAft>
                <a:spcPts val="0"/>
              </a:spcAft>
              <a:buSzPts val="1320"/>
              <a:buChar char="❑"/>
            </a:pPr>
            <a:r>
              <a:rPr lang="en-US" sz="2200"/>
              <a:t>assume each agent has two possible actions: </a:t>
            </a:r>
            <a:r>
              <a:rPr lang="en-US" sz="2200" i="1"/>
              <a:t>C </a:t>
            </a:r>
            <a:r>
              <a:rPr lang="en-US" sz="2200"/>
              <a:t>(“cooperate”=silent) and </a:t>
            </a:r>
            <a:r>
              <a:rPr lang="en-US" sz="2200" i="1"/>
              <a:t>D</a:t>
            </a:r>
            <a:r>
              <a:rPr lang="en-US" sz="2200"/>
              <a:t> (“defect”=betray)</a:t>
            </a:r>
            <a:endParaRPr/>
          </a:p>
          <a:p>
            <a:pPr marL="457200" lvl="0" indent="-316865" algn="l" rtl="0">
              <a:spcBef>
                <a:spcPts val="520"/>
              </a:spcBef>
              <a:spcAft>
                <a:spcPts val="0"/>
              </a:spcAft>
              <a:buSzPts val="1390"/>
              <a:buChar char="■"/>
            </a:pPr>
            <a:r>
              <a:rPr lang="en-US" sz="2300"/>
              <a:t>Environment behavior given by </a:t>
            </a:r>
            <a:r>
              <a:rPr lang="en-US" sz="2300" i="1"/>
              <a:t>state transformer function</a:t>
            </a:r>
            <a:r>
              <a:rPr lang="en-US" sz="2300"/>
              <a:t>:</a:t>
            </a:r>
            <a:endParaRPr sz="2300"/>
          </a:p>
        </p:txBody>
      </p:sp>
      <p:sp>
        <p:nvSpPr>
          <p:cNvPr id="154" name="Google Shape;154;g27212688469_0_231"/>
          <p:cNvSpPr txBox="1">
            <a:spLocks noGrp="1"/>
          </p:cNvSpPr>
          <p:nvPr>
            <p:ph type="body" idx="1"/>
          </p:nvPr>
        </p:nvSpPr>
        <p:spPr>
          <a:xfrm>
            <a:off x="609600" y="5051600"/>
            <a:ext cx="7924800" cy="9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341312" marR="0" lvl="0" indent="-34131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1690"/>
              <a:buFont typeface="Noto Sans Symbols"/>
              <a:buChar char="■"/>
            </a:pPr>
            <a:r>
              <a:rPr lang="en-US" sz="21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100" b="1" i="1" u="none">
                <a:solidFill>
                  <a:srgbClr val="003399"/>
                </a:solidFill>
              </a:rPr>
              <a:t>state transformer</a:t>
            </a:r>
            <a:r>
              <a:rPr lang="en-US" sz="2100" b="0" i="1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 represents behavior of the environment:</a:t>
            </a:r>
            <a:endParaRPr sz="2500"/>
          </a:p>
        </p:txBody>
      </p:sp>
      <p:pic>
        <p:nvPicPr>
          <p:cNvPr id="155" name="Google Shape;155;g27212688469_0_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275" y="5363975"/>
            <a:ext cx="2514600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27212688469_0_231"/>
          <p:cNvSpPr/>
          <p:nvPr/>
        </p:nvSpPr>
        <p:spPr>
          <a:xfrm>
            <a:off x="689375" y="5063275"/>
            <a:ext cx="7853100" cy="1008600"/>
          </a:xfrm>
          <a:prstGeom prst="rect">
            <a:avLst/>
          </a:prstGeom>
          <a:noFill/>
          <a:ln w="38100" cap="flat" cmpd="sng">
            <a:solidFill>
              <a:srgbClr val="CC3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27212688469_0_2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5150" y="3962400"/>
            <a:ext cx="5778650" cy="7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212688469_0_24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63" name="Google Shape;163;g27212688469_0_242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Multiagent Encounters</a:t>
            </a:r>
            <a:endParaRPr/>
          </a:p>
        </p:txBody>
      </p:sp>
      <p:sp>
        <p:nvSpPr>
          <p:cNvPr id="164" name="Google Shape;164;g27212688469_0_242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238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90"/>
              <a:buFont typeface="Noto Sans Symbols"/>
              <a:buChar char="■"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is a state transformer function:</a:t>
            </a: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(This environment is sensitive to actions of both agents.)</a:t>
            </a:r>
            <a:endParaRPr sz="2700"/>
          </a:p>
          <a:p>
            <a:pPr marL="342900" marR="0" lvl="0" indent="-3238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390"/>
              <a:buFont typeface="Noto Sans Symbols"/>
              <a:buChar char="■"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is another:</a:t>
            </a: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(Neither agent has any influence in this environment.)</a:t>
            </a:r>
            <a:endParaRPr sz="2700"/>
          </a:p>
          <a:p>
            <a:pPr marL="342900" marR="0" lvl="0" indent="-3238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390"/>
              <a:buFont typeface="Noto Sans Symbols"/>
              <a:buChar char="■"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here is another:</a:t>
            </a: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(This environment is controlled by </a:t>
            </a:r>
            <a:r>
              <a:rPr lang="en-US" sz="23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.)</a:t>
            </a:r>
            <a:endParaRPr sz="2700"/>
          </a:p>
        </p:txBody>
      </p:sp>
      <p:pic>
        <p:nvPicPr>
          <p:cNvPr id="165" name="Google Shape;165;g27212688469_0_2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1447800"/>
            <a:ext cx="7391400" cy="392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27212688469_0_2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200" y="2768600"/>
            <a:ext cx="7162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27212688469_0_2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400" y="4127500"/>
            <a:ext cx="7162800" cy="392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212688469_0_291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73" name="Google Shape;173;g27212688469_0_291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Multiagent Encounters</a:t>
            </a:r>
            <a:endParaRPr/>
          </a:p>
        </p:txBody>
      </p:sp>
      <p:sp>
        <p:nvSpPr>
          <p:cNvPr id="174" name="Google Shape;174;g27212688469_0_291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endParaRPr sz="27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lang="en-US" sz="2700"/>
              <a:t>               </a:t>
            </a:r>
            <a:r>
              <a:rPr lang="en-US" sz="2700" b="1" i="1"/>
              <a:t>j</a:t>
            </a:r>
            <a:endParaRPr sz="2700" b="1" i="1"/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endParaRPr sz="2700" b="1" i="1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endParaRPr sz="2700" b="1" i="1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lang="en-US" sz="2700" b="1" i="1"/>
              <a:t>i</a:t>
            </a:r>
            <a:endParaRPr sz="2700" b="1" i="1"/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endParaRPr sz="2700"/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endParaRPr sz="2700"/>
          </a:p>
          <a:p>
            <a:pPr marL="4572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endParaRPr sz="27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lang="en-US" sz="2200"/>
              <a:t>Sensitive to both                No influence              Controlled by </a:t>
            </a:r>
            <a:r>
              <a:rPr lang="en-US" sz="2200" i="1"/>
              <a:t>j</a:t>
            </a:r>
            <a:endParaRPr sz="2200" i="1"/>
          </a:p>
        </p:txBody>
      </p:sp>
      <p:graphicFrame>
        <p:nvGraphicFramePr>
          <p:cNvPr id="175" name="Google Shape;175;g27212688469_0_291"/>
          <p:cNvGraphicFramePr/>
          <p:nvPr/>
        </p:nvGraphicFramePr>
        <p:xfrm>
          <a:off x="1081275" y="1866900"/>
          <a:ext cx="1805775" cy="1939000"/>
        </p:xfrm>
        <a:graphic>
          <a:graphicData uri="http://schemas.openxmlformats.org/drawingml/2006/table">
            <a:tbl>
              <a:tblPr>
                <a:noFill/>
                <a:tableStyleId>{75DE6BE1-7F08-431B-BF9F-D011DF1F1256}</a:tableStyleId>
              </a:tblPr>
              <a:tblGrid>
                <a:gridCol w="60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2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800" i="1" u="none" strike="noStrike" cap="none"/>
                        <a:t>D</a:t>
                      </a:r>
                      <a:endParaRPr sz="28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800" i="1" u="none" strike="noStrike" cap="none">
                          <a:solidFill>
                            <a:schemeClr val="dk1"/>
                          </a:solidFill>
                        </a:rPr>
                        <a:t>C</a:t>
                      </a:r>
                      <a:endParaRPr sz="1200" i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800" i="1" u="none" strike="noStrike" cap="none">
                          <a:solidFill>
                            <a:schemeClr val="dk1"/>
                          </a:solidFill>
                        </a:rPr>
                        <a:t>D</a:t>
                      </a:r>
                      <a:endParaRPr sz="12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800" i="1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ω</a:t>
                      </a:r>
                      <a:r>
                        <a:rPr lang="en-US" sz="2800" i="1" u="none" strike="noStrike" cap="none" baseline="-250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sz="1900" i="1" u="none" strike="noStrike" cap="none" baseline="-25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800" i="1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ω</a:t>
                      </a:r>
                      <a:r>
                        <a:rPr lang="en-US" sz="2800" i="1" u="none" strike="noStrike" cap="none" baseline="-250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sz="1200" i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800" i="1" u="none" strike="noStrike" cap="none">
                          <a:solidFill>
                            <a:schemeClr val="dk1"/>
                          </a:solidFill>
                        </a:rPr>
                        <a:t>C</a:t>
                      </a:r>
                      <a:endParaRPr sz="12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800" i="1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ω</a:t>
                      </a:r>
                      <a:r>
                        <a:rPr lang="en-US" sz="2800" i="1" u="none" strike="noStrike" cap="none" baseline="-250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3</a:t>
                      </a:r>
                      <a:endParaRPr sz="12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2800" i="1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ω</a:t>
                      </a:r>
                      <a:r>
                        <a:rPr lang="en-US" sz="2800" i="1" u="none" strike="noStrike" cap="none" baseline="-250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4</a:t>
                      </a:r>
                      <a:endParaRPr sz="1200" i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6" name="Google Shape;176;g27212688469_0_291"/>
          <p:cNvGraphicFramePr/>
          <p:nvPr/>
        </p:nvGraphicFramePr>
        <p:xfrm>
          <a:off x="3932738" y="1866900"/>
          <a:ext cx="1899450" cy="1943400"/>
        </p:xfrm>
        <a:graphic>
          <a:graphicData uri="http://schemas.openxmlformats.org/drawingml/2006/table">
            <a:tbl>
              <a:tblPr>
                <a:noFill/>
                <a:tableStyleId>{75DE6BE1-7F08-431B-BF9F-D011DF1F1256}</a:tableStyleId>
              </a:tblPr>
              <a:tblGrid>
                <a:gridCol w="63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/>
                        <a:t>D</a:t>
                      </a:r>
                      <a:endParaRPr sz="30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</a:rPr>
                        <a:t>C</a:t>
                      </a:r>
                      <a:endParaRPr sz="1400" i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</a:rPr>
                        <a:t>D</a:t>
                      </a:r>
                      <a:endParaRPr sz="14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ω</a:t>
                      </a:r>
                      <a:r>
                        <a:rPr lang="en-US" sz="3000" i="1" u="none" strike="noStrike" cap="none" baseline="-250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sz="2100" i="1" u="none" strike="noStrike" cap="none" baseline="-25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ω</a:t>
                      </a:r>
                      <a:r>
                        <a:rPr lang="en-US" sz="3000" i="1" u="none" strike="noStrike" cap="none" baseline="-250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sz="1400" i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</a:rPr>
                        <a:t>C</a:t>
                      </a:r>
                      <a:endParaRPr sz="14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ω</a:t>
                      </a:r>
                      <a:r>
                        <a:rPr lang="en-US" sz="3000" i="1" u="none" strike="noStrike" cap="none" baseline="-250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sz="14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ω</a:t>
                      </a:r>
                      <a:r>
                        <a:rPr lang="en-US" sz="3000" i="1" u="none" strike="noStrike" cap="none" baseline="-250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sz="1400" i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7" name="Google Shape;177;g27212688469_0_291"/>
          <p:cNvGraphicFramePr/>
          <p:nvPr/>
        </p:nvGraphicFramePr>
        <p:xfrm>
          <a:off x="6651075" y="1866900"/>
          <a:ext cx="2027175" cy="1943400"/>
        </p:xfrm>
        <a:graphic>
          <a:graphicData uri="http://schemas.openxmlformats.org/drawingml/2006/table">
            <a:tbl>
              <a:tblPr>
                <a:noFill/>
                <a:tableStyleId>{75DE6BE1-7F08-431B-BF9F-D011DF1F1256}</a:tableStyleId>
              </a:tblPr>
              <a:tblGrid>
                <a:gridCol w="67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/>
                        <a:t>D</a:t>
                      </a:r>
                      <a:endParaRPr sz="30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</a:rPr>
                        <a:t>C</a:t>
                      </a:r>
                      <a:endParaRPr sz="1400" i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</a:rPr>
                        <a:t>D</a:t>
                      </a:r>
                      <a:endParaRPr sz="14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ω</a:t>
                      </a:r>
                      <a:r>
                        <a:rPr lang="en-US" sz="3000" i="1" u="none" strike="noStrike" cap="none" baseline="-250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sz="2100" i="1" u="none" strike="noStrike" cap="none" baseline="-25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ω</a:t>
                      </a:r>
                      <a:r>
                        <a:rPr lang="en-US" sz="3000" i="1" u="none" strike="noStrike" cap="none" baseline="-250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sz="1400" i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</a:rPr>
                        <a:t>C</a:t>
                      </a:r>
                      <a:endParaRPr sz="14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ω</a:t>
                      </a:r>
                      <a:r>
                        <a:rPr lang="en-US" sz="3000" i="1" baseline="-250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1</a:t>
                      </a:r>
                      <a:endParaRPr sz="1400" i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i="1" u="none" strike="noStrike" cap="none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ω</a:t>
                      </a:r>
                      <a:r>
                        <a:rPr lang="en-US" sz="3000" i="1" baseline="-25000">
                          <a:solidFill>
                            <a:schemeClr val="dk1"/>
                          </a:solidFill>
                          <a:latin typeface="Noto Sans Symbols"/>
                          <a:ea typeface="Noto Sans Symbols"/>
                          <a:cs typeface="Noto Sans Symbols"/>
                          <a:sym typeface="Noto Sans Symbols"/>
                        </a:rPr>
                        <a:t>2</a:t>
                      </a:r>
                      <a:endParaRPr sz="1400" i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212688469_0_301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83" name="Google Shape;183;g27212688469_0_301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Rational Action</a:t>
            </a:r>
            <a:endParaRPr/>
          </a:p>
        </p:txBody>
      </p:sp>
      <p:sp>
        <p:nvSpPr>
          <p:cNvPr id="184" name="Google Shape;184;g27212688469_0_301"/>
          <p:cNvSpPr txBox="1">
            <a:spLocks noGrp="1"/>
          </p:cNvSpPr>
          <p:nvPr>
            <p:ph type="body" idx="1"/>
          </p:nvPr>
        </p:nvSpPr>
        <p:spPr>
          <a:xfrm>
            <a:off x="381000" y="990600"/>
            <a:ext cx="85344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90"/>
              <a:buFont typeface="Noto Sans Symbols"/>
              <a:buChar char="■"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</a:t>
            </a:r>
            <a:r>
              <a:rPr lang="en-US" sz="23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both</a:t>
            </a:r>
            <a:r>
              <a:rPr lang="en-US" sz="23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agents can influence the outcome, and they have utility functions as follows:</a:t>
            </a:r>
            <a:endParaRPr sz="23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700"/>
          </a:p>
          <a:p>
            <a:pPr marL="342900" marR="0" lvl="0" indent="-3238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390"/>
              <a:buFont typeface="Noto Sans Symbols"/>
              <a:buChar char="■"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 bit of abuse of notation:</a:t>
            </a: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700"/>
          </a:p>
          <a:p>
            <a:pPr marL="342900" marR="0" lvl="0" indent="-3238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390"/>
              <a:buFont typeface="Noto Sans Symbols"/>
              <a:buChar char="■"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agent </a:t>
            </a:r>
            <a:r>
              <a:rPr lang="en-US" sz="23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’s preferences are:</a:t>
            </a: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700"/>
          </a:p>
          <a:p>
            <a:pPr marL="342900" marR="0" lvl="0" indent="-32385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390"/>
              <a:buFont typeface="Noto Sans Symbols"/>
              <a:buChar char="■"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3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is the </a:t>
            </a:r>
            <a:r>
              <a:rPr lang="en-US" sz="23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rational choice</a:t>
            </a:r>
            <a:r>
              <a:rPr lang="en-US" sz="23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23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(Because </a:t>
            </a:r>
            <a:r>
              <a:rPr lang="en-US" sz="23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3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prefers all outcomes that arise through </a:t>
            </a:r>
            <a:r>
              <a:rPr lang="en-US" sz="23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all outcomes that arise through </a:t>
            </a:r>
            <a:r>
              <a:rPr lang="en-US" sz="23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.)</a:t>
            </a:r>
            <a:endParaRPr sz="2700"/>
          </a:p>
        </p:txBody>
      </p:sp>
      <p:pic>
        <p:nvPicPr>
          <p:cNvPr id="185" name="Google Shape;185;g27212688469_0_3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1752600"/>
            <a:ext cx="5257800" cy="68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27212688469_0_3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8250" y="2908300"/>
            <a:ext cx="630555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27212688469_0_30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33600" y="4106862"/>
            <a:ext cx="4038600" cy="388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7212688469_0_33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93" name="Google Shape;193;g27212688469_0_332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Payoff Matrices</a:t>
            </a:r>
            <a:endParaRPr/>
          </a:p>
        </p:txBody>
      </p:sp>
      <p:sp>
        <p:nvSpPr>
          <p:cNvPr id="194" name="Google Shape;194;g27212688469_0_332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characterize the previous scenario in a </a:t>
            </a:r>
            <a:r>
              <a:rPr lang="en-US" sz="30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payoff matrix</a:t>
            </a: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3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 </a:t>
            </a:r>
            <a:r>
              <a:rPr lang="en-US" sz="3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lang="en-US" sz="30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column player</a:t>
            </a:r>
            <a:endParaRPr sz="3000" b="0" i="0" u="none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 </a:t>
            </a:r>
            <a:r>
              <a:rPr lang="en-US" sz="3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3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lang="en-US" sz="30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row player</a:t>
            </a:r>
            <a:endParaRPr/>
          </a:p>
        </p:txBody>
      </p:sp>
      <p:pic>
        <p:nvPicPr>
          <p:cNvPr id="195" name="Google Shape;195;g27212688469_0_3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0" y="2133600"/>
            <a:ext cx="358140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dff263e88c_0_0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01" name="Google Shape;201;g2dff263e88c_0_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Dominant Strategies</a:t>
            </a:r>
            <a:endParaRPr/>
          </a:p>
        </p:txBody>
      </p:sp>
      <p:sp>
        <p:nvSpPr>
          <p:cNvPr id="202" name="Google Shape;202;g2dff263e88c_0_0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382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any particular strategy (either </a:t>
            </a:r>
            <a:r>
              <a:rPr lang="en-US" sz="2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2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of agent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there will be a number of possible outcomes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say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dominates</a:t>
            </a:r>
            <a:r>
              <a:rPr lang="en-US" sz="2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every outcome possible by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playing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preferred over every outcome possible by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playing </a:t>
            </a:r>
            <a:r>
              <a:rPr lang="en-US" sz="26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6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26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rational agent will never play a dominated strategy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in deciding what to do, we can </a:t>
            </a:r>
            <a:r>
              <a:rPr lang="en-US" sz="26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delete dominated strategies</a:t>
            </a:r>
            <a:endParaRPr sz="2600" b="0" i="0" u="none">
              <a:solidFill>
                <a:srgbClr val="00339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Unfortunately, there isn’t always a unique undominated strategy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ff263e88c_0_401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10" name="Google Shape;210;g2dff263e88c_0_401"/>
          <p:cNvSpPr txBox="1">
            <a:spLocks noGrp="1"/>
          </p:cNvSpPr>
          <p:nvPr>
            <p:ph type="body" idx="1"/>
          </p:nvPr>
        </p:nvSpPr>
        <p:spPr>
          <a:xfrm>
            <a:off x="457200" y="1004400"/>
            <a:ext cx="8229600" cy="51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lang="en-US" sz="2100">
                <a:latin typeface="Noto Sans Symbols"/>
                <a:ea typeface="Noto Sans Symbols"/>
                <a:cs typeface="Noto Sans Symbols"/>
                <a:sym typeface="Noto Sans Symbols"/>
              </a:rPr>
              <a:t>We say that </a:t>
            </a:r>
            <a:r>
              <a:rPr lang="en-US" sz="2100" b="1" i="1">
                <a:solidFill>
                  <a:srgbClr val="00339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 strongly dominates Ω’</a:t>
            </a:r>
            <a:r>
              <a:rPr lang="en-US" sz="2100" b="1">
                <a:solidFill>
                  <a:srgbClr val="00339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</a:t>
            </a:r>
            <a:r>
              <a:rPr lang="en-US" sz="2100">
                <a:latin typeface="Noto Sans Symbols"/>
                <a:ea typeface="Noto Sans Symbols"/>
                <a:cs typeface="Noto Sans Symbols"/>
                <a:sym typeface="Noto Sans Symbols"/>
              </a:rPr>
              <a:t> (written </a:t>
            </a:r>
            <a:r>
              <a:rPr lang="en-US" sz="2100" i="1">
                <a:latin typeface="Noto Sans Symbols"/>
                <a:ea typeface="Noto Sans Symbols"/>
                <a:cs typeface="Noto Sans Symbols"/>
                <a:sym typeface="Noto Sans Symbols"/>
              </a:rPr>
              <a:t>Ω </a:t>
            </a:r>
            <a:r>
              <a:rPr lang="en-US" sz="2100">
                <a:latin typeface="Noto Sans Symbols"/>
                <a:ea typeface="Noto Sans Symbols"/>
                <a:cs typeface="Noto Sans Symbols"/>
                <a:sym typeface="Noto Sans Symbols"/>
              </a:rPr>
              <a:t> &gt;</a:t>
            </a:r>
            <a:r>
              <a:rPr lang="en-US" sz="2100" baseline="-25000">
                <a:latin typeface="Times New Roman"/>
                <a:ea typeface="Times New Roman"/>
                <a:cs typeface="Times New Roman"/>
                <a:sym typeface="Times New Roman"/>
              </a:rPr>
              <a:t>i  </a:t>
            </a:r>
            <a:r>
              <a:rPr lang="en-US" sz="2100" i="1">
                <a:latin typeface="Noto Sans Symbols"/>
                <a:ea typeface="Noto Sans Symbols"/>
                <a:cs typeface="Noto Sans Symbols"/>
                <a:sym typeface="Noto Sans Symbols"/>
              </a:rPr>
              <a:t>Ω’</a:t>
            </a:r>
            <a:r>
              <a:rPr lang="en-US" sz="2100">
                <a:latin typeface="Noto Sans Symbols"/>
                <a:ea typeface="Noto Sans Symbols"/>
                <a:cs typeface="Noto Sans Symbols"/>
                <a:sym typeface="Noto Sans Symbols"/>
              </a:rPr>
              <a:t> )  if every outcome of </a:t>
            </a:r>
            <a:r>
              <a:rPr lang="en-US" sz="2100" i="1">
                <a:latin typeface="Noto Sans Symbols"/>
                <a:ea typeface="Noto Sans Symbols"/>
                <a:cs typeface="Noto Sans Symbols"/>
                <a:sym typeface="Noto Sans Symbols"/>
              </a:rPr>
              <a:t>Ω </a:t>
            </a:r>
            <a:r>
              <a:rPr lang="en-US" sz="2100">
                <a:latin typeface="Noto Sans Symbols"/>
                <a:ea typeface="Noto Sans Symbols"/>
                <a:cs typeface="Noto Sans Symbols"/>
                <a:sym typeface="Noto Sans Symbols"/>
              </a:rPr>
              <a:t>is preferred over every outcome of </a:t>
            </a:r>
            <a:r>
              <a:rPr lang="en-US" sz="2100" i="1">
                <a:latin typeface="Noto Sans Symbols"/>
                <a:ea typeface="Noto Sans Symbols"/>
                <a:cs typeface="Noto Sans Symbols"/>
                <a:sym typeface="Noto Sans Symbols"/>
              </a:rPr>
              <a:t>Ω’</a:t>
            </a:r>
            <a:r>
              <a:rPr lang="en-US" sz="2100">
                <a:latin typeface="Noto Sans Symbols"/>
                <a:ea typeface="Noto Sans Symbols"/>
                <a:cs typeface="Noto Sans Symbols"/>
                <a:sym typeface="Noto Sans Symbols"/>
              </a:rPr>
              <a:t>. This is:</a:t>
            </a:r>
            <a:endParaRPr sz="21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13716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lang="en-US" sz="2000">
                <a:latin typeface="Noto Sans Symbols"/>
                <a:ea typeface="Noto Sans Symbols"/>
                <a:cs typeface="Noto Sans Symbols"/>
                <a:sym typeface="Noto Sans Symbols"/>
              </a:rPr>
              <a:t>  </a:t>
            </a:r>
            <a:r>
              <a:rPr lang="en-US" sz="2000" i="1">
                <a:latin typeface="Noto Sans Symbols"/>
                <a:ea typeface="Noto Sans Symbols"/>
                <a:cs typeface="Noto Sans Symbols"/>
                <a:sym typeface="Noto Sans Symbols"/>
              </a:rPr>
              <a:t>ω </a:t>
            </a:r>
            <a:r>
              <a:rPr lang="en-US" sz="2000">
                <a:latin typeface="Noto Sans Symbols"/>
                <a:ea typeface="Noto Sans Symbols"/>
                <a:cs typeface="Noto Sans Symbols"/>
                <a:sym typeface="Noto Sans Symbols"/>
              </a:rPr>
              <a:t> &gt;</a:t>
            </a:r>
            <a:r>
              <a:rPr lang="en-US" sz="2000" baseline="-25000">
                <a:latin typeface="Times New Roman"/>
                <a:ea typeface="Times New Roman"/>
                <a:cs typeface="Times New Roman"/>
                <a:sym typeface="Times New Roman"/>
              </a:rPr>
              <a:t>i  </a:t>
            </a:r>
            <a:r>
              <a:rPr lang="en-US" sz="2000" i="1">
                <a:latin typeface="Noto Sans Symbols"/>
                <a:ea typeface="Noto Sans Symbols"/>
                <a:cs typeface="Noto Sans Symbols"/>
                <a:sym typeface="Noto Sans Symbols"/>
              </a:rPr>
              <a:t>ω’</a:t>
            </a:r>
            <a:r>
              <a:rPr lang="en-US" sz="2000">
                <a:latin typeface="Noto Sans Symbols"/>
                <a:ea typeface="Noto Sans Symbols"/>
                <a:cs typeface="Noto Sans Symbols"/>
                <a:sym typeface="Noto Sans Symbols"/>
              </a:rPr>
              <a:t>  for any </a:t>
            </a:r>
            <a:r>
              <a:rPr lang="en-US" sz="2000" i="1">
                <a:latin typeface="Noto Sans Symbols"/>
                <a:ea typeface="Noto Sans Symbols"/>
                <a:cs typeface="Noto Sans Symbols"/>
                <a:sym typeface="Noto Sans Symbols"/>
              </a:rPr>
              <a:t>ω ∈ </a:t>
            </a:r>
            <a:r>
              <a:rPr lang="en-US" sz="2000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000" i="1">
                <a:latin typeface="Noto Sans Symbols"/>
                <a:ea typeface="Noto Sans Symbols"/>
                <a:cs typeface="Noto Sans Symbols"/>
                <a:sym typeface="Noto Sans Symbols"/>
              </a:rPr>
              <a:t>, ω’ ∈ </a:t>
            </a:r>
            <a:r>
              <a:rPr lang="en-US" sz="2000">
                <a:latin typeface="Noto Sans Symbols"/>
                <a:ea typeface="Noto Sans Symbols"/>
                <a:cs typeface="Noto Sans Symbols"/>
                <a:sym typeface="Noto Sans Symbols"/>
              </a:rPr>
              <a:t>Ω’</a:t>
            </a:r>
            <a:endParaRPr sz="24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i="1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lang="en-US" sz="1900">
                <a:solidFill>
                  <a:srgbClr val="000000"/>
                </a:solidFill>
              </a:rPr>
              <a:t>1. Consider the following set of outcomes and preferences</a:t>
            </a: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endParaRPr sz="2200">
              <a:solidFill>
                <a:srgbClr val="000000"/>
              </a:solidFill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 = </a:t>
            </a:r>
            <a:r>
              <a:rPr lang="en-US" sz="17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 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 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 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7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 i="1">
              <a:solidFill>
                <a:srgbClr val="000000"/>
              </a:solidFill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&gt;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&gt;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&gt;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700" i="1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= </a:t>
            </a:r>
            <a:r>
              <a:rPr lang="en-US" sz="17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 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7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7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= </a:t>
            </a:r>
            <a:r>
              <a:rPr lang="en-US" sz="17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700" i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 ω</a:t>
            </a:r>
            <a:r>
              <a:rPr lang="en-US" sz="1700" i="1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7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7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endParaRPr sz="17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lang="en-US" sz="170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Then 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 &gt;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ff263e88c_0_69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16" name="Google Shape;216;g2dff263e88c_0_69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Prisoner’s Dilemma</a:t>
            </a:r>
            <a:endParaRPr/>
          </a:p>
        </p:txBody>
      </p:sp>
      <p:sp>
        <p:nvSpPr>
          <p:cNvPr id="217" name="Google Shape;217;g2dff263e88c_0_69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Noto Sans Symbols"/>
              <a:buChar char="■"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Payoff matrix for</a:t>
            </a:r>
            <a:b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prisoner’s dilemma:</a:t>
            </a:r>
            <a:b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500"/>
          </a:p>
          <a:p>
            <a:pPr marL="342900" marR="0" lvl="0" indent="-311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Noto Sans Symbols"/>
              <a:buChar char="■"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 left: If both defect, then both get punishment for mutual defection</a:t>
            </a:r>
            <a:endParaRPr sz="2500"/>
          </a:p>
          <a:p>
            <a:pPr marL="342900" marR="0" lvl="0" indent="-311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Noto Sans Symbols"/>
              <a:buChar char="■"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 right: If </a:t>
            </a:r>
            <a:r>
              <a:rPr lang="en-US" sz="25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5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cooperates and </a:t>
            </a:r>
            <a:r>
              <a:rPr lang="en-US" sz="25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5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defects, </a:t>
            </a:r>
            <a:r>
              <a:rPr lang="en-US" sz="25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5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gets sucker’s payoff of 1, while </a:t>
            </a:r>
            <a:r>
              <a:rPr lang="en-US" sz="25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5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gets 4</a:t>
            </a:r>
            <a:endParaRPr sz="2500"/>
          </a:p>
          <a:p>
            <a:pPr marL="342900" marR="0" lvl="0" indent="-311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Noto Sans Symbols"/>
              <a:buChar char="■"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Bottom left: If </a:t>
            </a:r>
            <a:r>
              <a:rPr lang="en-US" sz="25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5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cooperates and </a:t>
            </a:r>
            <a:r>
              <a:rPr lang="en-US" sz="25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5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defects, </a:t>
            </a:r>
            <a:r>
              <a:rPr lang="en-US" sz="25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5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gets sucker’s payoff of 1, while </a:t>
            </a:r>
            <a:r>
              <a:rPr lang="en-US" sz="25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5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gets 4</a:t>
            </a:r>
            <a:endParaRPr sz="2500"/>
          </a:p>
          <a:p>
            <a:pPr marL="342900" marR="0" lvl="0" indent="-311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Noto Sans Symbols"/>
              <a:buChar char="■"/>
            </a:pPr>
            <a:r>
              <a:rPr lang="en-US" sz="25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Bottom right: Reward for mutual cooperation</a:t>
            </a:r>
            <a:endParaRPr sz="2500"/>
          </a:p>
        </p:txBody>
      </p:sp>
      <p:pic>
        <p:nvPicPr>
          <p:cNvPr id="218" name="Google Shape;218;g2dff263e88c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4100" y="1143000"/>
            <a:ext cx="2552700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dff263e88c_0_110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24" name="Google Shape;224;g2dff263e88c_0_11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Nash Equilibrium</a:t>
            </a:r>
            <a:endParaRPr/>
          </a:p>
        </p:txBody>
      </p:sp>
      <p:sp>
        <p:nvSpPr>
          <p:cNvPr id="225" name="Google Shape;225;g2dff263e88c_0_110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0"/>
              <a:buFont typeface="Noto Sans Symbols"/>
              <a:buChar char="■"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</a:t>
            </a:r>
            <a:r>
              <a:rPr lang="en-US" sz="2200"/>
              <a:t>t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 strategies </a:t>
            </a:r>
            <a:r>
              <a:rPr lang="en-US" sz="2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in </a:t>
            </a:r>
            <a:r>
              <a:rPr lang="en-US" sz="2200" b="1" i="1" u="none">
                <a:solidFill>
                  <a:srgbClr val="003399"/>
                </a:solidFill>
              </a:rPr>
              <a:t>Nash equilibrium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if:</a:t>
            </a:r>
            <a:b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AutoNum type="arabicPeriod"/>
            </a:pPr>
            <a:r>
              <a:rPr lang="en-US" sz="2200"/>
              <a:t>if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plays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agent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do no better than play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and</a:t>
            </a:r>
            <a:endParaRPr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AutoNum type="arabicPeriod"/>
            </a:pPr>
            <a:r>
              <a:rPr lang="en-US" sz="2200"/>
              <a:t>if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agent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plays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agent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do no better than play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/>
          </a:p>
        </p:txBody>
      </p:sp>
      <p:pic>
        <p:nvPicPr>
          <p:cNvPr id="226" name="Google Shape;226;g2dff263e88c_0_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8700" y="3022675"/>
            <a:ext cx="3098875" cy="210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dff263e88c_0_231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32" name="Google Shape;232;g2dff263e88c_0_231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Nash Equilibrium</a:t>
            </a:r>
            <a:endParaRPr/>
          </a:p>
        </p:txBody>
      </p:sp>
      <p:sp>
        <p:nvSpPr>
          <p:cNvPr id="233" name="Google Shape;233;g2dff263e88c_0_231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0"/>
              <a:buFont typeface="Noto Sans Symbols"/>
              <a:buChar char="■"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</a:t>
            </a:r>
            <a:r>
              <a:rPr lang="en-US" sz="2200"/>
              <a:t>t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 strategies </a:t>
            </a:r>
            <a:r>
              <a:rPr lang="en-US" sz="2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in </a:t>
            </a:r>
            <a:r>
              <a:rPr lang="en-US" sz="2200" b="1" i="1" u="none">
                <a:solidFill>
                  <a:srgbClr val="003399"/>
                </a:solidFill>
              </a:rPr>
              <a:t>Nash equilibrium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if:</a:t>
            </a:r>
            <a:b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AutoNum type="arabicPeriod"/>
            </a:pPr>
            <a:r>
              <a:rPr lang="en-US" sz="2200"/>
              <a:t>if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plays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agent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do no better than play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and</a:t>
            </a:r>
            <a:endParaRPr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AutoNum type="arabicPeriod"/>
            </a:pPr>
            <a:r>
              <a:rPr lang="en-US" sz="2200"/>
              <a:t>if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agent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plays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agent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do no better than play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170"/>
              <a:buNone/>
            </a:pPr>
            <a:endParaRPr sz="2200"/>
          </a:p>
          <a:p>
            <a:pPr marL="0" marR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170"/>
              <a:buNone/>
            </a:pPr>
            <a:endParaRPr sz="2200"/>
          </a:p>
          <a:p>
            <a:pPr marL="0" marR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170"/>
              <a:buNone/>
            </a:pPr>
            <a:endParaRPr sz="2200"/>
          </a:p>
          <a:p>
            <a:pPr marL="0" marR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170"/>
              <a:buNone/>
            </a:pPr>
            <a:endParaRPr sz="2200"/>
          </a:p>
          <a:p>
            <a:pPr marL="0" marR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170"/>
              <a:buNone/>
            </a:pPr>
            <a:endParaRPr sz="2200"/>
          </a:p>
          <a:p>
            <a:pPr marL="0" marR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170"/>
              <a:buNone/>
            </a:pPr>
            <a:endParaRPr sz="2200"/>
          </a:p>
          <a:p>
            <a:pPr marL="0" marR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170"/>
              <a:buNone/>
            </a:pPr>
            <a:endParaRPr sz="2200"/>
          </a:p>
          <a:p>
            <a:pPr marL="0" marR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170"/>
              <a:buNone/>
            </a:pPr>
            <a:r>
              <a:rPr lang="en-US" sz="2200"/>
              <a:t>Considering the aforementioned probabilities, is there a dominant strategy? a Nash equilibrium?</a:t>
            </a:r>
            <a:endParaRPr sz="2200"/>
          </a:p>
          <a:p>
            <a:pPr marL="0" marR="0" lvl="0" indent="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170"/>
              <a:buNone/>
            </a:pPr>
            <a:b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/>
          </a:p>
        </p:txBody>
      </p:sp>
      <p:pic>
        <p:nvPicPr>
          <p:cNvPr id="234" name="Google Shape;234;g2dff263e88c_0_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8700" y="3022675"/>
            <a:ext cx="3098875" cy="210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dff263e88c_0_76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40" name="Google Shape;240;g2dff263e88c_0_76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Prisoner’s Dilemma</a:t>
            </a:r>
            <a:endParaRPr/>
          </a:p>
        </p:txBody>
      </p:sp>
      <p:sp>
        <p:nvSpPr>
          <p:cNvPr id="241" name="Google Shape;241;g2dff263e88c_0_76"/>
          <p:cNvSpPr txBox="1">
            <a:spLocks noGrp="1"/>
          </p:cNvSpPr>
          <p:nvPr>
            <p:ph type="body" idx="1"/>
          </p:nvPr>
        </p:nvSpPr>
        <p:spPr>
          <a:xfrm>
            <a:off x="381000" y="1219200"/>
            <a:ext cx="8458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50"/>
              <a:buFont typeface="Noto Sans Symbols"/>
              <a:buChar char="■"/>
            </a:pP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6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individual rational</a:t>
            </a:r>
            <a:r>
              <a:rPr lang="en-US" sz="2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 is </a:t>
            </a:r>
            <a:r>
              <a:rPr lang="en-US" sz="26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defect</a:t>
            </a:r>
            <a:b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guarantees a payoff of no worse than 2, whereas cooperating guarantees a payoff of at most 1</a:t>
            </a:r>
            <a:endParaRPr sz="2600"/>
          </a:p>
          <a:p>
            <a:pPr marL="3429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50"/>
              <a:buFont typeface="Noto Sans Symbols"/>
              <a:buChar char="■"/>
            </a:pP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defection is the best response to all possible strategies: both agents defect, and get payoff = 2</a:t>
            </a:r>
            <a:endParaRPr sz="2600"/>
          </a:p>
          <a:p>
            <a:pPr marL="342900" marR="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50"/>
              <a:buFont typeface="Noto Sans Symbols"/>
              <a:buChar char="■"/>
            </a:pP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</a:t>
            </a:r>
            <a:r>
              <a:rPr lang="en-US" sz="26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intuition</a:t>
            </a:r>
            <a:r>
              <a:rPr lang="en-US" sz="2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says this is </a:t>
            </a:r>
            <a:r>
              <a:rPr lang="en-US" sz="26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2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best outcome:</a:t>
            </a:r>
            <a:b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Surely they should both cooperate and each get payoff of 3!</a:t>
            </a:r>
            <a:endParaRPr sz="2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dff263e88c_0_118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47" name="Google Shape;247;g2dff263e88c_0_118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Nash Equilibrium</a:t>
            </a:r>
            <a:endParaRPr/>
          </a:p>
        </p:txBody>
      </p:sp>
      <p:sp>
        <p:nvSpPr>
          <p:cNvPr id="248" name="Google Shape;248;g2dff263e88c_0_118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0"/>
              <a:buFont typeface="Noto Sans Symbols"/>
              <a:buChar char="■"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</a:t>
            </a:r>
            <a:r>
              <a:rPr lang="en-US" sz="2200"/>
              <a:t>t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 strategies </a:t>
            </a:r>
            <a:r>
              <a:rPr lang="en-US" sz="2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2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in </a:t>
            </a:r>
            <a:r>
              <a:rPr lang="en-US" sz="2200" b="1" i="1" u="none">
                <a:solidFill>
                  <a:srgbClr val="003399"/>
                </a:solidFill>
              </a:rPr>
              <a:t>Nash equilibrium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if:</a:t>
            </a:r>
            <a:b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AutoNum type="arabicPeriod"/>
            </a:pPr>
            <a:r>
              <a:rPr lang="en-US" sz="2200"/>
              <a:t>if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plays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agent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do no better than play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and</a:t>
            </a:r>
            <a:endParaRPr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AutoNum type="arabicPeriod"/>
            </a:pPr>
            <a:r>
              <a:rPr lang="en-US" sz="2200"/>
              <a:t>if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agent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plays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agent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do no better than play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200" b="0" i="0" u="none" strike="noStrike" cap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marR="0" lvl="0" indent="-330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490"/>
              <a:buFont typeface="Noto Sans Symbols"/>
              <a:buAutoNum type="arabicPeriod"/>
            </a:pPr>
            <a:r>
              <a:rPr lang="en-US" sz="24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Neither agent has any incentive to deviate from a Nash equilibrium</a:t>
            </a:r>
            <a:endParaRPr sz="2800"/>
          </a:p>
          <a:p>
            <a:pPr marL="342900" marR="0" lvl="0" indent="-330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490"/>
              <a:buFont typeface="Noto Sans Symbols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Unfortunately:</a:t>
            </a:r>
            <a:endParaRPr sz="2800"/>
          </a:p>
          <a:p>
            <a:pPr marL="669925" marR="0" lvl="1" indent="-3127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AutoNum type="arabicPeriod" startAt="2"/>
            </a:pPr>
            <a:r>
              <a:rPr lang="en-US" sz="2000" b="0" i="1" u="none" strike="noStrike" cap="none">
                <a:latin typeface="Arial"/>
                <a:ea typeface="Arial"/>
                <a:cs typeface="Arial"/>
                <a:sym typeface="Arial"/>
              </a:rPr>
              <a:t>Not every interaction scenario has a Nash equilibrium</a:t>
            </a:r>
            <a:endParaRPr sz="2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669925" marR="0" lvl="1" indent="-3127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AutoNum type="arabicPeriod" startAt="2"/>
            </a:pPr>
            <a:r>
              <a:rPr lang="en-US" sz="2000" b="0" i="1" u="none" strike="noStrike" cap="none">
                <a:latin typeface="Arial"/>
                <a:ea typeface="Arial"/>
                <a:cs typeface="Arial"/>
                <a:sym typeface="Arial"/>
              </a:rPr>
              <a:t>Some interaction scenarios have more than one Nash equilibrium</a:t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47bf366a8_0_0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54" name="Google Shape;254;g3147bf366a8_0_0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Prisoner’s Dilemma</a:t>
            </a:r>
            <a:endParaRPr/>
          </a:p>
        </p:txBody>
      </p:sp>
      <p:pic>
        <p:nvPicPr>
          <p:cNvPr id="255" name="Google Shape;255;g3147bf366a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6600" y="1167604"/>
            <a:ext cx="2686050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147bf366a8_0_8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61" name="Google Shape;261;g3147bf366a8_0_8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Prisoner’s Dilemma</a:t>
            </a:r>
            <a:endParaRPr/>
          </a:p>
        </p:txBody>
      </p:sp>
      <p:sp>
        <p:nvSpPr>
          <p:cNvPr id="262" name="Google Shape;262;g3147bf366a8_0_8"/>
          <p:cNvSpPr txBox="1">
            <a:spLocks noGrp="1"/>
          </p:cNvSpPr>
          <p:nvPr>
            <p:ph type="body" idx="1"/>
          </p:nvPr>
        </p:nvSpPr>
        <p:spPr>
          <a:xfrm>
            <a:off x="457200" y="2900425"/>
            <a:ext cx="8229600" cy="3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111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Noto Sans Symbols"/>
              <a:buChar char="■"/>
            </a:pPr>
            <a:r>
              <a:rPr lang="en-US" sz="2500"/>
              <a:t>If </a:t>
            </a:r>
            <a:r>
              <a:rPr lang="en-US" sz="2500" i="1"/>
              <a:t>agent i</a:t>
            </a:r>
            <a:r>
              <a:rPr lang="en-US" sz="2500"/>
              <a:t> decides </a:t>
            </a:r>
            <a:r>
              <a:rPr lang="en-US" sz="2500" b="1"/>
              <a:t>D, </a:t>
            </a:r>
            <a:r>
              <a:rPr lang="en-US" sz="2500"/>
              <a:t>the best option for </a:t>
            </a:r>
            <a:r>
              <a:rPr lang="en-US" sz="2500" i="1"/>
              <a:t>agent j</a:t>
            </a:r>
            <a:r>
              <a:rPr lang="en-US" sz="2500"/>
              <a:t> is </a:t>
            </a:r>
            <a:r>
              <a:rPr lang="en-US" sz="2500" b="1"/>
              <a:t>C</a:t>
            </a:r>
            <a:r>
              <a:rPr lang="en-US" sz="2500"/>
              <a:t>.</a:t>
            </a:r>
            <a:endParaRPr sz="2500"/>
          </a:p>
          <a:p>
            <a:pPr marL="9144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</p:txBody>
      </p:sp>
      <p:pic>
        <p:nvPicPr>
          <p:cNvPr id="263" name="Google Shape;263;g3147bf366a8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6600" y="1167604"/>
            <a:ext cx="2640233" cy="1580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147bf366a8_0_23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69" name="Google Shape;269;g3147bf366a8_0_23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Prisoner’s Dilemma</a:t>
            </a:r>
            <a:endParaRPr/>
          </a:p>
        </p:txBody>
      </p:sp>
      <p:sp>
        <p:nvSpPr>
          <p:cNvPr id="270" name="Google Shape;270;g3147bf366a8_0_23"/>
          <p:cNvSpPr txBox="1">
            <a:spLocks noGrp="1"/>
          </p:cNvSpPr>
          <p:nvPr>
            <p:ph type="body" idx="1"/>
          </p:nvPr>
        </p:nvSpPr>
        <p:spPr>
          <a:xfrm>
            <a:off x="457200" y="2900425"/>
            <a:ext cx="8229600" cy="3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SzPts val="1450"/>
              <a:buChar char="■"/>
            </a:pPr>
            <a:r>
              <a:rPr lang="en-US" sz="2500"/>
              <a:t>If </a:t>
            </a:r>
            <a:r>
              <a:rPr lang="en-US" sz="2500" i="1"/>
              <a:t>agent i</a:t>
            </a:r>
            <a:r>
              <a:rPr lang="en-US" sz="2500"/>
              <a:t> decides </a:t>
            </a:r>
            <a:r>
              <a:rPr lang="en-US" sz="2500" b="1"/>
              <a:t>D, </a:t>
            </a:r>
            <a:r>
              <a:rPr lang="en-US" sz="2500"/>
              <a:t>the best option for </a:t>
            </a:r>
            <a:r>
              <a:rPr lang="en-US" sz="2500" i="1"/>
              <a:t>agent j</a:t>
            </a:r>
            <a:r>
              <a:rPr lang="en-US" sz="2500"/>
              <a:t> is </a:t>
            </a:r>
            <a:r>
              <a:rPr lang="en-US" sz="2500" b="1"/>
              <a:t>C</a:t>
            </a:r>
            <a:r>
              <a:rPr lang="en-US" sz="2500"/>
              <a:t>.</a:t>
            </a:r>
            <a:endParaRPr sz="2500"/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SzPts val="1450"/>
              <a:buChar char="■"/>
            </a:pPr>
            <a:r>
              <a:rPr lang="en-US" sz="2500"/>
              <a:t>If </a:t>
            </a:r>
            <a:r>
              <a:rPr lang="en-US" sz="2500" i="1"/>
              <a:t>agent j</a:t>
            </a:r>
            <a:r>
              <a:rPr lang="en-US" sz="2500"/>
              <a:t> decides </a:t>
            </a:r>
            <a:r>
              <a:rPr lang="en-US" sz="2500" b="1"/>
              <a:t>C, </a:t>
            </a:r>
            <a:r>
              <a:rPr lang="en-US" sz="2500"/>
              <a:t>the best option for </a:t>
            </a:r>
            <a:r>
              <a:rPr lang="en-US" sz="2500" i="1"/>
              <a:t>agent i</a:t>
            </a:r>
            <a:r>
              <a:rPr lang="en-US" sz="2500"/>
              <a:t> is </a:t>
            </a:r>
            <a:r>
              <a:rPr lang="en-US" sz="2500" b="1"/>
              <a:t>C</a:t>
            </a:r>
            <a:r>
              <a:rPr lang="en-US" sz="2500"/>
              <a:t>.</a:t>
            </a:r>
            <a:endParaRPr sz="25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  <a:p>
            <a:pPr marL="457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  <a:p>
            <a:pPr marL="9144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</p:txBody>
      </p:sp>
      <p:pic>
        <p:nvPicPr>
          <p:cNvPr id="271" name="Google Shape;271;g3147bf366a8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6600" y="1167604"/>
            <a:ext cx="2640233" cy="1580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147bf366a8_0_30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77" name="Google Shape;277;g3147bf366a8_0_30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Prisoner’s Dilemma</a:t>
            </a:r>
            <a:endParaRPr/>
          </a:p>
        </p:txBody>
      </p:sp>
      <p:sp>
        <p:nvSpPr>
          <p:cNvPr id="278" name="Google Shape;278;g3147bf366a8_0_30"/>
          <p:cNvSpPr txBox="1">
            <a:spLocks noGrp="1"/>
          </p:cNvSpPr>
          <p:nvPr>
            <p:ph type="body" idx="1"/>
          </p:nvPr>
        </p:nvSpPr>
        <p:spPr>
          <a:xfrm>
            <a:off x="457200" y="2900425"/>
            <a:ext cx="8229600" cy="3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SzPts val="1450"/>
              <a:buChar char="■"/>
            </a:pPr>
            <a:r>
              <a:rPr lang="en-US" sz="2500"/>
              <a:t>If </a:t>
            </a:r>
            <a:r>
              <a:rPr lang="en-US" sz="2500" i="1"/>
              <a:t>agent i</a:t>
            </a:r>
            <a:r>
              <a:rPr lang="en-US" sz="2500"/>
              <a:t> decides </a:t>
            </a:r>
            <a:r>
              <a:rPr lang="en-US" sz="2500" b="1"/>
              <a:t>D, </a:t>
            </a:r>
            <a:r>
              <a:rPr lang="en-US" sz="2500"/>
              <a:t>the best option for </a:t>
            </a:r>
            <a:r>
              <a:rPr lang="en-US" sz="2500" i="1"/>
              <a:t>agent j</a:t>
            </a:r>
            <a:r>
              <a:rPr lang="en-US" sz="2500"/>
              <a:t> is </a:t>
            </a:r>
            <a:r>
              <a:rPr lang="en-US" sz="2500" b="1"/>
              <a:t>C</a:t>
            </a:r>
            <a:r>
              <a:rPr lang="en-US" sz="2500"/>
              <a:t>.</a:t>
            </a:r>
            <a:endParaRPr sz="2500"/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SzPts val="1450"/>
              <a:buChar char="■"/>
            </a:pPr>
            <a:r>
              <a:rPr lang="en-US" sz="2500"/>
              <a:t>If </a:t>
            </a:r>
            <a:r>
              <a:rPr lang="en-US" sz="2500" i="1"/>
              <a:t>agent j</a:t>
            </a:r>
            <a:r>
              <a:rPr lang="en-US" sz="2500"/>
              <a:t> decides </a:t>
            </a:r>
            <a:r>
              <a:rPr lang="en-US" sz="2500" b="1"/>
              <a:t>C, </a:t>
            </a:r>
            <a:r>
              <a:rPr lang="en-US" sz="2500"/>
              <a:t>the best option for </a:t>
            </a:r>
            <a:r>
              <a:rPr lang="en-US" sz="2500" i="1"/>
              <a:t>agent i</a:t>
            </a:r>
            <a:r>
              <a:rPr lang="en-US" sz="2500"/>
              <a:t> is </a:t>
            </a:r>
            <a:r>
              <a:rPr lang="en-US" sz="2500" b="1"/>
              <a:t>C</a:t>
            </a:r>
            <a:r>
              <a:rPr lang="en-US" sz="2500"/>
              <a:t>.</a:t>
            </a:r>
            <a:endParaRPr sz="2500"/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SzPts val="1450"/>
              <a:buChar char="■"/>
            </a:pPr>
            <a:r>
              <a:rPr lang="en-US" sz="2500"/>
              <a:t>In this point none of them have an incentive to change its strategy.</a:t>
            </a:r>
            <a:endParaRPr sz="25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  <a:p>
            <a:pPr marL="457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  <a:p>
            <a:pPr marL="9144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</p:txBody>
      </p:sp>
      <p:pic>
        <p:nvPicPr>
          <p:cNvPr id="279" name="Google Shape;279;g3147bf366a8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7450" y="1129037"/>
            <a:ext cx="2781625" cy="16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147bf366a8_0_39"/>
          <p:cNvSpPr txBox="1">
            <a:spLocks noGrp="1"/>
          </p:cNvSpPr>
          <p:nvPr>
            <p:ph type="body" idx="1"/>
          </p:nvPr>
        </p:nvSpPr>
        <p:spPr>
          <a:xfrm>
            <a:off x="457200" y="2900425"/>
            <a:ext cx="8229600" cy="3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SzPts val="1450"/>
              <a:buChar char="■"/>
            </a:pPr>
            <a:r>
              <a:rPr lang="en-US" sz="2500"/>
              <a:t>If </a:t>
            </a:r>
            <a:r>
              <a:rPr lang="en-US" sz="2500" i="1"/>
              <a:t>agent i</a:t>
            </a:r>
            <a:r>
              <a:rPr lang="en-US" sz="2500"/>
              <a:t> decides </a:t>
            </a:r>
            <a:r>
              <a:rPr lang="en-US" sz="2500" b="1"/>
              <a:t>D, </a:t>
            </a:r>
            <a:r>
              <a:rPr lang="en-US" sz="2500"/>
              <a:t>the best option for </a:t>
            </a:r>
            <a:r>
              <a:rPr lang="en-US" sz="2500" i="1"/>
              <a:t>agent j</a:t>
            </a:r>
            <a:r>
              <a:rPr lang="en-US" sz="2500"/>
              <a:t> is </a:t>
            </a:r>
            <a:r>
              <a:rPr lang="en-US" sz="2500" b="1"/>
              <a:t>C</a:t>
            </a:r>
            <a:r>
              <a:rPr lang="en-US" sz="2500"/>
              <a:t>.</a:t>
            </a:r>
            <a:endParaRPr sz="2500"/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SzPts val="1450"/>
              <a:buChar char="■"/>
            </a:pPr>
            <a:r>
              <a:rPr lang="en-US" sz="2500"/>
              <a:t>If </a:t>
            </a:r>
            <a:r>
              <a:rPr lang="en-US" sz="2500" i="1"/>
              <a:t>agent j</a:t>
            </a:r>
            <a:r>
              <a:rPr lang="en-US" sz="2500"/>
              <a:t> decides </a:t>
            </a:r>
            <a:r>
              <a:rPr lang="en-US" sz="2500" b="1"/>
              <a:t>C, </a:t>
            </a:r>
            <a:r>
              <a:rPr lang="en-US" sz="2500"/>
              <a:t>the best option for </a:t>
            </a:r>
            <a:r>
              <a:rPr lang="en-US" sz="2500" i="1"/>
              <a:t>agent i</a:t>
            </a:r>
            <a:r>
              <a:rPr lang="en-US" sz="2500"/>
              <a:t> is </a:t>
            </a:r>
            <a:r>
              <a:rPr lang="en-US" sz="2500" b="1"/>
              <a:t>C</a:t>
            </a:r>
            <a:r>
              <a:rPr lang="en-US" sz="2500"/>
              <a:t>.</a:t>
            </a:r>
            <a:endParaRPr sz="2500"/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SzPts val="1450"/>
              <a:buChar char="■"/>
            </a:pPr>
            <a:r>
              <a:rPr lang="en-US" sz="2500"/>
              <a:t>In this point none of them have an incentive to change its strategy.</a:t>
            </a:r>
            <a:endParaRPr sz="2500"/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SzPts val="1450"/>
              <a:buChar char="■"/>
            </a:pPr>
            <a:r>
              <a:rPr lang="en-US" sz="2500"/>
              <a:t>Then, strategy </a:t>
            </a:r>
            <a:r>
              <a:rPr lang="en-US" sz="2500" i="1"/>
              <a:t>(C, C)</a:t>
            </a:r>
            <a:r>
              <a:rPr lang="en-US" sz="2500"/>
              <a:t> reaches a Nash equilibrium.</a:t>
            </a:r>
            <a:endParaRPr sz="25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  <a:p>
            <a:pPr marL="457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  <a:p>
            <a:pPr marL="9144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285" name="Google Shape;285;g3147bf366a8_0_39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86" name="Google Shape;286;g3147bf366a8_0_39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Prisoner’s Dilemma</a:t>
            </a:r>
            <a:endParaRPr/>
          </a:p>
        </p:txBody>
      </p:sp>
      <p:pic>
        <p:nvPicPr>
          <p:cNvPr id="287" name="Google Shape;287;g3147bf366a8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6600" y="1167604"/>
            <a:ext cx="2684811" cy="1580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1495bbbab6_17_9"/>
          <p:cNvSpPr txBox="1">
            <a:spLocks noGrp="1"/>
          </p:cNvSpPr>
          <p:nvPr>
            <p:ph type="body" idx="1"/>
          </p:nvPr>
        </p:nvSpPr>
        <p:spPr>
          <a:xfrm>
            <a:off x="457200" y="2900425"/>
            <a:ext cx="8229600" cy="3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SzPts val="1450"/>
              <a:buChar char="■"/>
            </a:pPr>
            <a:r>
              <a:rPr lang="en-US" sz="2500"/>
              <a:t>If </a:t>
            </a:r>
            <a:r>
              <a:rPr lang="en-US" sz="2500" i="1"/>
              <a:t>agent i</a:t>
            </a:r>
            <a:r>
              <a:rPr lang="en-US" sz="2500"/>
              <a:t> decides </a:t>
            </a:r>
            <a:r>
              <a:rPr lang="en-US" sz="2500" b="1"/>
              <a:t>D, </a:t>
            </a:r>
            <a:r>
              <a:rPr lang="en-US" sz="2500"/>
              <a:t>the best option for </a:t>
            </a:r>
            <a:r>
              <a:rPr lang="en-US" sz="2500" i="1"/>
              <a:t>agent j</a:t>
            </a:r>
            <a:r>
              <a:rPr lang="en-US" sz="2500"/>
              <a:t> is </a:t>
            </a:r>
            <a:r>
              <a:rPr lang="en-US" sz="2500" b="1"/>
              <a:t>C</a:t>
            </a:r>
            <a:r>
              <a:rPr lang="en-US" sz="2500"/>
              <a:t>.</a:t>
            </a:r>
            <a:endParaRPr sz="2500"/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SzPts val="1450"/>
              <a:buChar char="■"/>
            </a:pPr>
            <a:r>
              <a:rPr lang="en-US" sz="2500"/>
              <a:t>If </a:t>
            </a:r>
            <a:r>
              <a:rPr lang="en-US" sz="2500" i="1"/>
              <a:t>agent j</a:t>
            </a:r>
            <a:r>
              <a:rPr lang="en-US" sz="2500"/>
              <a:t> decides </a:t>
            </a:r>
            <a:r>
              <a:rPr lang="en-US" sz="2500" b="1"/>
              <a:t>C, </a:t>
            </a:r>
            <a:r>
              <a:rPr lang="en-US" sz="2500"/>
              <a:t>the best option for </a:t>
            </a:r>
            <a:r>
              <a:rPr lang="en-US" sz="2500" i="1"/>
              <a:t>agent i</a:t>
            </a:r>
            <a:r>
              <a:rPr lang="en-US" sz="2500"/>
              <a:t> is </a:t>
            </a:r>
            <a:r>
              <a:rPr lang="en-US" sz="2500" b="1"/>
              <a:t>C</a:t>
            </a:r>
            <a:r>
              <a:rPr lang="en-US" sz="2500"/>
              <a:t>.</a:t>
            </a:r>
            <a:endParaRPr sz="2500"/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SzPts val="1450"/>
              <a:buChar char="■"/>
            </a:pPr>
            <a:r>
              <a:rPr lang="en-US" sz="2500"/>
              <a:t>In this point none of them have an incentive to change its strategy.</a:t>
            </a:r>
            <a:endParaRPr sz="2500"/>
          </a:p>
          <a:p>
            <a:pPr marL="457200" lvl="0" indent="-320675" algn="l" rtl="0">
              <a:spcBef>
                <a:spcPts val="600"/>
              </a:spcBef>
              <a:spcAft>
                <a:spcPts val="0"/>
              </a:spcAft>
              <a:buSzPts val="1450"/>
              <a:buChar char="■"/>
            </a:pPr>
            <a:r>
              <a:rPr lang="en-US" sz="2500"/>
              <a:t>Then, strategy </a:t>
            </a:r>
            <a:r>
              <a:rPr lang="en-US" sz="2500" i="1"/>
              <a:t>(C, C)</a:t>
            </a:r>
            <a:r>
              <a:rPr lang="en-US" sz="2500"/>
              <a:t> reaches a Nash equilibrium.</a:t>
            </a:r>
            <a:endParaRPr sz="25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  <a:p>
            <a:pPr marL="457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  <a:p>
            <a:pPr marL="9144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293" name="Google Shape;293;g31495bbbab6_17_9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294" name="Google Shape;294;g31495bbbab6_17_9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Prisoner’s Dilemma</a:t>
            </a:r>
            <a:endParaRPr/>
          </a:p>
        </p:txBody>
      </p:sp>
      <p:pic>
        <p:nvPicPr>
          <p:cNvPr id="295" name="Google Shape;295;g31495bbbab6_17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6600" y="1167604"/>
            <a:ext cx="2684811" cy="1580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495bbbab6_17_23"/>
          <p:cNvSpPr txBox="1">
            <a:spLocks noGrp="1"/>
          </p:cNvSpPr>
          <p:nvPr>
            <p:ph type="body" idx="1"/>
          </p:nvPr>
        </p:nvSpPr>
        <p:spPr>
          <a:xfrm>
            <a:off x="457200" y="2900425"/>
            <a:ext cx="8229600" cy="3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  <a:p>
            <a:pPr marL="4572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  <a:p>
            <a:pPr marL="9144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301" name="Google Shape;301;g31495bbbab6_17_23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02" name="Google Shape;302;g31495bbbab6_17_23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Prisoner’s Dilemma</a:t>
            </a:r>
            <a:endParaRPr/>
          </a:p>
        </p:txBody>
      </p:sp>
      <p:pic>
        <p:nvPicPr>
          <p:cNvPr id="303" name="Google Shape;303;g31495bbbab6_17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167604"/>
            <a:ext cx="2684811" cy="158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1495bbbab6_17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4611" y="1167604"/>
            <a:ext cx="2630936" cy="158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g31495bbbab6_17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3875" y="3703238"/>
            <a:ext cx="2724150" cy="16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dff263e88c_0_125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311" name="Google Shape;311;g2dff263e88c_0_125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Garamond"/>
              <a:buNone/>
            </a:pPr>
            <a:r>
              <a:rPr lang="en-US" sz="38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Competitive and Zero-Sum Interactions</a:t>
            </a:r>
            <a:endParaRPr/>
          </a:p>
        </p:txBody>
      </p:sp>
      <p:sp>
        <p:nvSpPr>
          <p:cNvPr id="312" name="Google Shape;312;g2dff263e88c_0_125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305800" cy="50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preferences of agents are diametrically opposed we have </a:t>
            </a:r>
            <a:r>
              <a:rPr lang="en-US" sz="24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strictly competitive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scenarios</a:t>
            </a:r>
            <a:endParaRPr sz="2400"/>
          </a:p>
          <a:p>
            <a:pPr marL="342900" marR="0" lvl="0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Zero-sum encounters are those where utilities sum to zero:</a:t>
            </a:r>
            <a:b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1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400" b="0" i="1" u="none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b="0" i="1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0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  for all </a:t>
            </a:r>
            <a:r>
              <a:rPr lang="en-US" sz="2400" b="0" i="1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/>
              <a:t> ∈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endParaRPr sz="2400"/>
          </a:p>
          <a:p>
            <a:pPr marL="342900" marR="0" lvl="0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Zero sum implies strictly competitive</a:t>
            </a:r>
            <a:endParaRPr sz="2400"/>
          </a:p>
          <a:p>
            <a:pPr marL="342900" marR="0" lvl="0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Zero sum encounters in real life are very rare … but people tend to act in many scenarios as if they were zero sum</a:t>
            </a:r>
            <a:endParaRPr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7212688469_0_19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800"/>
              <a:t>Competitive and Zero-Sum Interactions</a:t>
            </a:r>
            <a:endParaRPr/>
          </a:p>
        </p:txBody>
      </p:sp>
      <p:sp>
        <p:nvSpPr>
          <p:cNvPr id="320" name="Google Shape;320;g27212688469_0_19"/>
          <p:cNvSpPr txBox="1">
            <a:spLocks noGrp="1"/>
          </p:cNvSpPr>
          <p:nvPr>
            <p:ph type="body" idx="1"/>
          </p:nvPr>
        </p:nvSpPr>
        <p:spPr>
          <a:xfrm>
            <a:off x="457200" y="1079100"/>
            <a:ext cx="8229600" cy="50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600"/>
              <a:t>Consider this situation:</a:t>
            </a:r>
            <a:endParaRPr sz="2600"/>
          </a:p>
          <a:p>
            <a:pPr marL="457200" lvl="0" indent="-3683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You can buy a ticket for a lottery. 1000 tickets are sold  $100 each. Only 1 ticket wins.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If your ticket is winner, you earn, $200,000, otherwise $0.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Would you buy the ticket?</a:t>
            </a:r>
            <a:endParaRPr sz="2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dff263e88c_0_239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800"/>
              <a:t>Competitive and Zero-Sum Interactions</a:t>
            </a:r>
            <a:endParaRPr/>
          </a:p>
        </p:txBody>
      </p:sp>
      <p:sp>
        <p:nvSpPr>
          <p:cNvPr id="328" name="Google Shape;328;g2dff263e88c_0_239"/>
          <p:cNvSpPr txBox="1">
            <a:spLocks noGrp="1"/>
          </p:cNvSpPr>
          <p:nvPr>
            <p:ph type="body" idx="1"/>
          </p:nvPr>
        </p:nvSpPr>
        <p:spPr>
          <a:xfrm>
            <a:off x="457200" y="1079100"/>
            <a:ext cx="8229600" cy="50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600"/>
              <a:t>Consider this situation:</a:t>
            </a:r>
            <a:endParaRPr sz="2600"/>
          </a:p>
          <a:p>
            <a:pPr marL="457200" lvl="0" indent="-3683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You can buy a ticket for a lottery. 1000 tickets are sold  $100 each. Only 1 ticket wins.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If your ticket is winner, you earn, $200,000, otherwise $0.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Would you buy the ticket?</a:t>
            </a:r>
            <a:endParaRPr sz="2200"/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Before purchasing the ticket, you find that only 1 person owns the remaining 999 tickets, would you still buy the ticket?</a:t>
            </a:r>
            <a:endParaRPr sz="2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dff263e88c_0_8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334" name="Google Shape;334;g2dff263e88c_0_82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Prisoner’s Dilemma</a:t>
            </a:r>
            <a:endParaRPr/>
          </a:p>
        </p:txBody>
      </p:sp>
      <p:sp>
        <p:nvSpPr>
          <p:cNvPr id="335" name="Google Shape;335;g2dff263e88c_0_82"/>
          <p:cNvSpPr txBox="1">
            <a:spLocks noGrp="1"/>
          </p:cNvSpPr>
          <p:nvPr>
            <p:ph type="body" idx="1"/>
          </p:nvPr>
        </p:nvSpPr>
        <p:spPr>
          <a:xfrm>
            <a:off x="304800" y="12192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apparent paradox is </a:t>
            </a:r>
            <a:r>
              <a:rPr lang="en-US" sz="24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the fundamental problem of multi-agent interactions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appears to imply that </a:t>
            </a:r>
            <a:r>
              <a:rPr lang="en-US" sz="24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cooperation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will not occur in societies of self-interested agents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/>
          </a:p>
          <a:p>
            <a:pPr marL="342900" marR="0" lvl="0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world examples:</a:t>
            </a:r>
            <a:endParaRPr sz="2400"/>
          </a:p>
          <a:p>
            <a:pPr marL="669925" marR="0" lvl="1" indent="-287336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nuclear arms reduction (“why don’t I keep mine. . . ”)</a:t>
            </a:r>
            <a:endParaRPr sz="2000"/>
          </a:p>
          <a:p>
            <a:pPr marL="669925" marR="0" lvl="1" indent="-287336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 rider systems — public transport;</a:t>
            </a:r>
            <a:endParaRPr sz="2000"/>
          </a:p>
          <a:p>
            <a:pPr marL="669925" marR="0" lvl="1" indent="-287336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96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UK — television licenses.</a:t>
            </a:r>
            <a:endParaRPr sz="2000"/>
          </a:p>
          <a:p>
            <a:pPr marL="342900" marR="0" lvl="0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prisoner’s dilemma is </a:t>
            </a:r>
            <a:r>
              <a:rPr lang="en-US" sz="24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ubiquitous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/>
          </a:p>
          <a:p>
            <a:pPr marL="342900" marR="0" lvl="0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we recover cooperation?</a:t>
            </a:r>
            <a:endParaRPr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dff263e88c_0_253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341" name="Google Shape;341;g2dff263e88c_0_253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Iterated Prisoner’s Dilemma</a:t>
            </a:r>
            <a:endParaRPr/>
          </a:p>
        </p:txBody>
      </p:sp>
      <p:sp>
        <p:nvSpPr>
          <p:cNvPr id="342" name="Google Shape;342;g2dff263e88c_0_25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answer: </a:t>
            </a:r>
            <a:r>
              <a:rPr lang="en-US" sz="30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play the game more than once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know you will be meeting your opponent again, then the incentive to defect appears to evaporate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30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Cooperation is the rational choice in the infinititely repeated prisoner’s dilemma</a:t>
            </a:r>
            <a:br>
              <a:rPr lang="en-US" sz="3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(Hurrah!)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dff263e88c_0_281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348" name="Google Shape;348;g2dff263e88c_0_281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Backwards Induction</a:t>
            </a:r>
            <a:endParaRPr/>
          </a:p>
        </p:txBody>
      </p:sp>
      <p:sp>
        <p:nvSpPr>
          <p:cNvPr id="349" name="Google Shape;349;g2dff263e88c_0_281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But…suppose you both know that you will play the game exactly </a:t>
            </a:r>
            <a:r>
              <a:rPr lang="en-US" sz="3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3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times</a:t>
            </a:r>
            <a:b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round </a:t>
            </a:r>
            <a:r>
              <a:rPr lang="en-US" sz="3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- 1</a:t>
            </a: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you have an incentive to defect, to gain that extra bit of payoff…</a:t>
            </a:r>
            <a:b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this makes round </a:t>
            </a:r>
            <a:r>
              <a:rPr lang="en-US" sz="3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– 2</a:t>
            </a:r>
            <a:r>
              <a:rPr lang="en-US" sz="3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last “real”, and so you have an incentive to defect there, too.</a:t>
            </a:r>
            <a:b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the </a:t>
            </a:r>
            <a:r>
              <a:rPr lang="en-US" sz="30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backwards induction</a:t>
            </a:r>
            <a:r>
              <a:rPr lang="en-US" sz="3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Playing the prisoner’s dilemma with a fixed, finite, pre-determined, commonly known number of rounds, defection is the best strategy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dff263e88c_0_309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355" name="Google Shape;355;g2dff263e88c_0_309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Axelrod’s Tournament</a:t>
            </a:r>
            <a:endParaRPr/>
          </a:p>
        </p:txBody>
      </p:sp>
      <p:sp>
        <p:nvSpPr>
          <p:cNvPr id="356" name="Google Shape;356;g2dff263e88c_0_30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you play iterated prisoner’s dilemma against a </a:t>
            </a:r>
            <a:r>
              <a:rPr lang="en-US" sz="30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lang="en-US" sz="3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opponents…</a:t>
            </a:r>
            <a:b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strategy should you choose, so as to maximize your overall payoff?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Axelrod (1984) investigated this problem, with a computer tournament for programs playing the prisoner’s dilemma</a:t>
            </a:r>
            <a:endParaRPr/>
          </a:p>
          <a:p>
            <a:pPr marL="342900" marR="0" lvl="0" indent="-219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endParaRPr sz="3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dff263e88c_0_337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362" name="Google Shape;362;g2dff263e88c_0_337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Strategies in Axelrod’s Tournament</a:t>
            </a:r>
            <a:endParaRPr/>
          </a:p>
        </p:txBody>
      </p:sp>
      <p:sp>
        <p:nvSpPr>
          <p:cNvPr id="363" name="Google Shape;363;g2dff263e88c_0_337"/>
          <p:cNvSpPr txBox="1">
            <a:spLocks noGrp="1"/>
          </p:cNvSpPr>
          <p:nvPr>
            <p:ph type="body" idx="1"/>
          </p:nvPr>
        </p:nvSpPr>
        <p:spPr>
          <a:xfrm>
            <a:off x="609600" y="1143000"/>
            <a:ext cx="81534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lang="en-US" sz="26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ALLD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“Always defect” — the </a:t>
            </a:r>
            <a:r>
              <a:rPr lang="en-US" sz="2200" b="0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hawk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lang="en-US" sz="26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TIT-FOR-TAT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AutoNum type="arabicPeriod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round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= 0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cooperate</a:t>
            </a:r>
            <a:endParaRPr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AutoNum type="arabicPeriod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round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&gt; 0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do what your opponent did on round </a:t>
            </a:r>
            <a:r>
              <a:rPr lang="en-US" sz="22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1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lang="en-US" sz="26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TESTER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1st round, defect. If the opponent retaliated, then play TIT-FOR-TAT. Otherwise intersperse cooperation and defection.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lang="en-US" sz="2600" b="0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JOSS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669925" marR="0" lvl="1" indent="-325437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TIT-FOR-TAT, except periodically defect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dff263e88c_0_343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369" name="Google Shape;369;g2dff263e88c_0_343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Garamond"/>
              <a:buNone/>
            </a:pPr>
            <a:r>
              <a:rPr lang="en-US" sz="38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Recipes for Success in Axelrod’s Tournament</a:t>
            </a:r>
            <a:endParaRPr/>
          </a:p>
        </p:txBody>
      </p:sp>
      <p:sp>
        <p:nvSpPr>
          <p:cNvPr id="370" name="Google Shape;370;g2dff263e88c_0_3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Axelrod suggests the following rules for succeeding in his tournament:</a:t>
            </a:r>
            <a:endParaRPr/>
          </a:p>
          <a:p>
            <a:pPr marL="669925" marR="0" lvl="1" indent="-325436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lang="en-US" sz="2600" b="0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Don’t be envious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Don’t play as if it were zero sum!</a:t>
            </a:r>
            <a:endParaRPr/>
          </a:p>
          <a:p>
            <a:pPr marL="669925" marR="0" lvl="1" indent="-325436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lang="en-US" sz="2600" b="0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Be nice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by cooperating, and reciprocate cooperation</a:t>
            </a:r>
            <a:endParaRPr/>
          </a:p>
          <a:p>
            <a:pPr marL="669925" marR="0" lvl="1" indent="-325436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lang="en-US" sz="2600" b="0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Retaliate appropriately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punish defection immediately, but use “measured” force — don’t overdo it</a:t>
            </a:r>
            <a:endParaRPr/>
          </a:p>
          <a:p>
            <a:pPr marL="669925" marR="0" lvl="1" indent="-325436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lang="en-US" sz="2600" b="0" i="1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Don’t hold grudges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reciprocate cooperation immediately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dff263e88c_0_349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376" name="Google Shape;376;g2dff263e88c_0_349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Game of Chicken</a:t>
            </a:r>
            <a:endParaRPr/>
          </a:p>
        </p:txBody>
      </p:sp>
      <p:sp>
        <p:nvSpPr>
          <p:cNvPr id="377" name="Google Shape;377;g2dff263e88c_0_349"/>
          <p:cNvSpPr txBox="1">
            <a:spLocks noGrp="1"/>
          </p:cNvSpPr>
          <p:nvPr>
            <p:ph type="body" idx="1"/>
          </p:nvPr>
        </p:nvSpPr>
        <p:spPr>
          <a:xfrm>
            <a:off x="381000" y="812800"/>
            <a:ext cx="8458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another type of encounter — the </a:t>
            </a:r>
            <a:r>
              <a:rPr lang="en-US" sz="26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game of chicken</a:t>
            </a: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Difference to prisoner’s dilemma:</a:t>
            </a:r>
            <a:b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600" b="0" i="1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Mutual defection is most feared outcome</a:t>
            </a:r>
            <a:r>
              <a:rPr lang="en-US" sz="2600" b="0" i="0" u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(Whereas sucker’s payoff is most feared in prisoner’s dilemma.)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</a:pPr>
            <a:r>
              <a:rPr lang="en-US" sz="2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Strategies (c,d) and (d,c) are in Nash equilibrium</a:t>
            </a:r>
            <a:endParaRPr/>
          </a:p>
        </p:txBody>
      </p:sp>
      <p:pic>
        <p:nvPicPr>
          <p:cNvPr id="378" name="Google Shape;378;g2dff263e88c_0_3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0" y="1320800"/>
            <a:ext cx="25431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dff263e88c_0_378"/>
          <p:cNvSpPr txBox="1">
            <a:spLocks noGrp="1"/>
          </p:cNvSpPr>
          <p:nvPr>
            <p:ph type="title"/>
          </p:nvPr>
        </p:nvSpPr>
        <p:spPr>
          <a:xfrm>
            <a:off x="457200" y="277805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386" name="Google Shape;386;g2dff263e88c_0_378"/>
          <p:cNvSpPr txBox="1">
            <a:spLocks noGrp="1"/>
          </p:cNvSpPr>
          <p:nvPr>
            <p:ph type="body" idx="1"/>
          </p:nvPr>
        </p:nvSpPr>
        <p:spPr>
          <a:xfrm>
            <a:off x="457200" y="1015200"/>
            <a:ext cx="8229600" cy="51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200"/>
              <a:t>1. Consider the set of outcomes and preferences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200"/>
          </a:p>
          <a:p>
            <a:pPr marL="914400" lvl="0" indent="-30289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</a:pP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 = </a:t>
            </a:r>
            <a:r>
              <a:rPr lang="en-US" sz="1700" i="1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,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,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,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,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,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700" i="1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400" i="1"/>
          </a:p>
          <a:p>
            <a:pPr marL="914400" lvl="0" indent="-30289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70"/>
              <a:buChar char="■"/>
            </a:pP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 &gt;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 &gt;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 &gt;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 &gt;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, &gt;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700" i="1"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700" baseline="-2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700">
                <a:latin typeface="Noto Sans Symbols"/>
                <a:ea typeface="Noto Sans Symbols"/>
                <a:cs typeface="Noto Sans Symbols"/>
                <a:sym typeface="Noto Sans Symbols"/>
              </a:rPr>
              <a:t>Which of the following subsets (if any) dominates the others? </a:t>
            </a:r>
            <a:endParaRPr sz="17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7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914400" lvl="0" indent="-30289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</a:pP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= </a:t>
            </a:r>
            <a:r>
              <a:rPr lang="en-US" sz="1700" i="1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,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700" i="1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7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■"/>
            </a:pP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= </a:t>
            </a:r>
            <a:r>
              <a:rPr lang="en-US" sz="1700" i="1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,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700" i="1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7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■"/>
            </a:pP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= </a:t>
            </a:r>
            <a:r>
              <a:rPr lang="en-US" sz="1700" i="1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700" i="1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7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■"/>
            </a:pP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= </a:t>
            </a:r>
            <a:r>
              <a:rPr lang="en-US" sz="1700" i="1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, ω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1700" i="1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700"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  &gt;</a:t>
            </a:r>
            <a:r>
              <a:rPr lang="en-US" sz="1700" i="1" baseline="-25000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 Ω’</a:t>
            </a:r>
            <a:r>
              <a:rPr lang="en-US" sz="1700">
                <a:latin typeface="Noto Sans Symbols"/>
                <a:ea typeface="Noto Sans Symbols"/>
                <a:cs typeface="Noto Sans Symbols"/>
                <a:sym typeface="Noto Sans Symbols"/>
              </a:rPr>
              <a:t>   if   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 </a:t>
            </a:r>
            <a:r>
              <a:rPr lang="en-US" sz="1700">
                <a:latin typeface="Noto Sans Symbols"/>
                <a:ea typeface="Noto Sans Symbols"/>
                <a:cs typeface="Noto Sans Symbols"/>
                <a:sym typeface="Noto Sans Symbols"/>
              </a:rPr>
              <a:t> &gt;</a:t>
            </a:r>
            <a:r>
              <a:rPr lang="en-US" sz="1700" baseline="-25000">
                <a:latin typeface="Times New Roman"/>
                <a:ea typeface="Times New Roman"/>
                <a:cs typeface="Times New Roman"/>
                <a:sym typeface="Times New Roman"/>
              </a:rPr>
              <a:t>i  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ω’</a:t>
            </a:r>
            <a:r>
              <a:rPr lang="en-US" sz="1700">
                <a:latin typeface="Noto Sans Symbols"/>
                <a:ea typeface="Noto Sans Symbols"/>
                <a:cs typeface="Noto Sans Symbols"/>
                <a:sym typeface="Noto Sans Symbols"/>
              </a:rPr>
              <a:t>  for any 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ω ∈ </a:t>
            </a:r>
            <a:r>
              <a:rPr lang="en-US" sz="1700">
                <a:latin typeface="Noto Sans Symbols"/>
                <a:ea typeface="Noto Sans Symbols"/>
                <a:cs typeface="Noto Sans Symbols"/>
                <a:sym typeface="Noto Sans Symbols"/>
              </a:rPr>
              <a:t>Ω</a:t>
            </a:r>
            <a:r>
              <a:rPr lang="en-US" sz="1700" i="1">
                <a:latin typeface="Noto Sans Symbols"/>
                <a:ea typeface="Noto Sans Symbols"/>
                <a:cs typeface="Noto Sans Symbols"/>
                <a:sym typeface="Noto Sans Symbols"/>
              </a:rPr>
              <a:t>, ω’ ∈ </a:t>
            </a:r>
            <a:r>
              <a:rPr lang="en-US" sz="1700">
                <a:latin typeface="Noto Sans Symbols"/>
                <a:ea typeface="Noto Sans Symbols"/>
                <a:cs typeface="Noto Sans Symbols"/>
                <a:sym typeface="Noto Sans Symbols"/>
              </a:rPr>
              <a:t>Ω’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7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dff263e88c_0_393"/>
          <p:cNvSpPr txBox="1">
            <a:spLocks noGrp="1"/>
          </p:cNvSpPr>
          <p:nvPr>
            <p:ph type="title"/>
          </p:nvPr>
        </p:nvSpPr>
        <p:spPr>
          <a:xfrm>
            <a:off x="457200" y="277805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Exercises</a:t>
            </a:r>
            <a:endParaRPr/>
          </a:p>
        </p:txBody>
      </p:sp>
      <p:sp>
        <p:nvSpPr>
          <p:cNvPr id="394" name="Google Shape;394;g2dff263e88c_0_393"/>
          <p:cNvSpPr txBox="1">
            <a:spLocks noGrp="1"/>
          </p:cNvSpPr>
          <p:nvPr>
            <p:ph type="body" idx="1"/>
          </p:nvPr>
        </p:nvSpPr>
        <p:spPr>
          <a:xfrm>
            <a:off x="457200" y="1015200"/>
            <a:ext cx="4713600" cy="51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Considering the interaction scenarios: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Informally analyze to determine what the agents should do.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Classify the preferences that agents have with respect of outcomes.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Determine which strategies are strongly dominated.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Identify any Nash equilibrium.</a:t>
            </a:r>
            <a:endParaRPr sz="2000"/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</p:txBody>
      </p:sp>
      <p:pic>
        <p:nvPicPr>
          <p:cNvPr id="395" name="Google Shape;395;g2dff263e88c_0_393"/>
          <p:cNvPicPr preferRelativeResize="0"/>
          <p:nvPr/>
        </p:nvPicPr>
        <p:blipFill rotWithShape="1">
          <a:blip r:embed="rId3">
            <a:alphaModFix/>
          </a:blip>
          <a:srcRect l="13618" r="15887" b="34636"/>
          <a:stretch/>
        </p:blipFill>
        <p:spPr>
          <a:xfrm>
            <a:off x="5257800" y="1015200"/>
            <a:ext cx="3429000" cy="267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default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CC9900"/>
      </a:accent4>
      <a:accent5>
        <a:srgbClr val="3B812F"/>
      </a:accent5>
      <a:accent6>
        <a:srgbClr val="FFFFFF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F5DF901266EB46A712FE93801BA1D6" ma:contentTypeVersion="15" ma:contentTypeDescription="Create a new document." ma:contentTypeScope="" ma:versionID="7cf47ee2fdae45ad2b2738e5487ef8f5">
  <xsd:schema xmlns:xsd="http://www.w3.org/2001/XMLSchema" xmlns:xs="http://www.w3.org/2001/XMLSchema" xmlns:p="http://schemas.microsoft.com/office/2006/metadata/properties" xmlns:ns2="70ec0d4c-04c6-4704-9b9d-f9c1df4ff1ba" xmlns:ns3="c0587088-7c24-4881-8fa2-37f7164e5ccf" targetNamespace="http://schemas.microsoft.com/office/2006/metadata/properties" ma:root="true" ma:fieldsID="ab34482a2b14c90b47d89902a7710ce8" ns2:_="" ns3:_="">
    <xsd:import namespace="70ec0d4c-04c6-4704-9b9d-f9c1df4ff1ba"/>
    <xsd:import namespace="c0587088-7c24-4881-8fa2-37f7164e5c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c0d4c-04c6-4704-9b9d-f9c1df4ff1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13b0b881-3bf5-4493-8d21-dd6cf614d6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587088-7c24-4881-8fa2-37f7164e5cc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1e35ec3c-03b4-409f-a06e-371fbcf352db}" ma:internalName="TaxCatchAll" ma:showField="CatchAllData" ma:web="c0587088-7c24-4881-8fa2-37f7164e5c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ec0d4c-04c6-4704-9b9d-f9c1df4ff1ba">
      <Terms xmlns="http://schemas.microsoft.com/office/infopath/2007/PartnerControls"/>
    </lcf76f155ced4ddcb4097134ff3c332f>
    <TaxCatchAll xmlns="c0587088-7c24-4881-8fa2-37f7164e5ccf" xsi:nil="true"/>
  </documentManagement>
</p:properties>
</file>

<file path=customXml/itemProps1.xml><?xml version="1.0" encoding="utf-8"?>
<ds:datastoreItem xmlns:ds="http://schemas.openxmlformats.org/officeDocument/2006/customXml" ds:itemID="{67D73435-3B10-45DE-9954-848436884C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c0d4c-04c6-4704-9b9d-f9c1df4ff1ba"/>
    <ds:schemaRef ds:uri="c0587088-7c24-4881-8fa2-37f7164e5c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6BABF0-E157-4333-8A0C-D38D78AC59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EDE314-DF17-43F3-AB36-CB770FF9A05C}">
  <ds:schemaRefs>
    <ds:schemaRef ds:uri="http://schemas.microsoft.com/office/2006/metadata/properties"/>
    <ds:schemaRef ds:uri="http://schemas.microsoft.com/office/infopath/2007/PartnerControls"/>
    <ds:schemaRef ds:uri="70ec0d4c-04c6-4704-9b9d-f9c1df4ff1ba"/>
    <ds:schemaRef ds:uri="c0587088-7c24-4881-8fa2-37f7164e5cc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2605</Words>
  <Application>Microsoft Office PowerPoint</Application>
  <PresentationFormat>On-screen Show (4:3)</PresentationFormat>
  <Paragraphs>371</Paragraphs>
  <Slides>43</Slides>
  <Notes>43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Times New Roman</vt:lpstr>
      <vt:lpstr>Arial</vt:lpstr>
      <vt:lpstr>Garamond</vt:lpstr>
      <vt:lpstr>Noto Sans Symbols</vt:lpstr>
      <vt:lpstr>Edge</vt:lpstr>
      <vt:lpstr>PowerPoint Presentation</vt:lpstr>
      <vt:lpstr>Agendas sugeridas</vt:lpstr>
      <vt:lpstr>Agent Interaction</vt:lpstr>
      <vt:lpstr>Agent Interaction</vt:lpstr>
      <vt:lpstr>MultiAgent Systems </vt:lpstr>
      <vt:lpstr>Decision Theory</vt:lpstr>
      <vt:lpstr>Utilities and Preferences</vt:lpstr>
      <vt:lpstr>What is Utility?</vt:lpstr>
      <vt:lpstr>What is Utility?</vt:lpstr>
      <vt:lpstr>What is Utility?</vt:lpstr>
      <vt:lpstr>What is Utility?</vt:lpstr>
      <vt:lpstr>Multiagent Encounters</vt:lpstr>
      <vt:lpstr>Multiagent Encounters</vt:lpstr>
      <vt:lpstr>Multiagent Encounters</vt:lpstr>
      <vt:lpstr>Multiagent Encounters</vt:lpstr>
      <vt:lpstr>Rational Action</vt:lpstr>
      <vt:lpstr>Payoff Matrices</vt:lpstr>
      <vt:lpstr>Dominant Strategies</vt:lpstr>
      <vt:lpstr>Example</vt:lpstr>
      <vt:lpstr>The Prisoner’s Dilemma</vt:lpstr>
      <vt:lpstr>Nash Equilibrium</vt:lpstr>
      <vt:lpstr>Nash Equilibrium</vt:lpstr>
      <vt:lpstr>The Prisoner’s Dilemma</vt:lpstr>
      <vt:lpstr>Nash Equilibrium</vt:lpstr>
      <vt:lpstr>The Prisoner’s Dilemma</vt:lpstr>
      <vt:lpstr>The Prisoner’s Dilemma</vt:lpstr>
      <vt:lpstr>The Prisoner’s Dilemma</vt:lpstr>
      <vt:lpstr>The Prisoner’s Dilemma</vt:lpstr>
      <vt:lpstr>The Prisoner’s Dilemma</vt:lpstr>
      <vt:lpstr>The Prisoner’s Dilemma</vt:lpstr>
      <vt:lpstr>The Prisoner’s Dilemma</vt:lpstr>
      <vt:lpstr>Competitive and Zero-Sum Interactions</vt:lpstr>
      <vt:lpstr>Competitive and Zero-Sum Interactions</vt:lpstr>
      <vt:lpstr>Competitive and Zero-Sum Interactions</vt:lpstr>
      <vt:lpstr>The Prisoner’s Dilemma</vt:lpstr>
      <vt:lpstr>The Iterated Prisoner’s Dilemma</vt:lpstr>
      <vt:lpstr>Backwards Induction</vt:lpstr>
      <vt:lpstr>Axelrod’s Tournament</vt:lpstr>
      <vt:lpstr>Strategies in Axelrod’s Tournament</vt:lpstr>
      <vt:lpstr>Recipes for Success in Axelrod’s Tournament</vt:lpstr>
      <vt:lpstr>Game of Chicken</vt:lpstr>
      <vt:lpstr>Exercises</vt:lpstr>
      <vt:lpstr>Exercises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Jeff Rosenschein</dc:creator>
  <cp:lastModifiedBy>Alfredo Alan Flores Saldivar</cp:lastModifiedBy>
  <cp:revision>2</cp:revision>
  <dcterms:created xsi:type="dcterms:W3CDTF">2002-09-12T12:30:06Z</dcterms:created>
  <dcterms:modified xsi:type="dcterms:W3CDTF">2025-08-27T18:58:43Z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0x01010094F5DF901266EB46A712FE93801BA1D6</vt:lpwstr>
  </property>
</Properties>
</file>