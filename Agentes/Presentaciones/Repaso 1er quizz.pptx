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  <p:sldMasterId id="2147483650" r:id="rId5"/>
  </p:sldMasterIdLst>
  <p:notesMasterIdLst>
    <p:notesMasterId r:id="rId26"/>
  </p:notesMasterIdLst>
  <p:sldIdLst>
    <p:sldId id="256" r:id="rId6"/>
    <p:sldId id="291" r:id="rId7"/>
    <p:sldId id="305" r:id="rId8"/>
    <p:sldId id="306" r:id="rId9"/>
    <p:sldId id="307" r:id="rId10"/>
    <p:sldId id="304" r:id="rId11"/>
    <p:sldId id="308" r:id="rId12"/>
    <p:sldId id="289" r:id="rId13"/>
    <p:sldId id="309" r:id="rId14"/>
    <p:sldId id="310" r:id="rId15"/>
    <p:sldId id="311" r:id="rId16"/>
    <p:sldId id="297" r:id="rId17"/>
    <p:sldId id="312" r:id="rId18"/>
    <p:sldId id="313" r:id="rId19"/>
    <p:sldId id="314" r:id="rId20"/>
    <p:sldId id="298" r:id="rId21"/>
    <p:sldId id="315" r:id="rId22"/>
    <p:sldId id="316" r:id="rId23"/>
    <p:sldId id="317" r:id="rId24"/>
    <p:sldId id="300" r:id="rId25"/>
  </p:sldIdLst>
  <p:sldSz cx="9144000" cy="6858000" type="screen4x3"/>
  <p:notesSz cx="6858000" cy="9144000"/>
  <p:embeddedFontLst>
    <p:embeddedFont>
      <p:font typeface="Garamond" panose="02020404030301010803" pitchFamily="18" charset="0"/>
      <p:regular r:id="rId27"/>
      <p:bold r:id="rId28"/>
      <p:italic r:id="rId29"/>
      <p:boldItalic r:id="rId30"/>
    </p:embeddedFont>
    <p:embeddedFont>
      <p:font typeface="Noto Sans Symbols" panose="020B0604020202020204" charset="0"/>
      <p:regular r:id="rId31"/>
      <p:bold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notes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60" roundtripDataSignature="AMtx7mhyfOrA3a6HWyOVcbytWOQkhyjs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45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E1B0BE6-A474-40ED-87E5-EEA6D8168CE5}">
  <a:tblStyle styleId="{9E1B0BE6-A474-40ED-87E5-EEA6D8168CE5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1508" y="4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notesMaster" Target="notesMasters/notesMaster1.xml"/><Relationship Id="rId21" Type="http://schemas.openxmlformats.org/officeDocument/2006/relationships/slide" Target="slides/slide16.xml"/><Relationship Id="rId63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font" Target="fonts/font3.fntdata"/><Relationship Id="rId62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font" Target="fonts/font6.fntdata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font" Target="fonts/font2.fntdata"/><Relationship Id="rId61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font" Target="fonts/font5.fntdata"/><Relationship Id="rId60" Type="http://customschemas.google.com/relationships/presentationmetadata" Target="meta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64" Type="http://schemas.openxmlformats.org/officeDocument/2006/relationships/tableStyles" Target="tableStyles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0212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4;n"/>
          <p:cNvSpPr/>
          <p:nvPr/>
        </p:nvSpPr>
        <p:spPr>
          <a:xfrm>
            <a:off x="0" y="0"/>
            <a:ext cx="6858000" cy="9144000"/>
          </a:xfrm>
          <a:prstGeom prst="roundRect">
            <a:avLst>
              <a:gd name="adj" fmla="val 5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5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0212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" name="Google Shape;6;n"/>
          <p:cNvSpPr txBox="1">
            <a:spLocks noGrp="1"/>
          </p:cNvSpPr>
          <p:nvPr>
            <p:ph type="dt" idx="10"/>
          </p:nvPr>
        </p:nvSpPr>
        <p:spPr>
          <a:xfrm>
            <a:off x="3884612" y="0"/>
            <a:ext cx="2970212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0412" cy="34274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" name="Google Shape;8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4812" cy="4113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n"/>
          <p:cNvSpPr txBox="1">
            <a:spLocks noGrp="1"/>
          </p:cNvSpPr>
          <p:nvPr>
            <p:ph type="ftr" idx="11"/>
          </p:nvPr>
        </p:nvSpPr>
        <p:spPr>
          <a:xfrm>
            <a:off x="0" y="8685212"/>
            <a:ext cx="2970212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n"/>
          <p:cNvSpPr txBox="1">
            <a:spLocks noGrp="1"/>
          </p:cNvSpPr>
          <p:nvPr>
            <p:ph type="sldNum" idx="4"/>
          </p:nvPr>
        </p:nvSpPr>
        <p:spPr>
          <a:xfrm>
            <a:off x="3884612" y="8685212"/>
            <a:ext cx="2970212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215900" marR="0" lvl="0" indent="-2159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2d9cf19e6a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6" name="Google Shape;46;g2d9cf19e6a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10c24f165f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" name="Google Shape;437;g310c24f165f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5">
          <a:extLst>
            <a:ext uri="{FF2B5EF4-FFF2-40B4-BE49-F238E27FC236}">
              <a16:creationId xmlns:a16="http://schemas.microsoft.com/office/drawing/2014/main" id="{1AD8CE56-A1BA-D630-FEC2-2AD349B6D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10c24f165f_0_66:notes">
            <a:extLst>
              <a:ext uri="{FF2B5EF4-FFF2-40B4-BE49-F238E27FC236}">
                <a16:creationId xmlns:a16="http://schemas.microsoft.com/office/drawing/2014/main" id="{D17E0A74-B32C-39EF-1DF2-2DB4F9B229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" name="Google Shape;437;g310c24f165f_0_66:notes">
            <a:extLst>
              <a:ext uri="{FF2B5EF4-FFF2-40B4-BE49-F238E27FC236}">
                <a16:creationId xmlns:a16="http://schemas.microsoft.com/office/drawing/2014/main" id="{2109ABA8-705B-0FA0-A46B-1B8E390CB2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23838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5">
          <a:extLst>
            <a:ext uri="{FF2B5EF4-FFF2-40B4-BE49-F238E27FC236}">
              <a16:creationId xmlns:a16="http://schemas.microsoft.com/office/drawing/2014/main" id="{0CA158A3-835A-04FC-F463-017DD5D84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10c24f165f_0_66:notes">
            <a:extLst>
              <a:ext uri="{FF2B5EF4-FFF2-40B4-BE49-F238E27FC236}">
                <a16:creationId xmlns:a16="http://schemas.microsoft.com/office/drawing/2014/main" id="{D62E276D-935B-52C0-5A1F-160EB0DD0F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" name="Google Shape;437;g310c24f165f_0_66:notes">
            <a:extLst>
              <a:ext uri="{FF2B5EF4-FFF2-40B4-BE49-F238E27FC236}">
                <a16:creationId xmlns:a16="http://schemas.microsoft.com/office/drawing/2014/main" id="{CE9AFFB0-3FD2-ADEC-8AB0-52036C9DB5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514858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5">
          <a:extLst>
            <a:ext uri="{FF2B5EF4-FFF2-40B4-BE49-F238E27FC236}">
              <a16:creationId xmlns:a16="http://schemas.microsoft.com/office/drawing/2014/main" id="{C5A69958-5923-4B80-DBCE-EB14C5626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10c24f165f_0_66:notes">
            <a:extLst>
              <a:ext uri="{FF2B5EF4-FFF2-40B4-BE49-F238E27FC236}">
                <a16:creationId xmlns:a16="http://schemas.microsoft.com/office/drawing/2014/main" id="{8DECB361-B2A5-F581-3B48-4C4F3A196D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" name="Google Shape;437;g310c24f165f_0_66:notes">
            <a:extLst>
              <a:ext uri="{FF2B5EF4-FFF2-40B4-BE49-F238E27FC236}">
                <a16:creationId xmlns:a16="http://schemas.microsoft.com/office/drawing/2014/main" id="{1E15445E-9C37-7D32-4B99-FA43E140E7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033181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5">
          <a:extLst>
            <a:ext uri="{FF2B5EF4-FFF2-40B4-BE49-F238E27FC236}">
              <a16:creationId xmlns:a16="http://schemas.microsoft.com/office/drawing/2014/main" id="{7373988E-1DEB-B034-04BD-D939F0882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10c24f165f_0_66:notes">
            <a:extLst>
              <a:ext uri="{FF2B5EF4-FFF2-40B4-BE49-F238E27FC236}">
                <a16:creationId xmlns:a16="http://schemas.microsoft.com/office/drawing/2014/main" id="{42481F34-1D2D-7B73-A35F-2527EF8EA9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" name="Google Shape;437;g310c24f165f_0_66:notes">
            <a:extLst>
              <a:ext uri="{FF2B5EF4-FFF2-40B4-BE49-F238E27FC236}">
                <a16:creationId xmlns:a16="http://schemas.microsoft.com/office/drawing/2014/main" id="{EF981D6D-9C17-963B-CFAA-1570BB20E1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658592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5">
          <a:extLst>
            <a:ext uri="{FF2B5EF4-FFF2-40B4-BE49-F238E27FC236}">
              <a16:creationId xmlns:a16="http://schemas.microsoft.com/office/drawing/2014/main" id="{2A9B1F10-F743-920E-9F83-B6CCDC52F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10c24f165f_0_66:notes">
            <a:extLst>
              <a:ext uri="{FF2B5EF4-FFF2-40B4-BE49-F238E27FC236}">
                <a16:creationId xmlns:a16="http://schemas.microsoft.com/office/drawing/2014/main" id="{13FFA0DC-4731-1C84-0DA2-512D86B78B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" name="Google Shape;437;g310c24f165f_0_66:notes">
            <a:extLst>
              <a:ext uri="{FF2B5EF4-FFF2-40B4-BE49-F238E27FC236}">
                <a16:creationId xmlns:a16="http://schemas.microsoft.com/office/drawing/2014/main" id="{EBC1EAE0-61E8-F2BD-6A46-294AD9BE16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933641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10c24f165f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g310c24f165f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9">
          <a:extLst>
            <a:ext uri="{FF2B5EF4-FFF2-40B4-BE49-F238E27FC236}">
              <a16:creationId xmlns:a16="http://schemas.microsoft.com/office/drawing/2014/main" id="{5CBF2F16-2FF7-C591-ECB7-92A834A21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10c24f165f_0_52:notes">
            <a:extLst>
              <a:ext uri="{FF2B5EF4-FFF2-40B4-BE49-F238E27FC236}">
                <a16:creationId xmlns:a16="http://schemas.microsoft.com/office/drawing/2014/main" id="{675940CB-54EF-202F-014A-520308F752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g310c24f165f_0_52:notes">
            <a:extLst>
              <a:ext uri="{FF2B5EF4-FFF2-40B4-BE49-F238E27FC236}">
                <a16:creationId xmlns:a16="http://schemas.microsoft.com/office/drawing/2014/main" id="{7B4E8EB0-BDA9-C570-739F-7E28758BD1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561794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9">
          <a:extLst>
            <a:ext uri="{FF2B5EF4-FFF2-40B4-BE49-F238E27FC236}">
              <a16:creationId xmlns:a16="http://schemas.microsoft.com/office/drawing/2014/main" id="{D1D2C70A-8304-532A-5AF9-24E1A804B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10c24f165f_0_52:notes">
            <a:extLst>
              <a:ext uri="{FF2B5EF4-FFF2-40B4-BE49-F238E27FC236}">
                <a16:creationId xmlns:a16="http://schemas.microsoft.com/office/drawing/2014/main" id="{CD8E32A7-8B40-3FD2-21A6-43191FEF3E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g310c24f165f_0_52:notes">
            <a:extLst>
              <a:ext uri="{FF2B5EF4-FFF2-40B4-BE49-F238E27FC236}">
                <a16:creationId xmlns:a16="http://schemas.microsoft.com/office/drawing/2014/main" id="{55CA9D46-EB58-D77E-469D-ACD047BB8D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024980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9">
          <a:extLst>
            <a:ext uri="{FF2B5EF4-FFF2-40B4-BE49-F238E27FC236}">
              <a16:creationId xmlns:a16="http://schemas.microsoft.com/office/drawing/2014/main" id="{9BDC7A32-A5AF-06FD-131C-8764C497E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10c24f165f_0_52:notes">
            <a:extLst>
              <a:ext uri="{FF2B5EF4-FFF2-40B4-BE49-F238E27FC236}">
                <a16:creationId xmlns:a16="http://schemas.microsoft.com/office/drawing/2014/main" id="{D935F915-E4AC-D4A4-860A-CAF27D537E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g310c24f165f_0_52:notes">
            <a:extLst>
              <a:ext uri="{FF2B5EF4-FFF2-40B4-BE49-F238E27FC236}">
                <a16:creationId xmlns:a16="http://schemas.microsoft.com/office/drawing/2014/main" id="{4F2F8C50-D5D9-809C-CA5A-EF612AED28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635678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10c24f165f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485" name="Google Shape;485;g310c24f165f_0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3">
          <a:extLst>
            <a:ext uri="{FF2B5EF4-FFF2-40B4-BE49-F238E27FC236}">
              <a16:creationId xmlns:a16="http://schemas.microsoft.com/office/drawing/2014/main" id="{3107D6AB-3896-F331-6567-4EED84736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10c24f165f_0_108:notes">
            <a:extLst>
              <a:ext uri="{FF2B5EF4-FFF2-40B4-BE49-F238E27FC236}">
                <a16:creationId xmlns:a16="http://schemas.microsoft.com/office/drawing/2014/main" id="{600D18F9-85A7-0719-DB79-3A75E0C177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485" name="Google Shape;485;g310c24f165f_0_108:notes">
            <a:extLst>
              <a:ext uri="{FF2B5EF4-FFF2-40B4-BE49-F238E27FC236}">
                <a16:creationId xmlns:a16="http://schemas.microsoft.com/office/drawing/2014/main" id="{BBD1B2DE-4027-26BD-0716-D3511BC3D5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924821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3">
          <a:extLst>
            <a:ext uri="{FF2B5EF4-FFF2-40B4-BE49-F238E27FC236}">
              <a16:creationId xmlns:a16="http://schemas.microsoft.com/office/drawing/2014/main" id="{7B9800EA-CD05-7F0C-B157-AF00720FC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10c24f165f_0_108:notes">
            <a:extLst>
              <a:ext uri="{FF2B5EF4-FFF2-40B4-BE49-F238E27FC236}">
                <a16:creationId xmlns:a16="http://schemas.microsoft.com/office/drawing/2014/main" id="{D1557ABB-C3FC-0DAA-275E-554E7FB040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485" name="Google Shape;485;g310c24f165f_0_108:notes">
            <a:extLst>
              <a:ext uri="{FF2B5EF4-FFF2-40B4-BE49-F238E27FC236}">
                <a16:creationId xmlns:a16="http://schemas.microsoft.com/office/drawing/2014/main" id="{E493BE43-3D55-E3D6-7323-4947E970B0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5074832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3">
          <a:extLst>
            <a:ext uri="{FF2B5EF4-FFF2-40B4-BE49-F238E27FC236}">
              <a16:creationId xmlns:a16="http://schemas.microsoft.com/office/drawing/2014/main" id="{E61F155E-57B8-1629-A9C8-4178346C2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10c24f165f_0_108:notes">
            <a:extLst>
              <a:ext uri="{FF2B5EF4-FFF2-40B4-BE49-F238E27FC236}">
                <a16:creationId xmlns:a16="http://schemas.microsoft.com/office/drawing/2014/main" id="{45766704-ED0A-87C9-5601-C2F9143AC9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485" name="Google Shape;485;g310c24f165f_0_108:notes">
            <a:extLst>
              <a:ext uri="{FF2B5EF4-FFF2-40B4-BE49-F238E27FC236}">
                <a16:creationId xmlns:a16="http://schemas.microsoft.com/office/drawing/2014/main" id="{AEAE0912-A13B-CFFC-E91D-4B8513C16B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7191418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310c24f165f_0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494" name="Google Shape;494;g310c24f165f_0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2">
          <a:extLst>
            <a:ext uri="{FF2B5EF4-FFF2-40B4-BE49-F238E27FC236}">
              <a16:creationId xmlns:a16="http://schemas.microsoft.com/office/drawing/2014/main" id="{A497A868-C756-0DEC-B70D-CE7472E24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310c24f165f_0_116:notes">
            <a:extLst>
              <a:ext uri="{FF2B5EF4-FFF2-40B4-BE49-F238E27FC236}">
                <a16:creationId xmlns:a16="http://schemas.microsoft.com/office/drawing/2014/main" id="{D9A75DAF-55AF-7B06-A997-F33FF77C95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494" name="Google Shape;494;g310c24f165f_0_116:notes">
            <a:extLst>
              <a:ext uri="{FF2B5EF4-FFF2-40B4-BE49-F238E27FC236}">
                <a16:creationId xmlns:a16="http://schemas.microsoft.com/office/drawing/2014/main" id="{BDB1B769-A868-B4AF-A131-07BD84F4DE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0188108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2">
          <a:extLst>
            <a:ext uri="{FF2B5EF4-FFF2-40B4-BE49-F238E27FC236}">
              <a16:creationId xmlns:a16="http://schemas.microsoft.com/office/drawing/2014/main" id="{24731C61-22CE-0A62-FB64-93CB5A9CE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310c24f165f_0_116:notes">
            <a:extLst>
              <a:ext uri="{FF2B5EF4-FFF2-40B4-BE49-F238E27FC236}">
                <a16:creationId xmlns:a16="http://schemas.microsoft.com/office/drawing/2014/main" id="{4CE5E00E-7E31-F581-F73D-47EAEA89F94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494" name="Google Shape;494;g310c24f165f_0_116:notes">
            <a:extLst>
              <a:ext uri="{FF2B5EF4-FFF2-40B4-BE49-F238E27FC236}">
                <a16:creationId xmlns:a16="http://schemas.microsoft.com/office/drawing/2014/main" id="{79452B20-ABA6-A897-81F3-A86C4F8182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9244289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2">
          <a:extLst>
            <a:ext uri="{FF2B5EF4-FFF2-40B4-BE49-F238E27FC236}">
              <a16:creationId xmlns:a16="http://schemas.microsoft.com/office/drawing/2014/main" id="{51B6CDC2-BBFA-9B2E-6F49-0C0A709B32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310c24f165f_0_116:notes">
            <a:extLst>
              <a:ext uri="{FF2B5EF4-FFF2-40B4-BE49-F238E27FC236}">
                <a16:creationId xmlns:a16="http://schemas.microsoft.com/office/drawing/2014/main" id="{24ABDFC6-5629-8374-77C6-A7A1DE9F35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494" name="Google Shape;494;g310c24f165f_0_116:notes">
            <a:extLst>
              <a:ext uri="{FF2B5EF4-FFF2-40B4-BE49-F238E27FC236}">
                <a16:creationId xmlns:a16="http://schemas.microsoft.com/office/drawing/2014/main" id="{623D6581-2FBE-DAB4-017B-FDD16C7FDA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8204582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310c24f165f_0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512" name="Google Shape;512;g310c24f165f_0_1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layout with centered title and subtitle placeholders" type="title">
  <p:cSld name="TITLE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62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6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" name="Google Shape;21;p62"/>
          <p:cNvSpPr txBox="1">
            <a:spLocks noGrp="1"/>
          </p:cNvSpPr>
          <p:nvPr>
            <p:ph type="dt" idx="10"/>
          </p:nvPr>
        </p:nvSpPr>
        <p:spPr>
          <a:xfrm>
            <a:off x="457200" y="6243637"/>
            <a:ext cx="2132012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62"/>
          <p:cNvSpPr txBox="1">
            <a:spLocks noGrp="1"/>
          </p:cNvSpPr>
          <p:nvPr>
            <p:ph type="ftr" idx="11"/>
          </p:nvPr>
        </p:nvSpPr>
        <p:spPr>
          <a:xfrm>
            <a:off x="3124200" y="6243637"/>
            <a:ext cx="2894012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62"/>
          <p:cNvSpPr txBox="1">
            <a:spLocks noGrp="1"/>
          </p:cNvSpPr>
          <p:nvPr>
            <p:ph type="sldNum" idx="12"/>
          </p:nvPr>
        </p:nvSpPr>
        <p:spPr>
          <a:xfrm>
            <a:off x="6553200" y="6243637"/>
            <a:ext cx="2132012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Garamond"/>
              <a:buNone/>
              <a:defRPr sz="1200" b="0" i="0" u="none" strike="noStrike" cap="non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Garamond"/>
              <a:buNone/>
              <a:defRPr sz="1200" b="0" i="0" u="none" strike="noStrike" cap="non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Garamond"/>
              <a:buNone/>
              <a:defRPr sz="1200" b="0" i="0" u="none" strike="noStrike" cap="non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Garamond"/>
              <a:buNone/>
              <a:defRPr sz="1200" b="0" i="0" u="none" strike="noStrike" cap="non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Garamond"/>
              <a:buNone/>
              <a:defRPr sz="1200" b="0" i="0" u="none" strike="noStrike" cap="non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Garamond"/>
              <a:buNone/>
              <a:defRPr sz="1200" b="0" i="0" u="none" strike="noStrike" cap="non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Garamond"/>
              <a:buNone/>
              <a:defRPr sz="1200" b="0" i="0" u="none" strike="noStrike" cap="non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Garamond"/>
              <a:buNone/>
              <a:defRPr sz="1200" b="0" i="0" u="none" strike="noStrike" cap="non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Garamond"/>
              <a:buNone/>
              <a:defRPr sz="1200" b="0" i="0" u="none" strike="noStrike" cap="non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2f0b059abbb_0_204"/>
          <p:cNvSpPr txBox="1">
            <a:spLocks noGrp="1"/>
          </p:cNvSpPr>
          <p:nvPr>
            <p:ph type="title"/>
          </p:nvPr>
        </p:nvSpPr>
        <p:spPr>
          <a:xfrm>
            <a:off x="457200" y="277813"/>
            <a:ext cx="8229600" cy="11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g2f0b059abbb_0_20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35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g2f0b059abbb_0_204"/>
          <p:cNvSpPr txBox="1">
            <a:spLocks noGrp="1"/>
          </p:cNvSpPr>
          <p:nvPr>
            <p:ph type="dt" idx="10"/>
          </p:nvPr>
        </p:nvSpPr>
        <p:spPr>
          <a:xfrm>
            <a:off x="457200" y="6243638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g2f0b059abbb_0_204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g2f0b059abbb_0_204"/>
          <p:cNvSpPr txBox="1">
            <a:spLocks noGrp="1"/>
          </p:cNvSpPr>
          <p:nvPr>
            <p:ph type="sldNum" idx="12"/>
          </p:nvPr>
        </p:nvSpPr>
        <p:spPr>
          <a:xfrm>
            <a:off x="6553200" y="6243638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Garamond"/>
              <a:buNone/>
              <a:defRPr sz="12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Garamond"/>
              <a:buNone/>
              <a:defRPr sz="12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Garamond"/>
              <a:buNone/>
              <a:defRPr sz="12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Garamond"/>
              <a:buNone/>
              <a:defRPr sz="12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Garamond"/>
              <a:buNone/>
              <a:defRPr sz="12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Garamond"/>
              <a:buNone/>
              <a:defRPr sz="12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Garamond"/>
              <a:buNone/>
              <a:defRPr sz="12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Garamond"/>
              <a:buNone/>
              <a:defRPr sz="12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Garamond"/>
              <a:buNone/>
              <a:defRPr sz="12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 type="tx">
  <p:cSld name="TITLE_AND_BODY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4"/>
          <p:cNvSpPr txBox="1">
            <a:spLocks noGrp="1"/>
          </p:cNvSpPr>
          <p:nvPr>
            <p:ph type="title"/>
          </p:nvPr>
        </p:nvSpPr>
        <p:spPr>
          <a:xfrm>
            <a:off x="457200" y="277812"/>
            <a:ext cx="8228012" cy="1138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8012" cy="4529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64"/>
          <p:cNvSpPr txBox="1">
            <a:spLocks noGrp="1"/>
          </p:cNvSpPr>
          <p:nvPr>
            <p:ph type="dt" idx="10"/>
          </p:nvPr>
        </p:nvSpPr>
        <p:spPr>
          <a:xfrm>
            <a:off x="457200" y="6243637"/>
            <a:ext cx="2132012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4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4012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4"/>
          <p:cNvSpPr txBox="1">
            <a:spLocks noGrp="1"/>
          </p:cNvSpPr>
          <p:nvPr>
            <p:ph type="sldNum" idx="12"/>
          </p:nvPr>
        </p:nvSpPr>
        <p:spPr>
          <a:xfrm>
            <a:off x="6553200" y="6243637"/>
            <a:ext cx="2132012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Garamond"/>
              <a:buNone/>
              <a:defRPr sz="1200" b="0" i="0" u="none" strike="noStrike" cap="non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Garamond"/>
              <a:buNone/>
              <a:defRPr sz="1200" b="0" i="0" u="none" strike="noStrike" cap="non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Garamond"/>
              <a:buNone/>
              <a:defRPr sz="1200" b="0" i="0" u="none" strike="noStrike" cap="non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Garamond"/>
              <a:buNone/>
              <a:defRPr sz="1200" b="0" i="0" u="none" strike="noStrike" cap="non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Garamond"/>
              <a:buNone/>
              <a:defRPr sz="1200" b="0" i="0" u="none" strike="noStrike" cap="non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Garamond"/>
              <a:buNone/>
              <a:defRPr sz="1200" b="0" i="0" u="none" strike="noStrike" cap="non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Garamond"/>
              <a:buNone/>
              <a:defRPr sz="1200" b="0" i="0" u="none" strike="noStrike" cap="non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Garamond"/>
              <a:buNone/>
              <a:defRPr sz="1200" b="0" i="0" u="none" strike="noStrike" cap="non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Garamond"/>
              <a:buNone/>
              <a:defRPr sz="1200" b="0" i="0" u="none" strike="noStrike" cap="non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61"/>
          <p:cNvSpPr txBox="1">
            <a:spLocks noGrp="1"/>
          </p:cNvSpPr>
          <p:nvPr>
            <p:ph type="title"/>
          </p:nvPr>
        </p:nvSpPr>
        <p:spPr>
          <a:xfrm>
            <a:off x="914400" y="1524000"/>
            <a:ext cx="7621587" cy="1751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rgbClr val="006633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rgbClr val="006633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rgbClr val="006633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rgbClr val="006633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rgbClr val="006633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rgbClr val="006633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rgbClr val="006633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rgbClr val="006633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rgbClr val="006633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endParaRPr/>
          </a:p>
        </p:txBody>
      </p:sp>
      <p:sp>
        <p:nvSpPr>
          <p:cNvPr id="13" name="Google Shape;13;p61"/>
          <p:cNvSpPr txBox="1">
            <a:spLocks noGrp="1"/>
          </p:cNvSpPr>
          <p:nvPr>
            <p:ph type="dt" idx="10"/>
          </p:nvPr>
        </p:nvSpPr>
        <p:spPr>
          <a:xfrm>
            <a:off x="457200" y="6243637"/>
            <a:ext cx="2132012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61"/>
          <p:cNvSpPr txBox="1">
            <a:spLocks noGrp="1"/>
          </p:cNvSpPr>
          <p:nvPr>
            <p:ph type="ftr" idx="11"/>
          </p:nvPr>
        </p:nvSpPr>
        <p:spPr>
          <a:xfrm>
            <a:off x="3124200" y="6243637"/>
            <a:ext cx="2894012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5;p61"/>
          <p:cNvSpPr txBox="1">
            <a:spLocks noGrp="1"/>
          </p:cNvSpPr>
          <p:nvPr>
            <p:ph type="sldNum" idx="12"/>
          </p:nvPr>
        </p:nvSpPr>
        <p:spPr>
          <a:xfrm>
            <a:off x="6553200" y="6243637"/>
            <a:ext cx="2132012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Garamond"/>
              <a:buNone/>
              <a:defRPr sz="1200" b="0" i="0" u="none" strike="noStrike" cap="non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Garamond"/>
              <a:buNone/>
              <a:defRPr sz="1200" b="0" i="0" u="none" strike="noStrike" cap="non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Garamond"/>
              <a:buNone/>
              <a:defRPr sz="1200" b="0" i="0" u="none" strike="noStrike" cap="non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Garamond"/>
              <a:buNone/>
              <a:defRPr sz="1200" b="0" i="0" u="none" strike="noStrike" cap="non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Garamond"/>
              <a:buNone/>
              <a:defRPr sz="1200" b="0" i="0" u="none" strike="noStrike" cap="non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Garamond"/>
              <a:buNone/>
              <a:defRPr sz="1200" b="0" i="0" u="none" strike="noStrike" cap="non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Garamond"/>
              <a:buNone/>
              <a:defRPr sz="1200" b="0" i="0" u="none" strike="noStrike" cap="non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Garamond"/>
              <a:buNone/>
              <a:defRPr sz="1200" b="0" i="0" u="none" strike="noStrike" cap="non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Garamond"/>
              <a:buNone/>
              <a:defRPr sz="1200" b="0" i="0" u="none" strike="noStrike" cap="non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61"/>
          <p:cNvSpPr/>
          <p:nvPr/>
        </p:nvSpPr>
        <p:spPr>
          <a:xfrm>
            <a:off x="609600" y="1219200"/>
            <a:ext cx="7924800" cy="914400"/>
          </a:xfrm>
          <a:custGeom>
            <a:avLst/>
            <a:gdLst/>
            <a:ahLst/>
            <a:cxnLst/>
            <a:rect l="l" t="t" r="r" b="b"/>
            <a:pathLst>
              <a:path w="1000" h="1000" extrusionOk="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550" cap="flat" cmpd="sng">
            <a:solidFill>
              <a:srgbClr val="CC99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" name="Google Shape;17;p61"/>
          <p:cNvCxnSpPr/>
          <p:nvPr/>
        </p:nvCxnSpPr>
        <p:spPr>
          <a:xfrm>
            <a:off x="1981200" y="3962400"/>
            <a:ext cx="6511925" cy="1587"/>
          </a:xfrm>
          <a:prstGeom prst="straightConnector1">
            <a:avLst/>
          </a:prstGeom>
          <a:noFill/>
          <a:ln w="19075" cap="flat" cmpd="sng">
            <a:solidFill>
              <a:srgbClr val="CC9900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3"/>
          <p:cNvSpPr txBox="1">
            <a:spLocks noGrp="1"/>
          </p:cNvSpPr>
          <p:nvPr>
            <p:ph type="title"/>
          </p:nvPr>
        </p:nvSpPr>
        <p:spPr>
          <a:xfrm>
            <a:off x="457200" y="277812"/>
            <a:ext cx="8228012" cy="1138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200" b="0" i="0" u="none" strike="noStrike" cap="none">
                <a:solidFill>
                  <a:srgbClr val="006633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200" b="0" i="0" u="none" strike="noStrike" cap="none">
                <a:solidFill>
                  <a:srgbClr val="006633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200" b="0" i="0" u="none" strike="noStrike" cap="none">
                <a:solidFill>
                  <a:srgbClr val="006633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200" b="0" i="0" u="none" strike="noStrike" cap="none">
                <a:solidFill>
                  <a:srgbClr val="006633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200" b="0" i="0" u="none" strike="noStrike" cap="none">
                <a:solidFill>
                  <a:srgbClr val="006633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200" b="0" i="0" u="none" strike="noStrike" cap="none">
                <a:solidFill>
                  <a:srgbClr val="006633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200" b="0" i="0" u="none" strike="noStrike" cap="none">
                <a:solidFill>
                  <a:srgbClr val="006633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200" b="0" i="0" u="none" strike="noStrike" cap="none">
                <a:solidFill>
                  <a:srgbClr val="006633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200" b="0" i="0" u="none" strike="noStrike" cap="none">
                <a:solidFill>
                  <a:srgbClr val="006633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endParaRPr/>
          </a:p>
        </p:txBody>
      </p:sp>
      <p:sp>
        <p:nvSpPr>
          <p:cNvPr id="26" name="Google Shape;26;p6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8012" cy="4529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" name="Google Shape;27;p63"/>
          <p:cNvSpPr txBox="1">
            <a:spLocks noGrp="1"/>
          </p:cNvSpPr>
          <p:nvPr>
            <p:ph type="dt" idx="10"/>
          </p:nvPr>
        </p:nvSpPr>
        <p:spPr>
          <a:xfrm>
            <a:off x="457200" y="6243637"/>
            <a:ext cx="2132012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Google Shape;28;p63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4012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" name="Google Shape;29;p63"/>
          <p:cNvSpPr txBox="1">
            <a:spLocks noGrp="1"/>
          </p:cNvSpPr>
          <p:nvPr>
            <p:ph type="sldNum" idx="12"/>
          </p:nvPr>
        </p:nvSpPr>
        <p:spPr>
          <a:xfrm>
            <a:off x="6553200" y="6243637"/>
            <a:ext cx="2132012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Garamond"/>
              <a:buNone/>
              <a:defRPr sz="1200" b="0" i="0" u="none" strike="noStrike" cap="non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Garamond"/>
              <a:buNone/>
              <a:defRPr sz="1200" b="0" i="0" u="none" strike="noStrike" cap="non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Garamond"/>
              <a:buNone/>
              <a:defRPr sz="1200" b="0" i="0" u="none" strike="noStrike" cap="non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Garamond"/>
              <a:buNone/>
              <a:defRPr sz="1200" b="0" i="0" u="none" strike="noStrike" cap="non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Garamond"/>
              <a:buNone/>
              <a:defRPr sz="1200" b="0" i="0" u="none" strike="noStrike" cap="non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Garamond"/>
              <a:buNone/>
              <a:defRPr sz="1200" b="0" i="0" u="none" strike="noStrike" cap="non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Garamond"/>
              <a:buNone/>
              <a:defRPr sz="1200" b="0" i="0" u="none" strike="noStrike" cap="non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Garamond"/>
              <a:buNone/>
              <a:defRPr sz="1200" b="0" i="0" u="none" strike="noStrike" cap="non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Garamond"/>
              <a:buNone/>
              <a:defRPr sz="1200" b="0" i="0" u="none" strike="noStrike" cap="non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63"/>
          <p:cNvSpPr/>
          <p:nvPr/>
        </p:nvSpPr>
        <p:spPr>
          <a:xfrm>
            <a:off x="381000" y="228600"/>
            <a:ext cx="8229600" cy="609600"/>
          </a:xfrm>
          <a:custGeom>
            <a:avLst/>
            <a:gdLst/>
            <a:ahLst/>
            <a:cxnLst/>
            <a:rect l="l" t="t" r="r" b="b"/>
            <a:pathLst>
              <a:path w="1000" h="1000" extrusionOk="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75" cap="flat" cmpd="sng">
            <a:solidFill>
              <a:srgbClr val="CC99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31;p63"/>
          <p:cNvCxnSpPr/>
          <p:nvPr/>
        </p:nvCxnSpPr>
        <p:spPr>
          <a:xfrm>
            <a:off x="457200" y="6172200"/>
            <a:ext cx="8229600" cy="1587"/>
          </a:xfrm>
          <a:prstGeom prst="straightConnector1">
            <a:avLst/>
          </a:prstGeom>
          <a:noFill/>
          <a:ln w="19075" cap="flat" cmpd="sng">
            <a:solidFill>
              <a:srgbClr val="CC9900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2d9cf19e6a7_0_0"/>
          <p:cNvSpPr/>
          <p:nvPr/>
        </p:nvSpPr>
        <p:spPr>
          <a:xfrm>
            <a:off x="0" y="-1"/>
            <a:ext cx="9143700" cy="685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g2d9cf19e6a7_0_0"/>
          <p:cNvSpPr/>
          <p:nvPr/>
        </p:nvSpPr>
        <p:spPr>
          <a:xfrm>
            <a:off x="228" y="0"/>
            <a:ext cx="91437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" name="Google Shape;50;g2d9cf19e6a7_0_0" descr="A blue circle with white flame in the middle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5352" y="2371869"/>
            <a:ext cx="3106320" cy="3031658"/>
          </a:xfrm>
          <a:custGeom>
            <a:avLst/>
            <a:gdLst/>
            <a:ahLst/>
            <a:cxnLst/>
            <a:rect l="l" t="t" r="r" b="b"/>
            <a:pathLst>
              <a:path w="4141760" h="4377846" extrusionOk="0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  <a:noFill/>
          <a:ln>
            <a:noFill/>
          </a:ln>
        </p:spPr>
      </p:pic>
      <p:grpSp>
        <p:nvGrpSpPr>
          <p:cNvPr id="51" name="Google Shape;51;g2d9cf19e6a7_0_0"/>
          <p:cNvGrpSpPr/>
          <p:nvPr/>
        </p:nvGrpSpPr>
        <p:grpSpPr>
          <a:xfrm>
            <a:off x="-7315" y="-5977"/>
            <a:ext cx="4683132" cy="6863979"/>
            <a:chOff x="-5196" y="-5977"/>
            <a:chExt cx="6244176" cy="6863979"/>
          </a:xfrm>
        </p:grpSpPr>
        <p:sp>
          <p:nvSpPr>
            <p:cNvPr id="52" name="Google Shape;52;g2d9cf19e6a7_0_0"/>
            <p:cNvSpPr/>
            <p:nvPr/>
          </p:nvSpPr>
          <p:spPr>
            <a:xfrm flipH="1">
              <a:off x="305" y="34854"/>
              <a:ext cx="6028697" cy="6817170"/>
            </a:xfrm>
            <a:custGeom>
              <a:avLst/>
              <a:gdLst/>
              <a:ahLst/>
              <a:cxnLst/>
              <a:rect l="l" t="t" r="r" b="b"/>
              <a:pathLst>
                <a:path w="6028697" h="6817170" extrusionOk="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8627"/>
                  </a:srgbClr>
                </a:gs>
                <a:gs pos="2000">
                  <a:srgbClr val="FFFFFF">
                    <a:alpha val="8627"/>
                  </a:srgbClr>
                </a:gs>
                <a:gs pos="16000">
                  <a:srgbClr val="35742A">
                    <a:alpha val="8627"/>
                  </a:srgbClr>
                </a:gs>
                <a:gs pos="85000">
                  <a:srgbClr val="CC9900">
                    <a:alpha val="8627"/>
                  </a:srgbClr>
                </a:gs>
                <a:gs pos="100000">
                  <a:srgbClr val="FFFFFF">
                    <a:alpha val="8627"/>
                  </a:srgbClr>
                </a:gs>
              </a:gsLst>
              <a:lin ang="12000143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g2d9cf19e6a7_0_0"/>
            <p:cNvSpPr/>
            <p:nvPr/>
          </p:nvSpPr>
          <p:spPr>
            <a:xfrm flipH="1">
              <a:off x="-5196" y="1"/>
              <a:ext cx="6170617" cy="6858001"/>
            </a:xfrm>
            <a:custGeom>
              <a:avLst/>
              <a:gdLst/>
              <a:ahLst/>
              <a:cxnLst/>
              <a:rect l="l" t="t" r="r" b="b"/>
              <a:pathLst>
                <a:path w="6264586" h="6858001" extrusionOk="0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8627"/>
                  </a:srgbClr>
                </a:gs>
                <a:gs pos="2000">
                  <a:srgbClr val="FFFFFF">
                    <a:alpha val="8627"/>
                  </a:srgbClr>
                </a:gs>
                <a:gs pos="16000">
                  <a:srgbClr val="35742A">
                    <a:alpha val="8627"/>
                  </a:srgbClr>
                </a:gs>
                <a:gs pos="85000">
                  <a:srgbClr val="CC9900">
                    <a:alpha val="8627"/>
                  </a:srgbClr>
                </a:gs>
                <a:gs pos="100000">
                  <a:srgbClr val="FFFFFF">
                    <a:alpha val="8627"/>
                  </a:srgbClr>
                </a:gs>
              </a:gsLst>
              <a:lin ang="12000143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54;g2d9cf19e6a7_0_0"/>
            <p:cNvSpPr/>
            <p:nvPr/>
          </p:nvSpPr>
          <p:spPr>
            <a:xfrm flipH="1">
              <a:off x="5717" y="-5977"/>
              <a:ext cx="6233263" cy="6858001"/>
            </a:xfrm>
            <a:custGeom>
              <a:avLst/>
              <a:gdLst/>
              <a:ahLst/>
              <a:cxnLst/>
              <a:rect l="l" t="t" r="r" b="b"/>
              <a:pathLst>
                <a:path w="6264586" h="6858001" extrusionOk="0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8627"/>
                  </a:srgbClr>
                </a:gs>
                <a:gs pos="2000">
                  <a:srgbClr val="FFFFFF">
                    <a:alpha val="8627"/>
                  </a:srgbClr>
                </a:gs>
                <a:gs pos="16000">
                  <a:srgbClr val="35742A">
                    <a:alpha val="8627"/>
                  </a:srgbClr>
                </a:gs>
                <a:gs pos="85000">
                  <a:srgbClr val="CC9900">
                    <a:alpha val="8627"/>
                  </a:srgbClr>
                </a:gs>
                <a:gs pos="100000">
                  <a:srgbClr val="FFFFFF">
                    <a:alpha val="8627"/>
                  </a:srgbClr>
                </a:gs>
              </a:gsLst>
              <a:lin ang="12000143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6" name="Google Shape;56;g2d9cf19e6a7_0_0"/>
          <p:cNvSpPr txBox="1"/>
          <p:nvPr/>
        </p:nvSpPr>
        <p:spPr>
          <a:xfrm>
            <a:off x="4943000" y="4267829"/>
            <a:ext cx="3604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lvl="0">
              <a:buSzPct val="100000"/>
            </a:pPr>
            <a:r>
              <a:rPr lang="es-MX" sz="5000" b="1" i="0" u="none" strike="noStrike" cap="none" dirty="0">
                <a:solidFill>
                  <a:srgbClr val="006633"/>
                </a:solidFill>
                <a:latin typeface="Arial"/>
                <a:ea typeface="Arial"/>
                <a:cs typeface="Arial"/>
                <a:sym typeface="Arial"/>
              </a:rPr>
              <a:t>Repaso</a:t>
            </a:r>
            <a:endParaRPr sz="5000" b="1" i="0" u="none" strike="noStrike" cap="none" dirty="0">
              <a:solidFill>
                <a:srgbClr val="0066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105;p1">
            <a:extLst>
              <a:ext uri="{FF2B5EF4-FFF2-40B4-BE49-F238E27FC236}">
                <a16:creationId xmlns:a16="http://schemas.microsoft.com/office/drawing/2014/main" id="{8BF4053E-9396-199A-0B79-0D182CEB6649}"/>
              </a:ext>
            </a:extLst>
          </p:cNvPr>
          <p:cNvSpPr txBox="1">
            <a:spLocks/>
          </p:cNvSpPr>
          <p:nvPr/>
        </p:nvSpPr>
        <p:spPr>
          <a:xfrm>
            <a:off x="3360930" y="249228"/>
            <a:ext cx="5782200" cy="343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2425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1820"/>
              <a:buFont typeface="Noto Sans Symbols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766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080"/>
              <a:buFont typeface="Noto Sans Symbols"/>
              <a:buChar char="❑"/>
              <a:defRPr sz="2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940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170"/>
              <a:buFont typeface="Noto Sans Symbols"/>
              <a:buChar char="■"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260"/>
              <a:buFont typeface="Noto Sans Symbols"/>
              <a:buChar char="❑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238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35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9900"/>
              </a:buClr>
              <a:buSzPts val="2600"/>
              <a:buFont typeface="Noto Sans Symbols"/>
              <a:buNone/>
              <a:tabLst/>
              <a:defRPr/>
            </a:pPr>
            <a:r>
              <a:rPr kumimoji="0" lang="es-MX" sz="3000" b="1" i="0" u="none" strike="noStrike" kern="0" cap="none" spc="0" normalizeH="0" baseline="0" noProof="0" dirty="0">
                <a:ln>
                  <a:noFill/>
                </a:ln>
                <a:solidFill>
                  <a:srgbClr val="006633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TC2008B Modelación de Sistemas </a:t>
            </a:r>
            <a:r>
              <a:rPr kumimoji="0" lang="es-MX" sz="3000" b="1" i="0" u="none" strike="noStrike" kern="0" cap="none" spc="0" normalizeH="0" baseline="0" noProof="0" dirty="0" err="1">
                <a:ln>
                  <a:noFill/>
                </a:ln>
                <a:solidFill>
                  <a:srgbClr val="006633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Multiagentes</a:t>
            </a:r>
            <a:r>
              <a:rPr kumimoji="0" lang="es-MX" sz="3000" b="1" i="0" u="none" strike="noStrike" kern="0" cap="none" spc="0" normalizeH="0" baseline="0" noProof="0" dirty="0">
                <a:ln>
                  <a:noFill/>
                </a:ln>
                <a:solidFill>
                  <a:srgbClr val="006633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con Gráficos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9900"/>
              </a:buClr>
              <a:buSzPts val="2600"/>
              <a:buFont typeface="Noto Sans Symbols"/>
              <a:buNone/>
              <a:tabLst/>
              <a:defRPr/>
            </a:pPr>
            <a:endParaRPr kumimoji="0" lang="es-MX" sz="3383" b="1" i="0" u="none" strike="noStrike" kern="0" cap="none" spc="0" normalizeH="0" baseline="0" noProof="0" dirty="0">
              <a:ln>
                <a:noFill/>
              </a:ln>
              <a:solidFill>
                <a:srgbClr val="006633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9900"/>
              </a:buClr>
              <a:buSzPts val="2600"/>
              <a:buFont typeface="Noto Sans Symbols"/>
              <a:buNone/>
              <a:tabLst/>
              <a:defRPr/>
            </a:pPr>
            <a:r>
              <a:rPr kumimoji="0" lang="es-MX" sz="2000" b="1" i="0" u="none" strike="noStrike" kern="0" cap="none" spc="0" normalizeH="0" baseline="0" noProof="0" dirty="0">
                <a:ln>
                  <a:noFill/>
                </a:ln>
                <a:solidFill>
                  <a:srgbClr val="006633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Alan Flores Saldivar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Symbols"/>
              <a:buNone/>
              <a:tabLst/>
              <a:defRPr/>
            </a:pPr>
            <a:r>
              <a:rPr kumimoji="0" lang="es-MX" sz="2000" b="0" i="0" u="none" strike="noStrike" kern="0" cap="none" spc="0" normalizeH="0" baseline="0" noProof="0" dirty="0">
                <a:ln>
                  <a:noFill/>
                </a:ln>
                <a:solidFill>
                  <a:srgbClr val="006633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Escuela de Ingeniería y Ciencias
Departamento de Ciencias de la Computación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Symbols"/>
              <a:buNone/>
              <a:tabLst/>
              <a:defRPr/>
            </a:pPr>
            <a:r>
              <a:rPr kumimoji="0" lang="es-MX" sz="2000" b="1" i="0" u="none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alan.flores_s@tec.mx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Symbols"/>
              <a:buNone/>
              <a:tabLst/>
              <a:defRPr/>
            </a:pPr>
            <a:endParaRPr kumimoji="0" lang="es-MX" sz="900" b="0" i="0" u="none" strike="noStrike" kern="0" cap="none" spc="0" normalizeH="0" baseline="0" noProof="0" dirty="0">
              <a:ln>
                <a:noFill/>
              </a:ln>
              <a:solidFill>
                <a:srgbClr val="006633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10c24f165f_0_66"/>
          <p:cNvSpPr txBox="1">
            <a:spLocks noGrp="1"/>
          </p:cNvSpPr>
          <p:nvPr>
            <p:ph type="body" idx="1"/>
          </p:nvPr>
        </p:nvSpPr>
        <p:spPr>
          <a:xfrm>
            <a:off x="457200" y="868680"/>
            <a:ext cx="8229600" cy="2731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520"/>
              </a:spcBef>
            </a:pPr>
            <a:r>
              <a:rPr lang="es-MX" sz="2100" i="1" dirty="0">
                <a:solidFill>
                  <a:schemeClr val="dk1"/>
                </a:solidFill>
              </a:rPr>
              <a:t>Una aplicación de navegación que da instrucciones de manejo en lenguaje sencillo.</a:t>
            </a:r>
          </a:p>
          <a:p>
            <a:pPr marL="0" lvl="0" indent="0">
              <a:spcBef>
                <a:spcPts val="520"/>
              </a:spcBef>
            </a:pPr>
            <a:r>
              <a:rPr lang="es-MX" sz="2100" i="1" dirty="0">
                <a:solidFill>
                  <a:schemeClr val="dk1"/>
                </a:solidFill>
              </a:rPr>
              <a:t>Un traductor de voz que convierte expresiones técnicas en explicaciones simples.</a:t>
            </a:r>
          </a:p>
          <a:p>
            <a:pPr marL="0" lvl="0" indent="0">
              <a:spcBef>
                <a:spcPts val="520"/>
              </a:spcBef>
            </a:pPr>
            <a:r>
              <a:rPr lang="es-MX" sz="2100" i="1" dirty="0">
                <a:solidFill>
                  <a:schemeClr val="dk1"/>
                </a:solidFill>
              </a:rPr>
              <a:t>Plataformas de educación en línea que ajustan el nivel de dificultad a cada estudiante</a:t>
            </a:r>
            <a:endParaRPr sz="2300" b="1" i="1" dirty="0">
              <a:solidFill>
                <a:srgbClr val="003399"/>
              </a:solidFill>
            </a:endParaRPr>
          </a:p>
          <a:p>
            <a:pPr marL="0" lvl="0" indent="0">
              <a:spcBef>
                <a:spcPts val="520"/>
              </a:spcBef>
            </a:pPr>
            <a:r>
              <a:rPr lang="es-MX" sz="2300" b="1" dirty="0">
                <a:solidFill>
                  <a:schemeClr val="dk1"/>
                </a:solidFill>
              </a:rPr>
              <a:t>podrían considerarse ejemplos de</a:t>
            </a:r>
            <a:r>
              <a:rPr lang="en-US" sz="2300" b="1" dirty="0">
                <a:solidFill>
                  <a:schemeClr val="dk1"/>
                </a:solidFill>
              </a:rPr>
              <a:t>:</a:t>
            </a:r>
            <a:endParaRPr sz="1700" b="1" dirty="0"/>
          </a:p>
        </p:txBody>
      </p:sp>
      <p:sp>
        <p:nvSpPr>
          <p:cNvPr id="2" name="Google Shape;425;g310c24f165f_0_52">
            <a:extLst>
              <a:ext uri="{FF2B5EF4-FFF2-40B4-BE49-F238E27FC236}">
                <a16:creationId xmlns:a16="http://schemas.microsoft.com/office/drawing/2014/main" id="{F0F2E3E1-439A-D488-0B8B-822ED4792AED}"/>
              </a:ext>
            </a:extLst>
          </p:cNvPr>
          <p:cNvSpPr txBox="1"/>
          <p:nvPr/>
        </p:nvSpPr>
        <p:spPr>
          <a:xfrm>
            <a:off x="457200" y="3691890"/>
            <a:ext cx="4262700" cy="2100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spcBef>
                <a:spcPts val="520"/>
              </a:spcBef>
            </a:pPr>
            <a:r>
              <a:rPr lang="en-US" sz="2300" b="1" i="1" dirty="0" err="1">
                <a:solidFill>
                  <a:srgbClr val="003399"/>
                </a:solidFill>
              </a:rPr>
              <a:t>ubicuidad</a:t>
            </a:r>
            <a:r>
              <a:rPr lang="en-US" sz="2300" b="1" dirty="0">
                <a:solidFill>
                  <a:schemeClr val="dk1"/>
                </a:solidFill>
              </a:rPr>
              <a:t>: </a:t>
            </a:r>
            <a:r>
              <a:rPr lang="es-MX" sz="1500" dirty="0">
                <a:solidFill>
                  <a:schemeClr val="dk1"/>
                </a:solidFill>
              </a:rPr>
              <a:t>Presente en cualquier lugar y en cualquier momento</a:t>
            </a:r>
            <a:r>
              <a:rPr lang="en-US" sz="1500" dirty="0">
                <a:solidFill>
                  <a:schemeClr val="dk1"/>
                </a:solidFill>
              </a:rPr>
              <a:t>.</a:t>
            </a:r>
            <a:endParaRPr sz="700" dirty="0">
              <a:solidFill>
                <a:schemeClr val="dk1"/>
              </a:solidFill>
            </a:endParaRPr>
          </a:p>
          <a:p>
            <a:pPr lvl="0">
              <a:spcBef>
                <a:spcPts val="520"/>
              </a:spcBef>
            </a:pPr>
            <a:r>
              <a:rPr lang="en-US" sz="2300" b="1" i="1" dirty="0" err="1">
                <a:solidFill>
                  <a:srgbClr val="003399"/>
                </a:solidFill>
              </a:rPr>
              <a:t>Interconexión</a:t>
            </a:r>
            <a:r>
              <a:rPr lang="en-US" sz="2300" b="1" dirty="0">
                <a:solidFill>
                  <a:schemeClr val="dk1"/>
                </a:solidFill>
              </a:rPr>
              <a:t>:</a:t>
            </a:r>
            <a:r>
              <a:rPr lang="en-US" sz="2300" dirty="0">
                <a:solidFill>
                  <a:schemeClr val="dk1"/>
                </a:solidFill>
              </a:rPr>
              <a:t> </a:t>
            </a:r>
            <a:r>
              <a:rPr lang="es-MX" dirty="0">
                <a:solidFill>
                  <a:schemeClr val="dk1"/>
                </a:solidFill>
              </a:rPr>
              <a:t>Comunicación perpetua entre sistemas o agentes</a:t>
            </a:r>
            <a:r>
              <a:rPr lang="en-US" dirty="0">
                <a:solidFill>
                  <a:schemeClr val="dk1"/>
                </a:solidFill>
              </a:rPr>
              <a:t>.</a:t>
            </a:r>
            <a:endParaRPr dirty="0">
              <a:solidFill>
                <a:schemeClr val="dk1"/>
              </a:solidFill>
            </a:endParaRPr>
          </a:p>
          <a:p>
            <a:pPr lvl="0">
              <a:spcBef>
                <a:spcPts val="520"/>
              </a:spcBef>
            </a:pPr>
            <a:r>
              <a:rPr lang="en-US" sz="2300" b="1" i="1" dirty="0" err="1">
                <a:solidFill>
                  <a:srgbClr val="003399"/>
                </a:solidFill>
              </a:rPr>
              <a:t>inteligencia</a:t>
            </a:r>
            <a:r>
              <a:rPr lang="en-US" sz="2300" b="1" dirty="0">
                <a:solidFill>
                  <a:schemeClr val="dk1"/>
                </a:solidFill>
              </a:rPr>
              <a:t>: </a:t>
            </a:r>
            <a:r>
              <a:rPr lang="es-MX" dirty="0">
                <a:solidFill>
                  <a:schemeClr val="dk1"/>
                </a:solidFill>
              </a:rPr>
              <a:t>Capacidad para aprender, comprender y tomar decisiones</a:t>
            </a:r>
            <a:r>
              <a:rPr lang="en-US" dirty="0">
                <a:solidFill>
                  <a:schemeClr val="dk1"/>
                </a:solidFill>
              </a:rPr>
              <a:t>.</a:t>
            </a:r>
            <a:endParaRPr dirty="0"/>
          </a:p>
        </p:txBody>
      </p:sp>
      <p:sp>
        <p:nvSpPr>
          <p:cNvPr id="3" name="Google Shape;426;g310c24f165f_0_52">
            <a:extLst>
              <a:ext uri="{FF2B5EF4-FFF2-40B4-BE49-F238E27FC236}">
                <a16:creationId xmlns:a16="http://schemas.microsoft.com/office/drawing/2014/main" id="{915DCB81-66F8-357F-C1E2-5612F613CA1E}"/>
              </a:ext>
            </a:extLst>
          </p:cNvPr>
          <p:cNvSpPr txBox="1"/>
          <p:nvPr/>
        </p:nvSpPr>
        <p:spPr>
          <a:xfrm>
            <a:off x="4719900" y="3817590"/>
            <a:ext cx="4184100" cy="16209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spcBef>
                <a:spcPts val="520"/>
              </a:spcBef>
            </a:pPr>
            <a:r>
              <a:rPr lang="en-US" sz="2300" b="1" i="1" dirty="0" err="1">
                <a:solidFill>
                  <a:srgbClr val="003399"/>
                </a:solidFill>
              </a:rPr>
              <a:t>delegación</a:t>
            </a:r>
            <a:r>
              <a:rPr lang="en-US" sz="2300" b="1" dirty="0">
                <a:solidFill>
                  <a:schemeClr val="dk1"/>
                </a:solidFill>
              </a:rPr>
              <a:t>:</a:t>
            </a:r>
            <a:r>
              <a:rPr lang="en-US" sz="2300" dirty="0">
                <a:solidFill>
                  <a:schemeClr val="dk1"/>
                </a:solidFill>
              </a:rPr>
              <a:t> </a:t>
            </a:r>
            <a:r>
              <a:rPr lang="en-US" sz="1300" dirty="0" err="1">
                <a:solidFill>
                  <a:schemeClr val="dk1"/>
                </a:solidFill>
              </a:rPr>
              <a:t>Asignar</a:t>
            </a:r>
            <a:r>
              <a:rPr lang="en-US" sz="1300" dirty="0">
                <a:solidFill>
                  <a:schemeClr val="dk1"/>
                </a:solidFill>
              </a:rPr>
              <a:t> </a:t>
            </a:r>
            <a:r>
              <a:rPr lang="en-US" sz="1300" dirty="0" err="1">
                <a:solidFill>
                  <a:schemeClr val="dk1"/>
                </a:solidFill>
              </a:rPr>
              <a:t>tareas</a:t>
            </a:r>
            <a:r>
              <a:rPr lang="en-US" sz="1300" dirty="0">
                <a:solidFill>
                  <a:schemeClr val="dk1"/>
                </a:solidFill>
              </a:rPr>
              <a:t> o </a:t>
            </a:r>
            <a:r>
              <a:rPr lang="en-US" sz="1300" dirty="0" err="1">
                <a:solidFill>
                  <a:schemeClr val="dk1"/>
                </a:solidFill>
              </a:rPr>
              <a:t>responsabilidades</a:t>
            </a:r>
            <a:r>
              <a:rPr lang="en-US" sz="1300" dirty="0">
                <a:solidFill>
                  <a:schemeClr val="dk1"/>
                </a:solidFill>
              </a:rPr>
              <a:t> a un </a:t>
            </a:r>
            <a:r>
              <a:rPr lang="en-US" sz="1300" dirty="0" err="1">
                <a:solidFill>
                  <a:schemeClr val="dk1"/>
                </a:solidFill>
              </a:rPr>
              <a:t>sistema</a:t>
            </a:r>
            <a:r>
              <a:rPr lang="en-US" sz="1300" dirty="0">
                <a:solidFill>
                  <a:schemeClr val="dk1"/>
                </a:solidFill>
              </a:rPr>
              <a:t>.</a:t>
            </a:r>
            <a:endParaRPr sz="1300" dirty="0">
              <a:solidFill>
                <a:schemeClr val="dk1"/>
              </a:solidFill>
            </a:endParaRPr>
          </a:p>
          <a:p>
            <a:pPr lvl="0">
              <a:spcBef>
                <a:spcPts val="520"/>
              </a:spcBef>
            </a:pPr>
            <a:r>
              <a:rPr lang="en-US" sz="2300" b="1" i="1" dirty="0" err="1">
                <a:solidFill>
                  <a:srgbClr val="003399"/>
                </a:solidFill>
              </a:rPr>
              <a:t>orientación</a:t>
            </a:r>
            <a:r>
              <a:rPr lang="en-US" sz="2300" b="1" i="1" dirty="0">
                <a:solidFill>
                  <a:srgbClr val="003399"/>
                </a:solidFill>
              </a:rPr>
              <a:t> humana</a:t>
            </a:r>
            <a:r>
              <a:rPr lang="en-US" sz="2300" b="1" dirty="0">
                <a:solidFill>
                  <a:schemeClr val="dk1"/>
                </a:solidFill>
              </a:rPr>
              <a:t>: </a:t>
            </a:r>
            <a:r>
              <a:rPr lang="es-MX" sz="1300" dirty="0">
                <a:solidFill>
                  <a:schemeClr val="dk1"/>
                </a:solidFill>
              </a:rPr>
              <a:t>Diseñar sistemas e interacciones con un enfoque en las necesidades y la comprensión humanas</a:t>
            </a:r>
            <a:r>
              <a:rPr lang="en-US" sz="1300" dirty="0">
                <a:solidFill>
                  <a:schemeClr val="dk1"/>
                </a:solidFill>
              </a:rPr>
              <a:t>.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7" name="Google Shape;423;g310c24f165f_0_52">
            <a:extLst>
              <a:ext uri="{FF2B5EF4-FFF2-40B4-BE49-F238E27FC236}">
                <a16:creationId xmlns:a16="http://schemas.microsoft.com/office/drawing/2014/main" id="{3152C542-8D89-47B2-5935-15A9638FC70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77822"/>
            <a:ext cx="8229600" cy="8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US" dirty="0" err="1"/>
              <a:t>Repaso</a:t>
            </a:r>
            <a:r>
              <a:rPr lang="en-US" dirty="0"/>
              <a:t>: Medio </a:t>
            </a:r>
            <a:r>
              <a:rPr lang="en-US" dirty="0" err="1"/>
              <a:t>ambiente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8">
          <a:extLst>
            <a:ext uri="{FF2B5EF4-FFF2-40B4-BE49-F238E27FC236}">
              <a16:creationId xmlns:a16="http://schemas.microsoft.com/office/drawing/2014/main" id="{705D1BDA-4C8B-F988-19C1-1EF9C451E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10c24f165f_0_66">
            <a:extLst>
              <a:ext uri="{FF2B5EF4-FFF2-40B4-BE49-F238E27FC236}">
                <a16:creationId xmlns:a16="http://schemas.microsoft.com/office/drawing/2014/main" id="{C9AA1127-C497-25AA-EED7-7DFDD97760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868680"/>
            <a:ext cx="8229600" cy="2731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520"/>
              </a:spcBef>
            </a:pPr>
            <a:r>
              <a:rPr lang="es-MX" sz="2100" i="1" dirty="0">
                <a:solidFill>
                  <a:schemeClr val="dk1"/>
                </a:solidFill>
              </a:rPr>
              <a:t>Una aplicación de navegación que da instrucciones de manejo en lenguaje sencillo.</a:t>
            </a:r>
          </a:p>
          <a:p>
            <a:pPr marL="0" lvl="0" indent="0">
              <a:spcBef>
                <a:spcPts val="520"/>
              </a:spcBef>
            </a:pPr>
            <a:r>
              <a:rPr lang="es-MX" sz="2100" i="1" dirty="0">
                <a:solidFill>
                  <a:schemeClr val="dk1"/>
                </a:solidFill>
              </a:rPr>
              <a:t>Un traductor de voz que convierte expresiones técnicas en explicaciones simples.</a:t>
            </a:r>
          </a:p>
          <a:p>
            <a:pPr marL="0" lvl="0" indent="0">
              <a:spcBef>
                <a:spcPts val="520"/>
              </a:spcBef>
            </a:pPr>
            <a:r>
              <a:rPr lang="es-MX" sz="2100" i="1" dirty="0">
                <a:solidFill>
                  <a:schemeClr val="dk1"/>
                </a:solidFill>
              </a:rPr>
              <a:t>Plataformas de educación en línea que ajustan el nivel de dificultad a cada estudiante</a:t>
            </a:r>
            <a:endParaRPr sz="2300" b="1" i="1" dirty="0">
              <a:solidFill>
                <a:srgbClr val="003399"/>
              </a:solidFill>
            </a:endParaRPr>
          </a:p>
          <a:p>
            <a:pPr marL="0" lvl="0" indent="0">
              <a:spcBef>
                <a:spcPts val="520"/>
              </a:spcBef>
            </a:pPr>
            <a:r>
              <a:rPr lang="es-MX" sz="2300" b="1" dirty="0">
                <a:solidFill>
                  <a:schemeClr val="dk1"/>
                </a:solidFill>
              </a:rPr>
              <a:t>podrían considerarse ejemplos de</a:t>
            </a:r>
            <a:r>
              <a:rPr lang="en-US" sz="2300" b="1" dirty="0">
                <a:solidFill>
                  <a:schemeClr val="dk1"/>
                </a:solidFill>
              </a:rPr>
              <a:t>:</a:t>
            </a:r>
            <a:endParaRPr sz="1700" b="1" dirty="0"/>
          </a:p>
        </p:txBody>
      </p:sp>
      <p:sp>
        <p:nvSpPr>
          <p:cNvPr id="2" name="Google Shape;425;g310c24f165f_0_52">
            <a:extLst>
              <a:ext uri="{FF2B5EF4-FFF2-40B4-BE49-F238E27FC236}">
                <a16:creationId xmlns:a16="http://schemas.microsoft.com/office/drawing/2014/main" id="{18037B41-758D-C0EB-F7E7-3008CC067851}"/>
              </a:ext>
            </a:extLst>
          </p:cNvPr>
          <p:cNvSpPr txBox="1"/>
          <p:nvPr/>
        </p:nvSpPr>
        <p:spPr>
          <a:xfrm>
            <a:off x="457200" y="3691890"/>
            <a:ext cx="4262700" cy="2100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spcBef>
                <a:spcPts val="520"/>
              </a:spcBef>
            </a:pPr>
            <a:r>
              <a:rPr lang="en-US" sz="2300" b="1" i="1" dirty="0" err="1">
                <a:solidFill>
                  <a:srgbClr val="003399"/>
                </a:solidFill>
              </a:rPr>
              <a:t>ubicuidad</a:t>
            </a:r>
            <a:r>
              <a:rPr lang="en-US" sz="2300" b="1" dirty="0">
                <a:solidFill>
                  <a:schemeClr val="dk1"/>
                </a:solidFill>
              </a:rPr>
              <a:t>: </a:t>
            </a:r>
            <a:r>
              <a:rPr lang="es-MX" sz="1500" dirty="0">
                <a:solidFill>
                  <a:schemeClr val="dk1"/>
                </a:solidFill>
              </a:rPr>
              <a:t>Presente en cualquier lugar y en cualquier momento</a:t>
            </a:r>
            <a:r>
              <a:rPr lang="en-US" sz="1500" dirty="0">
                <a:solidFill>
                  <a:schemeClr val="dk1"/>
                </a:solidFill>
              </a:rPr>
              <a:t>.</a:t>
            </a:r>
            <a:endParaRPr sz="700" dirty="0">
              <a:solidFill>
                <a:schemeClr val="dk1"/>
              </a:solidFill>
            </a:endParaRPr>
          </a:p>
          <a:p>
            <a:pPr lvl="0">
              <a:spcBef>
                <a:spcPts val="520"/>
              </a:spcBef>
            </a:pPr>
            <a:r>
              <a:rPr lang="en-US" sz="2300" b="1" i="1" dirty="0" err="1">
                <a:solidFill>
                  <a:srgbClr val="003399"/>
                </a:solidFill>
              </a:rPr>
              <a:t>Interconexión</a:t>
            </a:r>
            <a:r>
              <a:rPr lang="en-US" sz="2300" b="1" dirty="0">
                <a:solidFill>
                  <a:schemeClr val="dk1"/>
                </a:solidFill>
              </a:rPr>
              <a:t>:</a:t>
            </a:r>
            <a:r>
              <a:rPr lang="en-US" sz="2300" dirty="0">
                <a:solidFill>
                  <a:schemeClr val="dk1"/>
                </a:solidFill>
              </a:rPr>
              <a:t> </a:t>
            </a:r>
            <a:r>
              <a:rPr lang="es-MX" dirty="0">
                <a:solidFill>
                  <a:schemeClr val="dk1"/>
                </a:solidFill>
              </a:rPr>
              <a:t>Comunicación perpetua entre sistemas o agentes</a:t>
            </a:r>
            <a:r>
              <a:rPr lang="en-US" dirty="0">
                <a:solidFill>
                  <a:schemeClr val="dk1"/>
                </a:solidFill>
              </a:rPr>
              <a:t>.</a:t>
            </a:r>
            <a:endParaRPr dirty="0">
              <a:solidFill>
                <a:schemeClr val="dk1"/>
              </a:solidFill>
            </a:endParaRPr>
          </a:p>
          <a:p>
            <a:pPr lvl="0">
              <a:spcBef>
                <a:spcPts val="520"/>
              </a:spcBef>
            </a:pPr>
            <a:r>
              <a:rPr lang="en-US" sz="2300" b="1" i="1" dirty="0" err="1">
                <a:solidFill>
                  <a:srgbClr val="003399"/>
                </a:solidFill>
              </a:rPr>
              <a:t>inteligencia</a:t>
            </a:r>
            <a:r>
              <a:rPr lang="en-US" sz="2300" b="1" dirty="0">
                <a:solidFill>
                  <a:schemeClr val="dk1"/>
                </a:solidFill>
              </a:rPr>
              <a:t>: </a:t>
            </a:r>
            <a:r>
              <a:rPr lang="es-MX" dirty="0">
                <a:solidFill>
                  <a:schemeClr val="dk1"/>
                </a:solidFill>
              </a:rPr>
              <a:t>Capacidad para aprender, comprender y tomar decisiones</a:t>
            </a:r>
            <a:r>
              <a:rPr lang="en-US" dirty="0">
                <a:solidFill>
                  <a:schemeClr val="dk1"/>
                </a:solidFill>
              </a:rPr>
              <a:t>.</a:t>
            </a:r>
            <a:endParaRPr dirty="0"/>
          </a:p>
        </p:txBody>
      </p:sp>
      <p:sp>
        <p:nvSpPr>
          <p:cNvPr id="3" name="Google Shape;426;g310c24f165f_0_52">
            <a:extLst>
              <a:ext uri="{FF2B5EF4-FFF2-40B4-BE49-F238E27FC236}">
                <a16:creationId xmlns:a16="http://schemas.microsoft.com/office/drawing/2014/main" id="{0E840E08-6699-B359-47AB-53E7F6466030}"/>
              </a:ext>
            </a:extLst>
          </p:cNvPr>
          <p:cNvSpPr txBox="1"/>
          <p:nvPr/>
        </p:nvSpPr>
        <p:spPr>
          <a:xfrm>
            <a:off x="4719900" y="3817590"/>
            <a:ext cx="4184100" cy="16209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spcBef>
                <a:spcPts val="520"/>
              </a:spcBef>
            </a:pPr>
            <a:r>
              <a:rPr lang="en-US" sz="2300" b="1" i="1" dirty="0" err="1">
                <a:solidFill>
                  <a:srgbClr val="003399"/>
                </a:solidFill>
              </a:rPr>
              <a:t>delegación</a:t>
            </a:r>
            <a:r>
              <a:rPr lang="en-US" sz="2300" b="1" dirty="0">
                <a:solidFill>
                  <a:schemeClr val="dk1"/>
                </a:solidFill>
              </a:rPr>
              <a:t>:</a:t>
            </a:r>
            <a:r>
              <a:rPr lang="en-US" sz="2300" dirty="0">
                <a:solidFill>
                  <a:schemeClr val="dk1"/>
                </a:solidFill>
              </a:rPr>
              <a:t> </a:t>
            </a:r>
            <a:r>
              <a:rPr lang="en-US" sz="1300" dirty="0" err="1">
                <a:solidFill>
                  <a:schemeClr val="dk1"/>
                </a:solidFill>
              </a:rPr>
              <a:t>Asignar</a:t>
            </a:r>
            <a:r>
              <a:rPr lang="en-US" sz="1300" dirty="0">
                <a:solidFill>
                  <a:schemeClr val="dk1"/>
                </a:solidFill>
              </a:rPr>
              <a:t> </a:t>
            </a:r>
            <a:r>
              <a:rPr lang="en-US" sz="1300" dirty="0" err="1">
                <a:solidFill>
                  <a:schemeClr val="dk1"/>
                </a:solidFill>
              </a:rPr>
              <a:t>tareas</a:t>
            </a:r>
            <a:r>
              <a:rPr lang="en-US" sz="1300" dirty="0">
                <a:solidFill>
                  <a:schemeClr val="dk1"/>
                </a:solidFill>
              </a:rPr>
              <a:t> o </a:t>
            </a:r>
            <a:r>
              <a:rPr lang="en-US" sz="1300" dirty="0" err="1">
                <a:solidFill>
                  <a:schemeClr val="dk1"/>
                </a:solidFill>
              </a:rPr>
              <a:t>responsabilidades</a:t>
            </a:r>
            <a:r>
              <a:rPr lang="en-US" sz="1300" dirty="0">
                <a:solidFill>
                  <a:schemeClr val="dk1"/>
                </a:solidFill>
              </a:rPr>
              <a:t> a un </a:t>
            </a:r>
            <a:r>
              <a:rPr lang="en-US" sz="1300" dirty="0" err="1">
                <a:solidFill>
                  <a:schemeClr val="dk1"/>
                </a:solidFill>
              </a:rPr>
              <a:t>sistema</a:t>
            </a:r>
            <a:r>
              <a:rPr lang="en-US" sz="1300" dirty="0">
                <a:solidFill>
                  <a:schemeClr val="dk1"/>
                </a:solidFill>
              </a:rPr>
              <a:t>.</a:t>
            </a:r>
            <a:endParaRPr sz="1300" dirty="0">
              <a:solidFill>
                <a:schemeClr val="dk1"/>
              </a:solidFill>
            </a:endParaRPr>
          </a:p>
          <a:p>
            <a:pPr lvl="0">
              <a:spcBef>
                <a:spcPts val="520"/>
              </a:spcBef>
            </a:pPr>
            <a:r>
              <a:rPr lang="en-US" sz="2300" b="1" i="1" dirty="0" err="1">
                <a:solidFill>
                  <a:srgbClr val="003399"/>
                </a:solidFill>
                <a:highlight>
                  <a:srgbClr val="FFFF00"/>
                </a:highlight>
              </a:rPr>
              <a:t>orientación</a:t>
            </a:r>
            <a:r>
              <a:rPr lang="en-US" sz="2300" b="1" i="1" dirty="0">
                <a:solidFill>
                  <a:srgbClr val="003399"/>
                </a:solidFill>
                <a:highlight>
                  <a:srgbClr val="FFFF00"/>
                </a:highlight>
              </a:rPr>
              <a:t> humana</a:t>
            </a:r>
            <a:r>
              <a:rPr lang="en-US" sz="2300" b="1" dirty="0">
                <a:solidFill>
                  <a:schemeClr val="dk1"/>
                </a:solidFill>
                <a:highlight>
                  <a:srgbClr val="FFFF00"/>
                </a:highlight>
              </a:rPr>
              <a:t>: </a:t>
            </a:r>
            <a:r>
              <a:rPr lang="es-MX" sz="1300" dirty="0">
                <a:solidFill>
                  <a:schemeClr val="dk1"/>
                </a:solidFill>
                <a:highlight>
                  <a:srgbClr val="FFFF00"/>
                </a:highlight>
              </a:rPr>
              <a:t>Diseñar sistemas e interacciones con un enfoque en las necesidades y la comprensión humanas</a:t>
            </a:r>
            <a:r>
              <a:rPr lang="en-US" sz="1300" dirty="0">
                <a:solidFill>
                  <a:schemeClr val="dk1"/>
                </a:solidFill>
              </a:rPr>
              <a:t>.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7" name="Google Shape;423;g310c24f165f_0_52">
            <a:extLst>
              <a:ext uri="{FF2B5EF4-FFF2-40B4-BE49-F238E27FC236}">
                <a16:creationId xmlns:a16="http://schemas.microsoft.com/office/drawing/2014/main" id="{15CED07B-3E61-0272-8AFA-71AAEADC23D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77822"/>
            <a:ext cx="8229600" cy="8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US" dirty="0" err="1"/>
              <a:t>Repaso</a:t>
            </a:r>
            <a:r>
              <a:rPr lang="en-US" dirty="0"/>
              <a:t>: Medio </a:t>
            </a:r>
            <a:r>
              <a:rPr lang="en-US" dirty="0" err="1"/>
              <a:t>ambiente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141007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8">
          <a:extLst>
            <a:ext uri="{FF2B5EF4-FFF2-40B4-BE49-F238E27FC236}">
              <a16:creationId xmlns:a16="http://schemas.microsoft.com/office/drawing/2014/main" id="{7F68A084-F507-3C60-15B4-A45600893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10c24f165f_0_66">
            <a:extLst>
              <a:ext uri="{FF2B5EF4-FFF2-40B4-BE49-F238E27FC236}">
                <a16:creationId xmlns:a16="http://schemas.microsoft.com/office/drawing/2014/main" id="{3B3122A7-9A4A-F0F7-F932-7B5561D8ED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868680"/>
            <a:ext cx="8229600" cy="2731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520"/>
              </a:spcBef>
            </a:pPr>
            <a:r>
              <a:rPr lang="es-MX" sz="2100" i="1" dirty="0">
                <a:solidFill>
                  <a:schemeClr val="dk1"/>
                </a:solidFill>
              </a:rPr>
              <a:t>Un algoritmo que detecta fraudes en transacciones bancarias en tiempo real.</a:t>
            </a:r>
          </a:p>
          <a:p>
            <a:pPr marL="0" lvl="0" indent="0">
              <a:spcBef>
                <a:spcPts val="520"/>
              </a:spcBef>
            </a:pPr>
            <a:r>
              <a:rPr lang="es-MX" sz="2100" i="1" dirty="0">
                <a:solidFill>
                  <a:schemeClr val="dk1"/>
                </a:solidFill>
              </a:rPr>
              <a:t>Un coche autónomo que decide cuándo frenar o adelantar.</a:t>
            </a:r>
          </a:p>
          <a:p>
            <a:pPr marL="0" lvl="0" indent="0">
              <a:spcBef>
                <a:spcPts val="520"/>
              </a:spcBef>
            </a:pPr>
            <a:r>
              <a:rPr lang="es-MX" sz="2100" i="1" dirty="0">
                <a:solidFill>
                  <a:schemeClr val="dk1"/>
                </a:solidFill>
              </a:rPr>
              <a:t>Un </a:t>
            </a:r>
            <a:r>
              <a:rPr lang="es-MX" sz="2100" i="1" dirty="0" err="1">
                <a:solidFill>
                  <a:schemeClr val="dk1"/>
                </a:solidFill>
              </a:rPr>
              <a:t>chatbot</a:t>
            </a:r>
            <a:r>
              <a:rPr lang="es-MX" sz="2100" i="1" dirty="0">
                <a:solidFill>
                  <a:schemeClr val="dk1"/>
                </a:solidFill>
              </a:rPr>
              <a:t> que aprende del historial de preguntas de los usuarios.</a:t>
            </a:r>
          </a:p>
          <a:p>
            <a:pPr marL="0" lvl="0" indent="0">
              <a:spcBef>
                <a:spcPts val="520"/>
              </a:spcBef>
            </a:pPr>
            <a:endParaRPr lang="es-MX" sz="2300" b="1" dirty="0">
              <a:solidFill>
                <a:schemeClr val="dk1"/>
              </a:solidFill>
            </a:endParaRPr>
          </a:p>
          <a:p>
            <a:pPr marL="0" lvl="0" indent="0">
              <a:spcBef>
                <a:spcPts val="520"/>
              </a:spcBef>
            </a:pPr>
            <a:r>
              <a:rPr lang="es-MX" sz="2300" b="1" dirty="0">
                <a:solidFill>
                  <a:schemeClr val="dk1"/>
                </a:solidFill>
              </a:rPr>
              <a:t>podrían considerarse ejemplos de</a:t>
            </a:r>
            <a:r>
              <a:rPr lang="en-US" sz="2300" b="1" dirty="0">
                <a:solidFill>
                  <a:schemeClr val="dk1"/>
                </a:solidFill>
              </a:rPr>
              <a:t>:</a:t>
            </a:r>
            <a:endParaRPr sz="1700" b="1" dirty="0"/>
          </a:p>
        </p:txBody>
      </p:sp>
      <p:sp>
        <p:nvSpPr>
          <p:cNvPr id="2" name="Google Shape;425;g310c24f165f_0_52">
            <a:extLst>
              <a:ext uri="{FF2B5EF4-FFF2-40B4-BE49-F238E27FC236}">
                <a16:creationId xmlns:a16="http://schemas.microsoft.com/office/drawing/2014/main" id="{3E821E1D-2695-E0F4-F2F4-64D1BA5839C3}"/>
              </a:ext>
            </a:extLst>
          </p:cNvPr>
          <p:cNvSpPr txBox="1"/>
          <p:nvPr/>
        </p:nvSpPr>
        <p:spPr>
          <a:xfrm>
            <a:off x="457200" y="3691890"/>
            <a:ext cx="4262700" cy="2100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spcBef>
                <a:spcPts val="520"/>
              </a:spcBef>
            </a:pPr>
            <a:r>
              <a:rPr lang="en-US" sz="2300" b="1" i="1" dirty="0" err="1">
                <a:solidFill>
                  <a:srgbClr val="003399"/>
                </a:solidFill>
              </a:rPr>
              <a:t>ubicuidad</a:t>
            </a:r>
            <a:r>
              <a:rPr lang="en-US" sz="2300" b="1" dirty="0">
                <a:solidFill>
                  <a:schemeClr val="dk1"/>
                </a:solidFill>
              </a:rPr>
              <a:t>: </a:t>
            </a:r>
            <a:r>
              <a:rPr lang="es-MX" sz="1500" dirty="0">
                <a:solidFill>
                  <a:schemeClr val="dk1"/>
                </a:solidFill>
              </a:rPr>
              <a:t>Presente en cualquier lugar y en cualquier momento</a:t>
            </a:r>
            <a:r>
              <a:rPr lang="en-US" sz="1500" dirty="0">
                <a:solidFill>
                  <a:schemeClr val="dk1"/>
                </a:solidFill>
              </a:rPr>
              <a:t>.</a:t>
            </a:r>
            <a:endParaRPr sz="700" dirty="0">
              <a:solidFill>
                <a:schemeClr val="dk1"/>
              </a:solidFill>
            </a:endParaRPr>
          </a:p>
          <a:p>
            <a:pPr lvl="0">
              <a:spcBef>
                <a:spcPts val="520"/>
              </a:spcBef>
            </a:pPr>
            <a:r>
              <a:rPr lang="en-US" sz="2300" b="1" i="1" dirty="0" err="1">
                <a:solidFill>
                  <a:srgbClr val="003399"/>
                </a:solidFill>
              </a:rPr>
              <a:t>Interconexión</a:t>
            </a:r>
            <a:r>
              <a:rPr lang="en-US" sz="2300" b="1" dirty="0">
                <a:solidFill>
                  <a:schemeClr val="dk1"/>
                </a:solidFill>
              </a:rPr>
              <a:t>:</a:t>
            </a:r>
            <a:r>
              <a:rPr lang="en-US" sz="2300" dirty="0">
                <a:solidFill>
                  <a:schemeClr val="dk1"/>
                </a:solidFill>
              </a:rPr>
              <a:t> </a:t>
            </a:r>
            <a:r>
              <a:rPr lang="es-MX" dirty="0">
                <a:solidFill>
                  <a:schemeClr val="dk1"/>
                </a:solidFill>
              </a:rPr>
              <a:t>Comunicación perpetua entre sistemas o agentes</a:t>
            </a:r>
            <a:r>
              <a:rPr lang="en-US" dirty="0">
                <a:solidFill>
                  <a:schemeClr val="dk1"/>
                </a:solidFill>
              </a:rPr>
              <a:t>.</a:t>
            </a:r>
            <a:endParaRPr dirty="0">
              <a:solidFill>
                <a:schemeClr val="dk1"/>
              </a:solidFill>
            </a:endParaRPr>
          </a:p>
          <a:p>
            <a:pPr lvl="0">
              <a:spcBef>
                <a:spcPts val="520"/>
              </a:spcBef>
            </a:pPr>
            <a:r>
              <a:rPr lang="en-US" sz="2300" b="1" i="1" dirty="0" err="1">
                <a:solidFill>
                  <a:srgbClr val="003399"/>
                </a:solidFill>
              </a:rPr>
              <a:t>inteligencia</a:t>
            </a:r>
            <a:r>
              <a:rPr lang="en-US" sz="2300" b="1" dirty="0">
                <a:solidFill>
                  <a:schemeClr val="dk1"/>
                </a:solidFill>
              </a:rPr>
              <a:t>: </a:t>
            </a:r>
            <a:r>
              <a:rPr lang="es-MX" dirty="0">
                <a:solidFill>
                  <a:schemeClr val="dk1"/>
                </a:solidFill>
              </a:rPr>
              <a:t>Capacidad para aprender, comprender y tomar decisiones</a:t>
            </a:r>
            <a:r>
              <a:rPr lang="en-US" dirty="0">
                <a:solidFill>
                  <a:schemeClr val="dk1"/>
                </a:solidFill>
              </a:rPr>
              <a:t>.</a:t>
            </a:r>
            <a:endParaRPr dirty="0"/>
          </a:p>
        </p:txBody>
      </p:sp>
      <p:sp>
        <p:nvSpPr>
          <p:cNvPr id="3" name="Google Shape;426;g310c24f165f_0_52">
            <a:extLst>
              <a:ext uri="{FF2B5EF4-FFF2-40B4-BE49-F238E27FC236}">
                <a16:creationId xmlns:a16="http://schemas.microsoft.com/office/drawing/2014/main" id="{D262E59E-5F8D-EA2A-365D-C9E03BE1FDD6}"/>
              </a:ext>
            </a:extLst>
          </p:cNvPr>
          <p:cNvSpPr txBox="1"/>
          <p:nvPr/>
        </p:nvSpPr>
        <p:spPr>
          <a:xfrm>
            <a:off x="4719900" y="3817590"/>
            <a:ext cx="4184100" cy="16209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spcBef>
                <a:spcPts val="520"/>
              </a:spcBef>
            </a:pPr>
            <a:r>
              <a:rPr lang="en-US" sz="2300" b="1" i="1" dirty="0" err="1">
                <a:solidFill>
                  <a:srgbClr val="003399"/>
                </a:solidFill>
              </a:rPr>
              <a:t>delegación</a:t>
            </a:r>
            <a:r>
              <a:rPr lang="en-US" sz="2300" b="1" dirty="0">
                <a:solidFill>
                  <a:schemeClr val="dk1"/>
                </a:solidFill>
              </a:rPr>
              <a:t>:</a:t>
            </a:r>
            <a:r>
              <a:rPr lang="en-US" sz="2300" dirty="0">
                <a:solidFill>
                  <a:schemeClr val="dk1"/>
                </a:solidFill>
              </a:rPr>
              <a:t> </a:t>
            </a:r>
            <a:r>
              <a:rPr lang="en-US" sz="1300" dirty="0" err="1">
                <a:solidFill>
                  <a:schemeClr val="dk1"/>
                </a:solidFill>
              </a:rPr>
              <a:t>Asignar</a:t>
            </a:r>
            <a:r>
              <a:rPr lang="en-US" sz="1300" dirty="0">
                <a:solidFill>
                  <a:schemeClr val="dk1"/>
                </a:solidFill>
              </a:rPr>
              <a:t> </a:t>
            </a:r>
            <a:r>
              <a:rPr lang="en-US" sz="1300" dirty="0" err="1">
                <a:solidFill>
                  <a:schemeClr val="dk1"/>
                </a:solidFill>
              </a:rPr>
              <a:t>tareas</a:t>
            </a:r>
            <a:r>
              <a:rPr lang="en-US" sz="1300" dirty="0">
                <a:solidFill>
                  <a:schemeClr val="dk1"/>
                </a:solidFill>
              </a:rPr>
              <a:t> o </a:t>
            </a:r>
            <a:r>
              <a:rPr lang="en-US" sz="1300" dirty="0" err="1">
                <a:solidFill>
                  <a:schemeClr val="dk1"/>
                </a:solidFill>
              </a:rPr>
              <a:t>responsabilidades</a:t>
            </a:r>
            <a:r>
              <a:rPr lang="en-US" sz="1300" dirty="0">
                <a:solidFill>
                  <a:schemeClr val="dk1"/>
                </a:solidFill>
              </a:rPr>
              <a:t> a un </a:t>
            </a:r>
            <a:r>
              <a:rPr lang="en-US" sz="1300" dirty="0" err="1">
                <a:solidFill>
                  <a:schemeClr val="dk1"/>
                </a:solidFill>
              </a:rPr>
              <a:t>sistema</a:t>
            </a:r>
            <a:r>
              <a:rPr lang="en-US" sz="1300" dirty="0">
                <a:solidFill>
                  <a:schemeClr val="dk1"/>
                </a:solidFill>
              </a:rPr>
              <a:t>.</a:t>
            </a:r>
            <a:endParaRPr sz="1300" dirty="0">
              <a:solidFill>
                <a:schemeClr val="dk1"/>
              </a:solidFill>
            </a:endParaRPr>
          </a:p>
          <a:p>
            <a:pPr lvl="0">
              <a:spcBef>
                <a:spcPts val="520"/>
              </a:spcBef>
            </a:pPr>
            <a:r>
              <a:rPr lang="en-US" sz="2300" b="1" i="1" dirty="0" err="1">
                <a:solidFill>
                  <a:srgbClr val="003399"/>
                </a:solidFill>
              </a:rPr>
              <a:t>orientación</a:t>
            </a:r>
            <a:r>
              <a:rPr lang="en-US" sz="2300" b="1" i="1" dirty="0">
                <a:solidFill>
                  <a:srgbClr val="003399"/>
                </a:solidFill>
              </a:rPr>
              <a:t> humana</a:t>
            </a:r>
            <a:r>
              <a:rPr lang="en-US" sz="2300" b="1" dirty="0">
                <a:solidFill>
                  <a:schemeClr val="dk1"/>
                </a:solidFill>
              </a:rPr>
              <a:t>: </a:t>
            </a:r>
            <a:r>
              <a:rPr lang="es-MX" sz="1300" dirty="0">
                <a:solidFill>
                  <a:schemeClr val="dk1"/>
                </a:solidFill>
              </a:rPr>
              <a:t>Diseñar sistemas e interacciones con un enfoque en las necesidades y la comprensión humanas</a:t>
            </a:r>
            <a:r>
              <a:rPr lang="en-US" sz="1300" dirty="0">
                <a:solidFill>
                  <a:schemeClr val="dk1"/>
                </a:solidFill>
              </a:rPr>
              <a:t>.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7" name="Google Shape;423;g310c24f165f_0_52">
            <a:extLst>
              <a:ext uri="{FF2B5EF4-FFF2-40B4-BE49-F238E27FC236}">
                <a16:creationId xmlns:a16="http://schemas.microsoft.com/office/drawing/2014/main" id="{DD7588F7-205B-9506-DEE4-51086F022B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77822"/>
            <a:ext cx="8229600" cy="8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US" dirty="0" err="1"/>
              <a:t>Repaso</a:t>
            </a:r>
            <a:r>
              <a:rPr lang="en-US" dirty="0"/>
              <a:t>: Medio </a:t>
            </a:r>
            <a:r>
              <a:rPr lang="en-US" dirty="0" err="1"/>
              <a:t>ambiente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290789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8">
          <a:extLst>
            <a:ext uri="{FF2B5EF4-FFF2-40B4-BE49-F238E27FC236}">
              <a16:creationId xmlns:a16="http://schemas.microsoft.com/office/drawing/2014/main" id="{A6AC85BB-CB41-DC9E-3766-DD1C16A92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10c24f165f_0_66">
            <a:extLst>
              <a:ext uri="{FF2B5EF4-FFF2-40B4-BE49-F238E27FC236}">
                <a16:creationId xmlns:a16="http://schemas.microsoft.com/office/drawing/2014/main" id="{AE4261E6-70AB-C345-B884-E158A31E64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868680"/>
            <a:ext cx="8229600" cy="2731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520"/>
              </a:spcBef>
            </a:pPr>
            <a:r>
              <a:rPr lang="es-MX" sz="2100" i="1" dirty="0">
                <a:solidFill>
                  <a:schemeClr val="dk1"/>
                </a:solidFill>
              </a:rPr>
              <a:t>Un algoritmo que detecta fraudes en transacciones bancarias en tiempo real.</a:t>
            </a:r>
          </a:p>
          <a:p>
            <a:pPr marL="0" lvl="0" indent="0">
              <a:spcBef>
                <a:spcPts val="520"/>
              </a:spcBef>
            </a:pPr>
            <a:r>
              <a:rPr lang="es-MX" sz="2100" i="1" dirty="0">
                <a:solidFill>
                  <a:schemeClr val="dk1"/>
                </a:solidFill>
              </a:rPr>
              <a:t>Un coche autónomo que decide cuándo frenar o adelantar.</a:t>
            </a:r>
          </a:p>
          <a:p>
            <a:pPr marL="0" lvl="0" indent="0">
              <a:spcBef>
                <a:spcPts val="520"/>
              </a:spcBef>
            </a:pPr>
            <a:r>
              <a:rPr lang="es-MX" sz="2100" i="1" dirty="0">
                <a:solidFill>
                  <a:schemeClr val="dk1"/>
                </a:solidFill>
              </a:rPr>
              <a:t>Un </a:t>
            </a:r>
            <a:r>
              <a:rPr lang="es-MX" sz="2100" i="1" dirty="0" err="1">
                <a:solidFill>
                  <a:schemeClr val="dk1"/>
                </a:solidFill>
              </a:rPr>
              <a:t>chatbot</a:t>
            </a:r>
            <a:r>
              <a:rPr lang="es-MX" sz="2100" i="1" dirty="0">
                <a:solidFill>
                  <a:schemeClr val="dk1"/>
                </a:solidFill>
              </a:rPr>
              <a:t> que aprende del historial de preguntas de los usuarios.</a:t>
            </a:r>
          </a:p>
          <a:p>
            <a:pPr marL="0" lvl="0" indent="0">
              <a:spcBef>
                <a:spcPts val="520"/>
              </a:spcBef>
            </a:pPr>
            <a:endParaRPr lang="es-MX" sz="2300" b="1" dirty="0">
              <a:solidFill>
                <a:schemeClr val="dk1"/>
              </a:solidFill>
            </a:endParaRPr>
          </a:p>
          <a:p>
            <a:pPr marL="0" lvl="0" indent="0">
              <a:spcBef>
                <a:spcPts val="520"/>
              </a:spcBef>
            </a:pPr>
            <a:r>
              <a:rPr lang="es-MX" sz="2300" b="1" dirty="0">
                <a:solidFill>
                  <a:schemeClr val="dk1"/>
                </a:solidFill>
              </a:rPr>
              <a:t>podrían considerarse ejemplos de</a:t>
            </a:r>
            <a:r>
              <a:rPr lang="en-US" sz="2300" b="1" dirty="0">
                <a:solidFill>
                  <a:schemeClr val="dk1"/>
                </a:solidFill>
              </a:rPr>
              <a:t>:</a:t>
            </a:r>
            <a:endParaRPr sz="1700" b="1" dirty="0"/>
          </a:p>
        </p:txBody>
      </p:sp>
      <p:sp>
        <p:nvSpPr>
          <p:cNvPr id="2" name="Google Shape;425;g310c24f165f_0_52">
            <a:extLst>
              <a:ext uri="{FF2B5EF4-FFF2-40B4-BE49-F238E27FC236}">
                <a16:creationId xmlns:a16="http://schemas.microsoft.com/office/drawing/2014/main" id="{D8639854-4C57-864F-E380-FF2350D3B778}"/>
              </a:ext>
            </a:extLst>
          </p:cNvPr>
          <p:cNvSpPr txBox="1"/>
          <p:nvPr/>
        </p:nvSpPr>
        <p:spPr>
          <a:xfrm>
            <a:off x="457200" y="3691890"/>
            <a:ext cx="4262700" cy="2100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spcBef>
                <a:spcPts val="520"/>
              </a:spcBef>
            </a:pPr>
            <a:r>
              <a:rPr lang="en-US" sz="2300" b="1" i="1" dirty="0" err="1">
                <a:solidFill>
                  <a:srgbClr val="003399"/>
                </a:solidFill>
              </a:rPr>
              <a:t>ubicuidad</a:t>
            </a:r>
            <a:r>
              <a:rPr lang="en-US" sz="2300" b="1" dirty="0">
                <a:solidFill>
                  <a:schemeClr val="dk1"/>
                </a:solidFill>
              </a:rPr>
              <a:t>: </a:t>
            </a:r>
            <a:r>
              <a:rPr lang="es-MX" sz="1500" dirty="0">
                <a:solidFill>
                  <a:schemeClr val="dk1"/>
                </a:solidFill>
              </a:rPr>
              <a:t>Presente en cualquier lugar y en cualquier momento</a:t>
            </a:r>
            <a:r>
              <a:rPr lang="en-US" sz="1500" dirty="0">
                <a:solidFill>
                  <a:schemeClr val="dk1"/>
                </a:solidFill>
              </a:rPr>
              <a:t>.</a:t>
            </a:r>
            <a:endParaRPr sz="700" dirty="0">
              <a:solidFill>
                <a:schemeClr val="dk1"/>
              </a:solidFill>
            </a:endParaRPr>
          </a:p>
          <a:p>
            <a:pPr lvl="0">
              <a:spcBef>
                <a:spcPts val="520"/>
              </a:spcBef>
            </a:pPr>
            <a:r>
              <a:rPr lang="en-US" sz="2300" b="1" i="1" dirty="0" err="1">
                <a:solidFill>
                  <a:srgbClr val="003399"/>
                </a:solidFill>
              </a:rPr>
              <a:t>Interconexión</a:t>
            </a:r>
            <a:r>
              <a:rPr lang="en-US" sz="2300" b="1" dirty="0">
                <a:solidFill>
                  <a:schemeClr val="dk1"/>
                </a:solidFill>
              </a:rPr>
              <a:t>:</a:t>
            </a:r>
            <a:r>
              <a:rPr lang="en-US" sz="2300" dirty="0">
                <a:solidFill>
                  <a:schemeClr val="dk1"/>
                </a:solidFill>
              </a:rPr>
              <a:t> </a:t>
            </a:r>
            <a:r>
              <a:rPr lang="es-MX" dirty="0">
                <a:solidFill>
                  <a:schemeClr val="dk1"/>
                </a:solidFill>
              </a:rPr>
              <a:t>Comunicación perpetua entre sistemas o agentes</a:t>
            </a:r>
            <a:r>
              <a:rPr lang="en-US" dirty="0">
                <a:solidFill>
                  <a:schemeClr val="dk1"/>
                </a:solidFill>
              </a:rPr>
              <a:t>.</a:t>
            </a:r>
            <a:endParaRPr dirty="0">
              <a:solidFill>
                <a:schemeClr val="dk1"/>
              </a:solidFill>
            </a:endParaRPr>
          </a:p>
          <a:p>
            <a:pPr lvl="0">
              <a:spcBef>
                <a:spcPts val="520"/>
              </a:spcBef>
            </a:pPr>
            <a:r>
              <a:rPr lang="en-US" sz="2300" b="1" i="1" dirty="0" err="1">
                <a:solidFill>
                  <a:srgbClr val="003399"/>
                </a:solidFill>
                <a:highlight>
                  <a:srgbClr val="FFFF00"/>
                </a:highlight>
              </a:rPr>
              <a:t>inteligencia</a:t>
            </a:r>
            <a:r>
              <a:rPr lang="en-US" sz="2300" b="1" dirty="0">
                <a:solidFill>
                  <a:schemeClr val="dk1"/>
                </a:solidFill>
                <a:highlight>
                  <a:srgbClr val="FFFF00"/>
                </a:highlight>
              </a:rPr>
              <a:t>: </a:t>
            </a:r>
            <a:r>
              <a:rPr lang="es-MX" dirty="0">
                <a:solidFill>
                  <a:schemeClr val="dk1"/>
                </a:solidFill>
                <a:highlight>
                  <a:srgbClr val="FFFF00"/>
                </a:highlight>
              </a:rPr>
              <a:t>Capacidad para aprender, comprender y tomar decisiones</a:t>
            </a:r>
            <a:r>
              <a:rPr lang="en-US" dirty="0">
                <a:solidFill>
                  <a:schemeClr val="dk1"/>
                </a:solidFill>
                <a:highlight>
                  <a:srgbClr val="FFFF00"/>
                </a:highlight>
              </a:rPr>
              <a:t>.</a:t>
            </a:r>
            <a:endParaRPr dirty="0">
              <a:highlight>
                <a:srgbClr val="FFFF00"/>
              </a:highlight>
            </a:endParaRPr>
          </a:p>
        </p:txBody>
      </p:sp>
      <p:sp>
        <p:nvSpPr>
          <p:cNvPr id="3" name="Google Shape;426;g310c24f165f_0_52">
            <a:extLst>
              <a:ext uri="{FF2B5EF4-FFF2-40B4-BE49-F238E27FC236}">
                <a16:creationId xmlns:a16="http://schemas.microsoft.com/office/drawing/2014/main" id="{EFACBBBE-A03E-E3F3-A3AA-8CC035679D16}"/>
              </a:ext>
            </a:extLst>
          </p:cNvPr>
          <p:cNvSpPr txBox="1"/>
          <p:nvPr/>
        </p:nvSpPr>
        <p:spPr>
          <a:xfrm>
            <a:off x="4719900" y="3817590"/>
            <a:ext cx="4184100" cy="16209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spcBef>
                <a:spcPts val="520"/>
              </a:spcBef>
            </a:pPr>
            <a:r>
              <a:rPr lang="en-US" sz="2300" b="1" i="1" dirty="0" err="1">
                <a:solidFill>
                  <a:srgbClr val="003399"/>
                </a:solidFill>
              </a:rPr>
              <a:t>delegación</a:t>
            </a:r>
            <a:r>
              <a:rPr lang="en-US" sz="2300" b="1" dirty="0">
                <a:solidFill>
                  <a:schemeClr val="dk1"/>
                </a:solidFill>
              </a:rPr>
              <a:t>:</a:t>
            </a:r>
            <a:r>
              <a:rPr lang="en-US" sz="2300" dirty="0">
                <a:solidFill>
                  <a:schemeClr val="dk1"/>
                </a:solidFill>
              </a:rPr>
              <a:t> </a:t>
            </a:r>
            <a:r>
              <a:rPr lang="en-US" sz="1300" dirty="0" err="1">
                <a:solidFill>
                  <a:schemeClr val="dk1"/>
                </a:solidFill>
              </a:rPr>
              <a:t>Asignar</a:t>
            </a:r>
            <a:r>
              <a:rPr lang="en-US" sz="1300" dirty="0">
                <a:solidFill>
                  <a:schemeClr val="dk1"/>
                </a:solidFill>
              </a:rPr>
              <a:t> </a:t>
            </a:r>
            <a:r>
              <a:rPr lang="en-US" sz="1300" dirty="0" err="1">
                <a:solidFill>
                  <a:schemeClr val="dk1"/>
                </a:solidFill>
              </a:rPr>
              <a:t>tareas</a:t>
            </a:r>
            <a:r>
              <a:rPr lang="en-US" sz="1300" dirty="0">
                <a:solidFill>
                  <a:schemeClr val="dk1"/>
                </a:solidFill>
              </a:rPr>
              <a:t> o </a:t>
            </a:r>
            <a:r>
              <a:rPr lang="en-US" sz="1300" dirty="0" err="1">
                <a:solidFill>
                  <a:schemeClr val="dk1"/>
                </a:solidFill>
              </a:rPr>
              <a:t>responsabilidades</a:t>
            </a:r>
            <a:r>
              <a:rPr lang="en-US" sz="1300" dirty="0">
                <a:solidFill>
                  <a:schemeClr val="dk1"/>
                </a:solidFill>
              </a:rPr>
              <a:t> a un </a:t>
            </a:r>
            <a:r>
              <a:rPr lang="en-US" sz="1300" dirty="0" err="1">
                <a:solidFill>
                  <a:schemeClr val="dk1"/>
                </a:solidFill>
              </a:rPr>
              <a:t>sistema</a:t>
            </a:r>
            <a:r>
              <a:rPr lang="en-US" sz="1300" dirty="0">
                <a:solidFill>
                  <a:schemeClr val="dk1"/>
                </a:solidFill>
              </a:rPr>
              <a:t>.</a:t>
            </a:r>
            <a:endParaRPr sz="1300" dirty="0">
              <a:solidFill>
                <a:schemeClr val="dk1"/>
              </a:solidFill>
            </a:endParaRPr>
          </a:p>
          <a:p>
            <a:pPr lvl="0">
              <a:spcBef>
                <a:spcPts val="520"/>
              </a:spcBef>
            </a:pPr>
            <a:r>
              <a:rPr lang="en-US" sz="2300" b="1" i="1" dirty="0" err="1">
                <a:solidFill>
                  <a:srgbClr val="003399"/>
                </a:solidFill>
              </a:rPr>
              <a:t>orientación</a:t>
            </a:r>
            <a:r>
              <a:rPr lang="en-US" sz="2300" b="1" i="1" dirty="0">
                <a:solidFill>
                  <a:srgbClr val="003399"/>
                </a:solidFill>
              </a:rPr>
              <a:t> humana</a:t>
            </a:r>
            <a:r>
              <a:rPr lang="en-US" sz="2300" b="1" dirty="0">
                <a:solidFill>
                  <a:schemeClr val="dk1"/>
                </a:solidFill>
              </a:rPr>
              <a:t>: </a:t>
            </a:r>
            <a:r>
              <a:rPr lang="es-MX" sz="1300" dirty="0">
                <a:solidFill>
                  <a:schemeClr val="dk1"/>
                </a:solidFill>
              </a:rPr>
              <a:t>Diseñar sistemas e interacciones con un enfoque en las necesidades y la comprensión humanas</a:t>
            </a:r>
            <a:r>
              <a:rPr lang="en-US" sz="1300" dirty="0">
                <a:solidFill>
                  <a:schemeClr val="dk1"/>
                </a:solidFill>
              </a:rPr>
              <a:t>.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7" name="Google Shape;423;g310c24f165f_0_52">
            <a:extLst>
              <a:ext uri="{FF2B5EF4-FFF2-40B4-BE49-F238E27FC236}">
                <a16:creationId xmlns:a16="http://schemas.microsoft.com/office/drawing/2014/main" id="{0C82469A-F44B-F08A-49D2-6E750294AC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77822"/>
            <a:ext cx="8229600" cy="8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US" dirty="0" err="1"/>
              <a:t>Repaso</a:t>
            </a:r>
            <a:r>
              <a:rPr lang="en-US" dirty="0"/>
              <a:t>: Medio </a:t>
            </a:r>
            <a:r>
              <a:rPr lang="en-US" dirty="0" err="1"/>
              <a:t>ambiente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413719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8">
          <a:extLst>
            <a:ext uri="{FF2B5EF4-FFF2-40B4-BE49-F238E27FC236}">
              <a16:creationId xmlns:a16="http://schemas.microsoft.com/office/drawing/2014/main" id="{5493CF39-5FBE-646D-4D4C-A77625B7B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10c24f165f_0_66">
            <a:extLst>
              <a:ext uri="{FF2B5EF4-FFF2-40B4-BE49-F238E27FC236}">
                <a16:creationId xmlns:a16="http://schemas.microsoft.com/office/drawing/2014/main" id="{2DE52055-A1FD-A2A2-27BD-EA1EBB650B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868680"/>
            <a:ext cx="8229600" cy="2731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520"/>
              </a:spcBef>
            </a:pPr>
            <a:r>
              <a:rPr lang="es-MX" sz="2100" i="1" dirty="0">
                <a:solidFill>
                  <a:schemeClr val="dk1"/>
                </a:solidFill>
              </a:rPr>
              <a:t>Un smartwatch que monitorea tu ritmo cardíaco mientras haces ejercicio.</a:t>
            </a:r>
          </a:p>
          <a:p>
            <a:pPr marL="0" lvl="0" indent="0">
              <a:spcBef>
                <a:spcPts val="520"/>
              </a:spcBef>
            </a:pPr>
            <a:r>
              <a:rPr lang="es-MX" sz="2100" i="1" dirty="0">
                <a:solidFill>
                  <a:schemeClr val="dk1"/>
                </a:solidFill>
              </a:rPr>
              <a:t>Cámaras de seguridad inteligentes instaladas en calles y edificios conectadas a la nube.</a:t>
            </a:r>
          </a:p>
          <a:p>
            <a:pPr marL="0" lvl="0" indent="0">
              <a:spcBef>
                <a:spcPts val="520"/>
              </a:spcBef>
            </a:pPr>
            <a:r>
              <a:rPr lang="es-MX" sz="2100" i="1" dirty="0">
                <a:solidFill>
                  <a:schemeClr val="dk1"/>
                </a:solidFill>
              </a:rPr>
              <a:t>Refrigeradores que notifican a tu celular cuando falta comida.</a:t>
            </a:r>
          </a:p>
          <a:p>
            <a:pPr marL="0" lvl="0" indent="0">
              <a:spcBef>
                <a:spcPts val="520"/>
              </a:spcBef>
            </a:pPr>
            <a:endParaRPr lang="es-MX" sz="2100" b="1" i="1" dirty="0">
              <a:solidFill>
                <a:schemeClr val="dk1"/>
              </a:solidFill>
            </a:endParaRPr>
          </a:p>
          <a:p>
            <a:pPr marL="0" lvl="0" indent="0">
              <a:spcBef>
                <a:spcPts val="520"/>
              </a:spcBef>
            </a:pPr>
            <a:r>
              <a:rPr lang="es-MX" sz="2300" b="1" dirty="0">
                <a:solidFill>
                  <a:schemeClr val="dk1"/>
                </a:solidFill>
              </a:rPr>
              <a:t>podrían considerarse ejemplos de</a:t>
            </a:r>
            <a:r>
              <a:rPr lang="en-US" sz="2300" b="1" dirty="0">
                <a:solidFill>
                  <a:schemeClr val="dk1"/>
                </a:solidFill>
              </a:rPr>
              <a:t>:</a:t>
            </a:r>
            <a:endParaRPr sz="1700" b="1" dirty="0"/>
          </a:p>
        </p:txBody>
      </p:sp>
      <p:sp>
        <p:nvSpPr>
          <p:cNvPr id="2" name="Google Shape;425;g310c24f165f_0_52">
            <a:extLst>
              <a:ext uri="{FF2B5EF4-FFF2-40B4-BE49-F238E27FC236}">
                <a16:creationId xmlns:a16="http://schemas.microsoft.com/office/drawing/2014/main" id="{DB5B3271-4FF0-A53D-E1D6-8A0CFD5CB93C}"/>
              </a:ext>
            </a:extLst>
          </p:cNvPr>
          <p:cNvSpPr txBox="1"/>
          <p:nvPr/>
        </p:nvSpPr>
        <p:spPr>
          <a:xfrm>
            <a:off x="457200" y="3691890"/>
            <a:ext cx="4262700" cy="2100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spcBef>
                <a:spcPts val="520"/>
              </a:spcBef>
            </a:pPr>
            <a:r>
              <a:rPr lang="en-US" sz="2300" b="1" i="1" dirty="0" err="1">
                <a:solidFill>
                  <a:srgbClr val="003399"/>
                </a:solidFill>
              </a:rPr>
              <a:t>ubicuidad</a:t>
            </a:r>
            <a:r>
              <a:rPr lang="en-US" sz="2300" b="1" dirty="0">
                <a:solidFill>
                  <a:schemeClr val="dk1"/>
                </a:solidFill>
              </a:rPr>
              <a:t>: </a:t>
            </a:r>
            <a:r>
              <a:rPr lang="es-MX" sz="1500" dirty="0">
                <a:solidFill>
                  <a:schemeClr val="dk1"/>
                </a:solidFill>
              </a:rPr>
              <a:t>Presente en cualquier lugar y en cualquier momento</a:t>
            </a:r>
            <a:r>
              <a:rPr lang="en-US" sz="1500" dirty="0">
                <a:solidFill>
                  <a:schemeClr val="dk1"/>
                </a:solidFill>
              </a:rPr>
              <a:t>.</a:t>
            </a:r>
            <a:endParaRPr sz="700" dirty="0">
              <a:solidFill>
                <a:schemeClr val="dk1"/>
              </a:solidFill>
            </a:endParaRPr>
          </a:p>
          <a:p>
            <a:pPr lvl="0">
              <a:spcBef>
                <a:spcPts val="520"/>
              </a:spcBef>
            </a:pPr>
            <a:r>
              <a:rPr lang="en-US" sz="2300" b="1" i="1" dirty="0" err="1">
                <a:solidFill>
                  <a:srgbClr val="003399"/>
                </a:solidFill>
              </a:rPr>
              <a:t>Interconexión</a:t>
            </a:r>
            <a:r>
              <a:rPr lang="en-US" sz="2300" b="1" dirty="0">
                <a:solidFill>
                  <a:schemeClr val="dk1"/>
                </a:solidFill>
              </a:rPr>
              <a:t>:</a:t>
            </a:r>
            <a:r>
              <a:rPr lang="en-US" sz="2300" dirty="0">
                <a:solidFill>
                  <a:schemeClr val="dk1"/>
                </a:solidFill>
              </a:rPr>
              <a:t> </a:t>
            </a:r>
            <a:r>
              <a:rPr lang="es-MX" dirty="0">
                <a:solidFill>
                  <a:schemeClr val="dk1"/>
                </a:solidFill>
              </a:rPr>
              <a:t>Comunicación perpetua entre sistemas o agentes</a:t>
            </a:r>
            <a:r>
              <a:rPr lang="en-US" dirty="0">
                <a:solidFill>
                  <a:schemeClr val="dk1"/>
                </a:solidFill>
              </a:rPr>
              <a:t>.</a:t>
            </a:r>
            <a:endParaRPr dirty="0">
              <a:solidFill>
                <a:schemeClr val="dk1"/>
              </a:solidFill>
            </a:endParaRPr>
          </a:p>
          <a:p>
            <a:pPr lvl="0">
              <a:spcBef>
                <a:spcPts val="520"/>
              </a:spcBef>
            </a:pPr>
            <a:r>
              <a:rPr lang="en-US" sz="2300" b="1" i="1" dirty="0" err="1">
                <a:solidFill>
                  <a:srgbClr val="003399"/>
                </a:solidFill>
              </a:rPr>
              <a:t>inteligencia</a:t>
            </a:r>
            <a:r>
              <a:rPr lang="en-US" sz="2300" b="1" dirty="0">
                <a:solidFill>
                  <a:schemeClr val="dk1"/>
                </a:solidFill>
              </a:rPr>
              <a:t>: </a:t>
            </a:r>
            <a:r>
              <a:rPr lang="es-MX" dirty="0">
                <a:solidFill>
                  <a:schemeClr val="dk1"/>
                </a:solidFill>
              </a:rPr>
              <a:t>Capacidad para aprender, comprender y tomar decisiones</a:t>
            </a:r>
            <a:r>
              <a:rPr lang="en-US" dirty="0">
                <a:solidFill>
                  <a:schemeClr val="dk1"/>
                </a:solidFill>
              </a:rPr>
              <a:t>.</a:t>
            </a:r>
            <a:endParaRPr dirty="0"/>
          </a:p>
        </p:txBody>
      </p:sp>
      <p:sp>
        <p:nvSpPr>
          <p:cNvPr id="3" name="Google Shape;426;g310c24f165f_0_52">
            <a:extLst>
              <a:ext uri="{FF2B5EF4-FFF2-40B4-BE49-F238E27FC236}">
                <a16:creationId xmlns:a16="http://schemas.microsoft.com/office/drawing/2014/main" id="{9D660EB8-BE5C-0638-67C1-1EB6735C7FD3}"/>
              </a:ext>
            </a:extLst>
          </p:cNvPr>
          <p:cNvSpPr txBox="1"/>
          <p:nvPr/>
        </p:nvSpPr>
        <p:spPr>
          <a:xfrm>
            <a:off x="4719900" y="3817590"/>
            <a:ext cx="4184100" cy="16209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spcBef>
                <a:spcPts val="520"/>
              </a:spcBef>
            </a:pPr>
            <a:r>
              <a:rPr lang="en-US" sz="2300" b="1" i="1" dirty="0" err="1">
                <a:solidFill>
                  <a:srgbClr val="003399"/>
                </a:solidFill>
              </a:rPr>
              <a:t>delegación</a:t>
            </a:r>
            <a:r>
              <a:rPr lang="en-US" sz="2300" b="1" dirty="0">
                <a:solidFill>
                  <a:schemeClr val="dk1"/>
                </a:solidFill>
              </a:rPr>
              <a:t>:</a:t>
            </a:r>
            <a:r>
              <a:rPr lang="en-US" sz="2300" dirty="0">
                <a:solidFill>
                  <a:schemeClr val="dk1"/>
                </a:solidFill>
              </a:rPr>
              <a:t> </a:t>
            </a:r>
            <a:r>
              <a:rPr lang="en-US" sz="1300" dirty="0" err="1">
                <a:solidFill>
                  <a:schemeClr val="dk1"/>
                </a:solidFill>
              </a:rPr>
              <a:t>Asignar</a:t>
            </a:r>
            <a:r>
              <a:rPr lang="en-US" sz="1300" dirty="0">
                <a:solidFill>
                  <a:schemeClr val="dk1"/>
                </a:solidFill>
              </a:rPr>
              <a:t> </a:t>
            </a:r>
            <a:r>
              <a:rPr lang="en-US" sz="1300" dirty="0" err="1">
                <a:solidFill>
                  <a:schemeClr val="dk1"/>
                </a:solidFill>
              </a:rPr>
              <a:t>tareas</a:t>
            </a:r>
            <a:r>
              <a:rPr lang="en-US" sz="1300" dirty="0">
                <a:solidFill>
                  <a:schemeClr val="dk1"/>
                </a:solidFill>
              </a:rPr>
              <a:t> o </a:t>
            </a:r>
            <a:r>
              <a:rPr lang="en-US" sz="1300" dirty="0" err="1">
                <a:solidFill>
                  <a:schemeClr val="dk1"/>
                </a:solidFill>
              </a:rPr>
              <a:t>responsabilidades</a:t>
            </a:r>
            <a:r>
              <a:rPr lang="en-US" sz="1300" dirty="0">
                <a:solidFill>
                  <a:schemeClr val="dk1"/>
                </a:solidFill>
              </a:rPr>
              <a:t> a un </a:t>
            </a:r>
            <a:r>
              <a:rPr lang="en-US" sz="1300" dirty="0" err="1">
                <a:solidFill>
                  <a:schemeClr val="dk1"/>
                </a:solidFill>
              </a:rPr>
              <a:t>sistema</a:t>
            </a:r>
            <a:r>
              <a:rPr lang="en-US" sz="1300" dirty="0">
                <a:solidFill>
                  <a:schemeClr val="dk1"/>
                </a:solidFill>
              </a:rPr>
              <a:t>.</a:t>
            </a:r>
            <a:endParaRPr sz="1300" dirty="0">
              <a:solidFill>
                <a:schemeClr val="dk1"/>
              </a:solidFill>
            </a:endParaRPr>
          </a:p>
          <a:p>
            <a:pPr lvl="0">
              <a:spcBef>
                <a:spcPts val="520"/>
              </a:spcBef>
            </a:pPr>
            <a:r>
              <a:rPr lang="en-US" sz="2300" b="1" i="1" dirty="0" err="1">
                <a:solidFill>
                  <a:srgbClr val="003399"/>
                </a:solidFill>
              </a:rPr>
              <a:t>orientación</a:t>
            </a:r>
            <a:r>
              <a:rPr lang="en-US" sz="2300" b="1" i="1" dirty="0">
                <a:solidFill>
                  <a:srgbClr val="003399"/>
                </a:solidFill>
              </a:rPr>
              <a:t> humana</a:t>
            </a:r>
            <a:r>
              <a:rPr lang="en-US" sz="2300" b="1" dirty="0">
                <a:solidFill>
                  <a:schemeClr val="dk1"/>
                </a:solidFill>
              </a:rPr>
              <a:t>: </a:t>
            </a:r>
            <a:r>
              <a:rPr lang="es-MX" sz="1300" dirty="0">
                <a:solidFill>
                  <a:schemeClr val="dk1"/>
                </a:solidFill>
              </a:rPr>
              <a:t>Diseñar sistemas e interacciones con un enfoque en las necesidades y la comprensión humanas</a:t>
            </a:r>
            <a:r>
              <a:rPr lang="en-US" sz="1300" dirty="0">
                <a:solidFill>
                  <a:schemeClr val="dk1"/>
                </a:solidFill>
              </a:rPr>
              <a:t>.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6" name="Google Shape;423;g310c24f165f_0_52">
            <a:extLst>
              <a:ext uri="{FF2B5EF4-FFF2-40B4-BE49-F238E27FC236}">
                <a16:creationId xmlns:a16="http://schemas.microsoft.com/office/drawing/2014/main" id="{6DBEAEF0-06B9-945F-0562-B0F744D9278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77822"/>
            <a:ext cx="8229600" cy="8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US" dirty="0" err="1"/>
              <a:t>Repaso</a:t>
            </a:r>
            <a:r>
              <a:rPr lang="en-US" dirty="0"/>
              <a:t>: Medio </a:t>
            </a:r>
            <a:r>
              <a:rPr lang="en-US" dirty="0" err="1"/>
              <a:t>ambiente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189900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8">
          <a:extLst>
            <a:ext uri="{FF2B5EF4-FFF2-40B4-BE49-F238E27FC236}">
              <a16:creationId xmlns:a16="http://schemas.microsoft.com/office/drawing/2014/main" id="{8E445C3C-28FB-6EE3-515C-93B72BC07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10c24f165f_0_66">
            <a:extLst>
              <a:ext uri="{FF2B5EF4-FFF2-40B4-BE49-F238E27FC236}">
                <a16:creationId xmlns:a16="http://schemas.microsoft.com/office/drawing/2014/main" id="{2929A0D1-009B-A9D5-D4E9-C0A5F82D6A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868680"/>
            <a:ext cx="8229600" cy="2731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520"/>
              </a:spcBef>
            </a:pPr>
            <a:r>
              <a:rPr lang="es-MX" sz="2100" i="1" dirty="0">
                <a:solidFill>
                  <a:schemeClr val="dk1"/>
                </a:solidFill>
              </a:rPr>
              <a:t>Un smartwatch que monitorea tu ritmo cardíaco mientras haces ejercicio.</a:t>
            </a:r>
          </a:p>
          <a:p>
            <a:pPr marL="0" lvl="0" indent="0">
              <a:spcBef>
                <a:spcPts val="520"/>
              </a:spcBef>
            </a:pPr>
            <a:r>
              <a:rPr lang="es-MX" sz="2100" i="1" dirty="0">
                <a:solidFill>
                  <a:schemeClr val="dk1"/>
                </a:solidFill>
              </a:rPr>
              <a:t>Cámaras de seguridad inteligentes instaladas en calles y edificios conectadas a la nube.</a:t>
            </a:r>
          </a:p>
          <a:p>
            <a:pPr marL="0" lvl="0" indent="0">
              <a:spcBef>
                <a:spcPts val="520"/>
              </a:spcBef>
            </a:pPr>
            <a:r>
              <a:rPr lang="es-MX" sz="2100" i="1" dirty="0">
                <a:solidFill>
                  <a:schemeClr val="dk1"/>
                </a:solidFill>
              </a:rPr>
              <a:t>Refrigeradores que notifican a tu celular cuando falta comida.</a:t>
            </a:r>
          </a:p>
          <a:p>
            <a:pPr marL="0" lvl="0" indent="0">
              <a:spcBef>
                <a:spcPts val="520"/>
              </a:spcBef>
            </a:pPr>
            <a:endParaRPr lang="es-MX" sz="2100" b="1" i="1" dirty="0">
              <a:solidFill>
                <a:schemeClr val="dk1"/>
              </a:solidFill>
            </a:endParaRPr>
          </a:p>
          <a:p>
            <a:pPr marL="0" lvl="0" indent="0">
              <a:spcBef>
                <a:spcPts val="520"/>
              </a:spcBef>
            </a:pPr>
            <a:r>
              <a:rPr lang="es-MX" sz="2300" b="1" dirty="0">
                <a:solidFill>
                  <a:schemeClr val="dk1"/>
                </a:solidFill>
              </a:rPr>
              <a:t>podrían considerarse ejemplos de</a:t>
            </a:r>
            <a:r>
              <a:rPr lang="en-US" sz="2300" b="1" dirty="0">
                <a:solidFill>
                  <a:schemeClr val="dk1"/>
                </a:solidFill>
              </a:rPr>
              <a:t>:</a:t>
            </a:r>
            <a:endParaRPr sz="1700" b="1" dirty="0"/>
          </a:p>
        </p:txBody>
      </p:sp>
      <p:sp>
        <p:nvSpPr>
          <p:cNvPr id="2" name="Google Shape;425;g310c24f165f_0_52">
            <a:extLst>
              <a:ext uri="{FF2B5EF4-FFF2-40B4-BE49-F238E27FC236}">
                <a16:creationId xmlns:a16="http://schemas.microsoft.com/office/drawing/2014/main" id="{1F66447E-5335-0B45-F020-E0AFFDCC7403}"/>
              </a:ext>
            </a:extLst>
          </p:cNvPr>
          <p:cNvSpPr txBox="1"/>
          <p:nvPr/>
        </p:nvSpPr>
        <p:spPr>
          <a:xfrm>
            <a:off x="457200" y="3691890"/>
            <a:ext cx="4262700" cy="2100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spcBef>
                <a:spcPts val="520"/>
              </a:spcBef>
            </a:pPr>
            <a:r>
              <a:rPr lang="en-US" sz="2300" b="1" i="1" dirty="0" err="1">
                <a:solidFill>
                  <a:srgbClr val="003399"/>
                </a:solidFill>
                <a:highlight>
                  <a:srgbClr val="FFFF00"/>
                </a:highlight>
              </a:rPr>
              <a:t>ubicuidad</a:t>
            </a:r>
            <a:r>
              <a:rPr lang="en-US" sz="2300" b="1" dirty="0">
                <a:solidFill>
                  <a:schemeClr val="dk1"/>
                </a:solidFill>
                <a:highlight>
                  <a:srgbClr val="FFFF00"/>
                </a:highlight>
              </a:rPr>
              <a:t>: </a:t>
            </a:r>
            <a:r>
              <a:rPr lang="es-MX" sz="1500" dirty="0">
                <a:solidFill>
                  <a:schemeClr val="dk1"/>
                </a:solidFill>
                <a:highlight>
                  <a:srgbClr val="FFFF00"/>
                </a:highlight>
              </a:rPr>
              <a:t>Presente en cualquier lugar y en cualquier momento</a:t>
            </a:r>
            <a:r>
              <a:rPr lang="en-US" sz="1500" dirty="0">
                <a:solidFill>
                  <a:schemeClr val="dk1"/>
                </a:solidFill>
              </a:rPr>
              <a:t>.</a:t>
            </a:r>
            <a:endParaRPr sz="700" dirty="0">
              <a:solidFill>
                <a:schemeClr val="dk1"/>
              </a:solidFill>
            </a:endParaRPr>
          </a:p>
          <a:p>
            <a:pPr lvl="0">
              <a:spcBef>
                <a:spcPts val="520"/>
              </a:spcBef>
            </a:pPr>
            <a:r>
              <a:rPr lang="en-US" sz="2300" b="1" i="1" dirty="0" err="1">
                <a:solidFill>
                  <a:srgbClr val="003399"/>
                </a:solidFill>
              </a:rPr>
              <a:t>Interconexión</a:t>
            </a:r>
            <a:r>
              <a:rPr lang="en-US" sz="2300" b="1" dirty="0">
                <a:solidFill>
                  <a:schemeClr val="dk1"/>
                </a:solidFill>
              </a:rPr>
              <a:t>:</a:t>
            </a:r>
            <a:r>
              <a:rPr lang="en-US" sz="2300" dirty="0">
                <a:solidFill>
                  <a:schemeClr val="dk1"/>
                </a:solidFill>
              </a:rPr>
              <a:t> </a:t>
            </a:r>
            <a:r>
              <a:rPr lang="es-MX" dirty="0">
                <a:solidFill>
                  <a:schemeClr val="dk1"/>
                </a:solidFill>
              </a:rPr>
              <a:t>Comunicación perpetua entre sistemas o agentes</a:t>
            </a:r>
            <a:r>
              <a:rPr lang="en-US" dirty="0">
                <a:solidFill>
                  <a:schemeClr val="dk1"/>
                </a:solidFill>
              </a:rPr>
              <a:t>.</a:t>
            </a:r>
            <a:endParaRPr dirty="0">
              <a:solidFill>
                <a:schemeClr val="dk1"/>
              </a:solidFill>
            </a:endParaRPr>
          </a:p>
          <a:p>
            <a:pPr lvl="0">
              <a:spcBef>
                <a:spcPts val="520"/>
              </a:spcBef>
            </a:pPr>
            <a:r>
              <a:rPr lang="en-US" sz="2300" b="1" i="1" dirty="0" err="1">
                <a:solidFill>
                  <a:srgbClr val="003399"/>
                </a:solidFill>
              </a:rPr>
              <a:t>inteligencia</a:t>
            </a:r>
            <a:r>
              <a:rPr lang="en-US" sz="2300" b="1" dirty="0">
                <a:solidFill>
                  <a:schemeClr val="dk1"/>
                </a:solidFill>
              </a:rPr>
              <a:t>: </a:t>
            </a:r>
            <a:r>
              <a:rPr lang="es-MX" dirty="0">
                <a:solidFill>
                  <a:schemeClr val="dk1"/>
                </a:solidFill>
              </a:rPr>
              <a:t>Capacidad para aprender, comprender y tomar decisiones</a:t>
            </a:r>
            <a:r>
              <a:rPr lang="en-US" dirty="0">
                <a:solidFill>
                  <a:schemeClr val="dk1"/>
                </a:solidFill>
              </a:rPr>
              <a:t>.</a:t>
            </a:r>
            <a:endParaRPr dirty="0"/>
          </a:p>
        </p:txBody>
      </p:sp>
      <p:sp>
        <p:nvSpPr>
          <p:cNvPr id="3" name="Google Shape;426;g310c24f165f_0_52">
            <a:extLst>
              <a:ext uri="{FF2B5EF4-FFF2-40B4-BE49-F238E27FC236}">
                <a16:creationId xmlns:a16="http://schemas.microsoft.com/office/drawing/2014/main" id="{E106F975-EBD8-8987-A7BC-C9D9553B7390}"/>
              </a:ext>
            </a:extLst>
          </p:cNvPr>
          <p:cNvSpPr txBox="1"/>
          <p:nvPr/>
        </p:nvSpPr>
        <p:spPr>
          <a:xfrm>
            <a:off x="4719900" y="3817590"/>
            <a:ext cx="4184100" cy="16209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spcBef>
                <a:spcPts val="520"/>
              </a:spcBef>
            </a:pPr>
            <a:r>
              <a:rPr lang="en-US" sz="2300" b="1" i="1" dirty="0" err="1">
                <a:solidFill>
                  <a:srgbClr val="003399"/>
                </a:solidFill>
              </a:rPr>
              <a:t>delegación</a:t>
            </a:r>
            <a:r>
              <a:rPr lang="en-US" sz="2300" b="1" dirty="0">
                <a:solidFill>
                  <a:schemeClr val="dk1"/>
                </a:solidFill>
              </a:rPr>
              <a:t>:</a:t>
            </a:r>
            <a:r>
              <a:rPr lang="en-US" sz="2300" dirty="0">
                <a:solidFill>
                  <a:schemeClr val="dk1"/>
                </a:solidFill>
              </a:rPr>
              <a:t> </a:t>
            </a:r>
            <a:r>
              <a:rPr lang="en-US" sz="1300" dirty="0" err="1">
                <a:solidFill>
                  <a:schemeClr val="dk1"/>
                </a:solidFill>
              </a:rPr>
              <a:t>Asignar</a:t>
            </a:r>
            <a:r>
              <a:rPr lang="en-US" sz="1300" dirty="0">
                <a:solidFill>
                  <a:schemeClr val="dk1"/>
                </a:solidFill>
              </a:rPr>
              <a:t> </a:t>
            </a:r>
            <a:r>
              <a:rPr lang="en-US" sz="1300" dirty="0" err="1">
                <a:solidFill>
                  <a:schemeClr val="dk1"/>
                </a:solidFill>
              </a:rPr>
              <a:t>tareas</a:t>
            </a:r>
            <a:r>
              <a:rPr lang="en-US" sz="1300" dirty="0">
                <a:solidFill>
                  <a:schemeClr val="dk1"/>
                </a:solidFill>
              </a:rPr>
              <a:t> o </a:t>
            </a:r>
            <a:r>
              <a:rPr lang="en-US" sz="1300" dirty="0" err="1">
                <a:solidFill>
                  <a:schemeClr val="dk1"/>
                </a:solidFill>
              </a:rPr>
              <a:t>responsabilidades</a:t>
            </a:r>
            <a:r>
              <a:rPr lang="en-US" sz="1300" dirty="0">
                <a:solidFill>
                  <a:schemeClr val="dk1"/>
                </a:solidFill>
              </a:rPr>
              <a:t> a un </a:t>
            </a:r>
            <a:r>
              <a:rPr lang="en-US" sz="1300" dirty="0" err="1">
                <a:solidFill>
                  <a:schemeClr val="dk1"/>
                </a:solidFill>
              </a:rPr>
              <a:t>sistema</a:t>
            </a:r>
            <a:r>
              <a:rPr lang="en-US" sz="1300" dirty="0">
                <a:solidFill>
                  <a:schemeClr val="dk1"/>
                </a:solidFill>
              </a:rPr>
              <a:t>.</a:t>
            </a:r>
            <a:endParaRPr sz="1300" dirty="0">
              <a:solidFill>
                <a:schemeClr val="dk1"/>
              </a:solidFill>
            </a:endParaRPr>
          </a:p>
          <a:p>
            <a:pPr lvl="0">
              <a:spcBef>
                <a:spcPts val="520"/>
              </a:spcBef>
            </a:pPr>
            <a:r>
              <a:rPr lang="en-US" sz="2300" b="1" i="1" dirty="0" err="1">
                <a:solidFill>
                  <a:srgbClr val="003399"/>
                </a:solidFill>
              </a:rPr>
              <a:t>orientación</a:t>
            </a:r>
            <a:r>
              <a:rPr lang="en-US" sz="2300" b="1" i="1" dirty="0">
                <a:solidFill>
                  <a:srgbClr val="003399"/>
                </a:solidFill>
              </a:rPr>
              <a:t> humana</a:t>
            </a:r>
            <a:r>
              <a:rPr lang="en-US" sz="2300" b="1" dirty="0">
                <a:solidFill>
                  <a:schemeClr val="dk1"/>
                </a:solidFill>
              </a:rPr>
              <a:t>: </a:t>
            </a:r>
            <a:r>
              <a:rPr lang="es-MX" sz="1300" dirty="0">
                <a:solidFill>
                  <a:schemeClr val="dk1"/>
                </a:solidFill>
              </a:rPr>
              <a:t>Diseñar sistemas e interacciones con un enfoque en las necesidades y la comprensión humanas</a:t>
            </a:r>
            <a:r>
              <a:rPr lang="en-US" sz="1300" dirty="0">
                <a:solidFill>
                  <a:schemeClr val="dk1"/>
                </a:solidFill>
              </a:rPr>
              <a:t>.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6" name="Google Shape;423;g310c24f165f_0_52">
            <a:extLst>
              <a:ext uri="{FF2B5EF4-FFF2-40B4-BE49-F238E27FC236}">
                <a16:creationId xmlns:a16="http://schemas.microsoft.com/office/drawing/2014/main" id="{7697B047-F4FC-9D95-06BE-4D8CD0FED0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77822"/>
            <a:ext cx="8229600" cy="8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US" dirty="0" err="1"/>
              <a:t>Repaso</a:t>
            </a:r>
            <a:r>
              <a:rPr lang="en-US" dirty="0"/>
              <a:t>: Medio </a:t>
            </a:r>
            <a:r>
              <a:rPr lang="en-US" dirty="0" err="1"/>
              <a:t>ambiente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843293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10c24f165f_0_52"/>
          <p:cNvSpPr txBox="1">
            <a:spLocks noGrp="1"/>
          </p:cNvSpPr>
          <p:nvPr>
            <p:ph type="body" idx="1"/>
          </p:nvPr>
        </p:nvSpPr>
        <p:spPr>
          <a:xfrm>
            <a:off x="457200" y="1044044"/>
            <a:ext cx="8229600" cy="2984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520"/>
              </a:spcBef>
            </a:pPr>
            <a:r>
              <a:rPr lang="en-US" sz="2100" i="1" dirty="0">
                <a:solidFill>
                  <a:schemeClr val="dk1"/>
                </a:solidFill>
              </a:rPr>
              <a:t>“</a:t>
            </a:r>
            <a:r>
              <a:rPr lang="es-MX" sz="2400" dirty="0"/>
              <a:t>Un asistente virtual que reserva vuelos según tus preferencias.</a:t>
            </a:r>
          </a:p>
          <a:p>
            <a:pPr marL="0" lvl="0" indent="0">
              <a:spcBef>
                <a:spcPts val="520"/>
              </a:spcBef>
            </a:pPr>
            <a:r>
              <a:rPr lang="es-MX" sz="2400" dirty="0"/>
              <a:t>Una app bancaria que paga tus servicios en la fecha programada.</a:t>
            </a:r>
          </a:p>
          <a:p>
            <a:pPr marL="0" lvl="0" indent="0">
              <a:spcBef>
                <a:spcPts val="520"/>
              </a:spcBef>
            </a:pPr>
            <a:r>
              <a:rPr lang="es-MX" sz="2400" dirty="0"/>
              <a:t>Un robot de cocina que prepara recetas sin supervisión humana</a:t>
            </a:r>
            <a:r>
              <a:rPr lang="en-US" sz="2100" i="1" dirty="0">
                <a:solidFill>
                  <a:schemeClr val="dk1"/>
                </a:solidFill>
              </a:rPr>
              <a:t>.”</a:t>
            </a:r>
            <a:endParaRPr sz="2100" i="1" dirty="0">
              <a:solidFill>
                <a:schemeClr val="dk1"/>
              </a:solidFill>
            </a:endParaRPr>
          </a:p>
          <a:p>
            <a:pPr marL="0" lvl="0" indent="0">
              <a:spcBef>
                <a:spcPts val="520"/>
              </a:spcBef>
            </a:pPr>
            <a:r>
              <a:rPr lang="es-MX" sz="2300" b="1" dirty="0">
                <a:solidFill>
                  <a:schemeClr val="dk1"/>
                </a:solidFill>
              </a:rPr>
              <a:t>podrían considerarse ejemplos de</a:t>
            </a:r>
            <a:r>
              <a:rPr lang="en-US" sz="2300" b="1" dirty="0">
                <a:solidFill>
                  <a:schemeClr val="dk1"/>
                </a:solidFill>
              </a:rPr>
              <a:t>:</a:t>
            </a:r>
            <a:endParaRPr sz="1700" b="1" dirty="0"/>
          </a:p>
        </p:txBody>
      </p:sp>
      <p:sp>
        <p:nvSpPr>
          <p:cNvPr id="425" name="Google Shape;425;g310c24f165f_0_52"/>
          <p:cNvSpPr txBox="1"/>
          <p:nvPr/>
        </p:nvSpPr>
        <p:spPr>
          <a:xfrm>
            <a:off x="457325" y="3896753"/>
            <a:ext cx="4262700" cy="2100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spcBef>
                <a:spcPts val="520"/>
              </a:spcBef>
            </a:pPr>
            <a:r>
              <a:rPr lang="en-US" sz="2300" b="1" i="1" dirty="0" err="1">
                <a:solidFill>
                  <a:srgbClr val="003399"/>
                </a:solidFill>
              </a:rPr>
              <a:t>ubicuidad</a:t>
            </a:r>
            <a:r>
              <a:rPr lang="en-US" sz="2300" b="1" dirty="0">
                <a:solidFill>
                  <a:schemeClr val="dk1"/>
                </a:solidFill>
              </a:rPr>
              <a:t>: </a:t>
            </a:r>
            <a:r>
              <a:rPr lang="es-MX" sz="1500" dirty="0">
                <a:solidFill>
                  <a:schemeClr val="dk1"/>
                </a:solidFill>
              </a:rPr>
              <a:t>Presente en cualquier lugar y en cualquier momento</a:t>
            </a:r>
            <a:r>
              <a:rPr lang="en-US" sz="1500" dirty="0">
                <a:solidFill>
                  <a:schemeClr val="dk1"/>
                </a:solidFill>
              </a:rPr>
              <a:t>.</a:t>
            </a:r>
            <a:endParaRPr sz="700" dirty="0">
              <a:solidFill>
                <a:schemeClr val="dk1"/>
              </a:solidFill>
            </a:endParaRPr>
          </a:p>
          <a:p>
            <a:pPr lvl="0">
              <a:spcBef>
                <a:spcPts val="520"/>
              </a:spcBef>
            </a:pPr>
            <a:r>
              <a:rPr lang="en-US" sz="2300" b="1" i="1" dirty="0" err="1">
                <a:solidFill>
                  <a:srgbClr val="003399"/>
                </a:solidFill>
              </a:rPr>
              <a:t>Interconexión</a:t>
            </a:r>
            <a:r>
              <a:rPr lang="en-US" sz="2300" b="1" dirty="0">
                <a:solidFill>
                  <a:schemeClr val="dk1"/>
                </a:solidFill>
              </a:rPr>
              <a:t>:</a:t>
            </a:r>
            <a:r>
              <a:rPr lang="en-US" sz="2300" dirty="0">
                <a:solidFill>
                  <a:schemeClr val="dk1"/>
                </a:solidFill>
              </a:rPr>
              <a:t> </a:t>
            </a:r>
            <a:r>
              <a:rPr lang="es-MX" dirty="0">
                <a:solidFill>
                  <a:schemeClr val="dk1"/>
                </a:solidFill>
              </a:rPr>
              <a:t>Comunicación perpetua entre sistemas o agentes</a:t>
            </a:r>
            <a:r>
              <a:rPr lang="en-US" dirty="0">
                <a:solidFill>
                  <a:schemeClr val="dk1"/>
                </a:solidFill>
              </a:rPr>
              <a:t>.</a:t>
            </a:r>
            <a:endParaRPr dirty="0">
              <a:solidFill>
                <a:schemeClr val="dk1"/>
              </a:solidFill>
            </a:endParaRPr>
          </a:p>
          <a:p>
            <a:pPr lvl="0">
              <a:spcBef>
                <a:spcPts val="520"/>
              </a:spcBef>
            </a:pPr>
            <a:r>
              <a:rPr lang="en-US" sz="2300" b="1" i="1" dirty="0" err="1">
                <a:solidFill>
                  <a:srgbClr val="003399"/>
                </a:solidFill>
              </a:rPr>
              <a:t>inteligencia</a:t>
            </a:r>
            <a:r>
              <a:rPr lang="en-US" sz="2300" b="1" dirty="0">
                <a:solidFill>
                  <a:schemeClr val="dk1"/>
                </a:solidFill>
              </a:rPr>
              <a:t>: </a:t>
            </a:r>
            <a:r>
              <a:rPr lang="es-MX" dirty="0">
                <a:solidFill>
                  <a:schemeClr val="dk1"/>
                </a:solidFill>
              </a:rPr>
              <a:t>Capacidad para aprender, comprender y tomar decisiones</a:t>
            </a:r>
            <a:r>
              <a:rPr lang="en-US" dirty="0">
                <a:solidFill>
                  <a:schemeClr val="dk1"/>
                </a:solidFill>
              </a:rPr>
              <a:t>.</a:t>
            </a:r>
            <a:endParaRPr dirty="0"/>
          </a:p>
        </p:txBody>
      </p:sp>
      <p:sp>
        <p:nvSpPr>
          <p:cNvPr id="426" name="Google Shape;426;g310c24f165f_0_52"/>
          <p:cNvSpPr txBox="1"/>
          <p:nvPr/>
        </p:nvSpPr>
        <p:spPr>
          <a:xfrm>
            <a:off x="4720025" y="4202357"/>
            <a:ext cx="4184100" cy="16209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spcBef>
                <a:spcPts val="520"/>
              </a:spcBef>
            </a:pPr>
            <a:r>
              <a:rPr lang="en-US" sz="2300" b="1" i="1" dirty="0" err="1">
                <a:solidFill>
                  <a:srgbClr val="003399"/>
                </a:solidFill>
              </a:rPr>
              <a:t>delegación</a:t>
            </a:r>
            <a:r>
              <a:rPr lang="en-US" sz="2300" b="1" dirty="0">
                <a:solidFill>
                  <a:schemeClr val="dk1"/>
                </a:solidFill>
              </a:rPr>
              <a:t>:</a:t>
            </a:r>
            <a:r>
              <a:rPr lang="en-US" sz="2300" dirty="0">
                <a:solidFill>
                  <a:schemeClr val="dk1"/>
                </a:solidFill>
              </a:rPr>
              <a:t> </a:t>
            </a:r>
            <a:r>
              <a:rPr lang="en-US" sz="1300" dirty="0" err="1">
                <a:solidFill>
                  <a:schemeClr val="dk1"/>
                </a:solidFill>
              </a:rPr>
              <a:t>Asignar</a:t>
            </a:r>
            <a:r>
              <a:rPr lang="en-US" sz="1300" dirty="0">
                <a:solidFill>
                  <a:schemeClr val="dk1"/>
                </a:solidFill>
              </a:rPr>
              <a:t> </a:t>
            </a:r>
            <a:r>
              <a:rPr lang="en-US" sz="1300" dirty="0" err="1">
                <a:solidFill>
                  <a:schemeClr val="dk1"/>
                </a:solidFill>
              </a:rPr>
              <a:t>tareas</a:t>
            </a:r>
            <a:r>
              <a:rPr lang="en-US" sz="1300" dirty="0">
                <a:solidFill>
                  <a:schemeClr val="dk1"/>
                </a:solidFill>
              </a:rPr>
              <a:t> o </a:t>
            </a:r>
            <a:r>
              <a:rPr lang="en-US" sz="1300" dirty="0" err="1">
                <a:solidFill>
                  <a:schemeClr val="dk1"/>
                </a:solidFill>
              </a:rPr>
              <a:t>responsabilidades</a:t>
            </a:r>
            <a:r>
              <a:rPr lang="en-US" sz="1300" dirty="0">
                <a:solidFill>
                  <a:schemeClr val="dk1"/>
                </a:solidFill>
              </a:rPr>
              <a:t> a un </a:t>
            </a:r>
            <a:r>
              <a:rPr lang="en-US" sz="1300" dirty="0" err="1">
                <a:solidFill>
                  <a:schemeClr val="dk1"/>
                </a:solidFill>
              </a:rPr>
              <a:t>sistema</a:t>
            </a:r>
            <a:r>
              <a:rPr lang="en-US" sz="1300" dirty="0">
                <a:solidFill>
                  <a:schemeClr val="dk1"/>
                </a:solidFill>
              </a:rPr>
              <a:t>.</a:t>
            </a:r>
            <a:endParaRPr sz="1300" dirty="0">
              <a:solidFill>
                <a:schemeClr val="dk1"/>
              </a:solidFill>
            </a:endParaRPr>
          </a:p>
          <a:p>
            <a:pPr lvl="0">
              <a:spcBef>
                <a:spcPts val="520"/>
              </a:spcBef>
            </a:pPr>
            <a:r>
              <a:rPr lang="en-US" sz="2300" b="1" i="1" dirty="0" err="1">
                <a:solidFill>
                  <a:srgbClr val="003399"/>
                </a:solidFill>
              </a:rPr>
              <a:t>orientación</a:t>
            </a:r>
            <a:r>
              <a:rPr lang="en-US" sz="2300" b="1" i="1" dirty="0">
                <a:solidFill>
                  <a:srgbClr val="003399"/>
                </a:solidFill>
              </a:rPr>
              <a:t> humana</a:t>
            </a:r>
            <a:r>
              <a:rPr lang="en-US" sz="2300" b="1" dirty="0">
                <a:solidFill>
                  <a:schemeClr val="dk1"/>
                </a:solidFill>
              </a:rPr>
              <a:t>: </a:t>
            </a:r>
            <a:r>
              <a:rPr lang="es-MX" sz="1300" dirty="0">
                <a:solidFill>
                  <a:schemeClr val="dk1"/>
                </a:solidFill>
              </a:rPr>
              <a:t>Diseñar sistemas e interacciones con un enfoque en las necesidades y la comprensión humanas</a:t>
            </a:r>
            <a:r>
              <a:rPr lang="en-US" sz="1300" dirty="0">
                <a:solidFill>
                  <a:schemeClr val="dk1"/>
                </a:solidFill>
              </a:rPr>
              <a:t>.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4" name="Google Shape;423;g310c24f165f_0_52">
            <a:extLst>
              <a:ext uri="{FF2B5EF4-FFF2-40B4-BE49-F238E27FC236}">
                <a16:creationId xmlns:a16="http://schemas.microsoft.com/office/drawing/2014/main" id="{7BFD7D71-E3EE-98E9-F0C4-54BA637E545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77822"/>
            <a:ext cx="8229600" cy="8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US" dirty="0" err="1"/>
              <a:t>Repaso</a:t>
            </a:r>
            <a:r>
              <a:rPr lang="en-US" dirty="0"/>
              <a:t>: Medio </a:t>
            </a:r>
            <a:r>
              <a:rPr lang="en-US" dirty="0" err="1"/>
              <a:t>ambiente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2">
          <a:extLst>
            <a:ext uri="{FF2B5EF4-FFF2-40B4-BE49-F238E27FC236}">
              <a16:creationId xmlns:a16="http://schemas.microsoft.com/office/drawing/2014/main" id="{8B9ABA8C-BEA3-792B-F278-5D1169245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10c24f165f_0_52">
            <a:extLst>
              <a:ext uri="{FF2B5EF4-FFF2-40B4-BE49-F238E27FC236}">
                <a16:creationId xmlns:a16="http://schemas.microsoft.com/office/drawing/2014/main" id="{94F8A08C-8FCE-9DF5-E944-25D41811CD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044044"/>
            <a:ext cx="8229600" cy="2984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520"/>
              </a:spcBef>
            </a:pPr>
            <a:r>
              <a:rPr lang="en-US" sz="2100" i="1" dirty="0">
                <a:solidFill>
                  <a:schemeClr val="dk1"/>
                </a:solidFill>
              </a:rPr>
              <a:t>“</a:t>
            </a:r>
            <a:r>
              <a:rPr lang="es-MX" sz="2400" dirty="0"/>
              <a:t>Un asistente virtual que reserva vuelos según tus preferencias.</a:t>
            </a:r>
          </a:p>
          <a:p>
            <a:pPr marL="0" lvl="0" indent="0">
              <a:spcBef>
                <a:spcPts val="520"/>
              </a:spcBef>
            </a:pPr>
            <a:r>
              <a:rPr lang="es-MX" sz="2400" dirty="0"/>
              <a:t>Una app bancaria que paga tus servicios en la fecha programada.</a:t>
            </a:r>
          </a:p>
          <a:p>
            <a:pPr marL="0" lvl="0" indent="0">
              <a:spcBef>
                <a:spcPts val="520"/>
              </a:spcBef>
            </a:pPr>
            <a:r>
              <a:rPr lang="es-MX" sz="2400" dirty="0"/>
              <a:t>Un robot de cocina que prepara recetas sin supervisión humana</a:t>
            </a:r>
            <a:r>
              <a:rPr lang="en-US" sz="2100" i="1" dirty="0">
                <a:solidFill>
                  <a:schemeClr val="dk1"/>
                </a:solidFill>
              </a:rPr>
              <a:t>.”</a:t>
            </a:r>
            <a:endParaRPr sz="2100" i="1" dirty="0">
              <a:solidFill>
                <a:schemeClr val="dk1"/>
              </a:solidFill>
            </a:endParaRPr>
          </a:p>
          <a:p>
            <a:pPr marL="0" lvl="0" indent="0">
              <a:spcBef>
                <a:spcPts val="520"/>
              </a:spcBef>
            </a:pPr>
            <a:r>
              <a:rPr lang="es-MX" sz="2300" b="1" dirty="0">
                <a:solidFill>
                  <a:schemeClr val="dk1"/>
                </a:solidFill>
              </a:rPr>
              <a:t>podrían considerarse ejemplos de</a:t>
            </a:r>
            <a:r>
              <a:rPr lang="en-US" sz="2300" b="1" dirty="0">
                <a:solidFill>
                  <a:schemeClr val="dk1"/>
                </a:solidFill>
              </a:rPr>
              <a:t>:</a:t>
            </a:r>
            <a:endParaRPr sz="1700" b="1" dirty="0"/>
          </a:p>
        </p:txBody>
      </p:sp>
      <p:sp>
        <p:nvSpPr>
          <p:cNvPr id="425" name="Google Shape;425;g310c24f165f_0_52">
            <a:extLst>
              <a:ext uri="{FF2B5EF4-FFF2-40B4-BE49-F238E27FC236}">
                <a16:creationId xmlns:a16="http://schemas.microsoft.com/office/drawing/2014/main" id="{CF86C8A6-967A-0B89-94B7-B783CB0DD914}"/>
              </a:ext>
            </a:extLst>
          </p:cNvPr>
          <p:cNvSpPr txBox="1"/>
          <p:nvPr/>
        </p:nvSpPr>
        <p:spPr>
          <a:xfrm>
            <a:off x="457325" y="3896753"/>
            <a:ext cx="4262700" cy="2100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spcBef>
                <a:spcPts val="520"/>
              </a:spcBef>
            </a:pPr>
            <a:r>
              <a:rPr lang="en-US" sz="2300" b="1" i="1" dirty="0" err="1">
                <a:solidFill>
                  <a:srgbClr val="003399"/>
                </a:solidFill>
              </a:rPr>
              <a:t>ubicuidad</a:t>
            </a:r>
            <a:r>
              <a:rPr lang="en-US" sz="2300" b="1" dirty="0">
                <a:solidFill>
                  <a:schemeClr val="dk1"/>
                </a:solidFill>
              </a:rPr>
              <a:t>: </a:t>
            </a:r>
            <a:r>
              <a:rPr lang="es-MX" sz="1500" dirty="0">
                <a:solidFill>
                  <a:schemeClr val="dk1"/>
                </a:solidFill>
              </a:rPr>
              <a:t>Presente en cualquier lugar y en cualquier momento</a:t>
            </a:r>
            <a:r>
              <a:rPr lang="en-US" sz="1500" dirty="0">
                <a:solidFill>
                  <a:schemeClr val="dk1"/>
                </a:solidFill>
              </a:rPr>
              <a:t>.</a:t>
            </a:r>
            <a:endParaRPr sz="700" dirty="0">
              <a:solidFill>
                <a:schemeClr val="dk1"/>
              </a:solidFill>
            </a:endParaRPr>
          </a:p>
          <a:p>
            <a:pPr lvl="0">
              <a:spcBef>
                <a:spcPts val="520"/>
              </a:spcBef>
            </a:pPr>
            <a:r>
              <a:rPr lang="en-US" sz="2300" b="1" i="1" dirty="0" err="1">
                <a:solidFill>
                  <a:srgbClr val="003399"/>
                </a:solidFill>
              </a:rPr>
              <a:t>Interconexión</a:t>
            </a:r>
            <a:r>
              <a:rPr lang="en-US" sz="2300" b="1" dirty="0">
                <a:solidFill>
                  <a:schemeClr val="dk1"/>
                </a:solidFill>
              </a:rPr>
              <a:t>:</a:t>
            </a:r>
            <a:r>
              <a:rPr lang="en-US" sz="2300" dirty="0">
                <a:solidFill>
                  <a:schemeClr val="dk1"/>
                </a:solidFill>
              </a:rPr>
              <a:t> </a:t>
            </a:r>
            <a:r>
              <a:rPr lang="es-MX" dirty="0">
                <a:solidFill>
                  <a:schemeClr val="dk1"/>
                </a:solidFill>
              </a:rPr>
              <a:t>Comunicación perpetua entre sistemas o agentes</a:t>
            </a:r>
            <a:r>
              <a:rPr lang="en-US" dirty="0">
                <a:solidFill>
                  <a:schemeClr val="dk1"/>
                </a:solidFill>
              </a:rPr>
              <a:t>.</a:t>
            </a:r>
            <a:endParaRPr dirty="0">
              <a:solidFill>
                <a:schemeClr val="dk1"/>
              </a:solidFill>
            </a:endParaRPr>
          </a:p>
          <a:p>
            <a:pPr lvl="0">
              <a:spcBef>
                <a:spcPts val="520"/>
              </a:spcBef>
            </a:pPr>
            <a:r>
              <a:rPr lang="en-US" sz="2300" b="1" i="1" dirty="0" err="1">
                <a:solidFill>
                  <a:srgbClr val="003399"/>
                </a:solidFill>
              </a:rPr>
              <a:t>inteligencia</a:t>
            </a:r>
            <a:r>
              <a:rPr lang="en-US" sz="2300" b="1" dirty="0">
                <a:solidFill>
                  <a:schemeClr val="dk1"/>
                </a:solidFill>
              </a:rPr>
              <a:t>: </a:t>
            </a:r>
            <a:r>
              <a:rPr lang="es-MX" dirty="0">
                <a:solidFill>
                  <a:schemeClr val="dk1"/>
                </a:solidFill>
              </a:rPr>
              <a:t>Capacidad para aprender, comprender y tomar decisiones</a:t>
            </a:r>
            <a:r>
              <a:rPr lang="en-US" dirty="0">
                <a:solidFill>
                  <a:schemeClr val="dk1"/>
                </a:solidFill>
              </a:rPr>
              <a:t>.</a:t>
            </a:r>
            <a:endParaRPr dirty="0"/>
          </a:p>
        </p:txBody>
      </p:sp>
      <p:sp>
        <p:nvSpPr>
          <p:cNvPr id="426" name="Google Shape;426;g310c24f165f_0_52">
            <a:extLst>
              <a:ext uri="{FF2B5EF4-FFF2-40B4-BE49-F238E27FC236}">
                <a16:creationId xmlns:a16="http://schemas.microsoft.com/office/drawing/2014/main" id="{E7F3263E-E547-2600-7653-B8CE19658C1B}"/>
              </a:ext>
            </a:extLst>
          </p:cNvPr>
          <p:cNvSpPr txBox="1"/>
          <p:nvPr/>
        </p:nvSpPr>
        <p:spPr>
          <a:xfrm>
            <a:off x="4720025" y="4202357"/>
            <a:ext cx="4184100" cy="16209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spcBef>
                <a:spcPts val="520"/>
              </a:spcBef>
            </a:pPr>
            <a:r>
              <a:rPr lang="en-US" sz="2300" b="1" i="1" dirty="0" err="1">
                <a:solidFill>
                  <a:srgbClr val="003399"/>
                </a:solidFill>
                <a:highlight>
                  <a:srgbClr val="FFFF00"/>
                </a:highlight>
              </a:rPr>
              <a:t>delegación</a:t>
            </a:r>
            <a:r>
              <a:rPr lang="en-US" sz="2300" b="1" dirty="0">
                <a:solidFill>
                  <a:schemeClr val="dk1"/>
                </a:solidFill>
                <a:highlight>
                  <a:srgbClr val="FFFF00"/>
                </a:highlight>
              </a:rPr>
              <a:t>:</a:t>
            </a:r>
            <a:r>
              <a:rPr lang="en-US" sz="2300" dirty="0">
                <a:solidFill>
                  <a:schemeClr val="dk1"/>
                </a:solidFill>
                <a:highlight>
                  <a:srgbClr val="FFFF00"/>
                </a:highlight>
              </a:rPr>
              <a:t> </a:t>
            </a:r>
            <a:r>
              <a:rPr lang="en-US" sz="1300" dirty="0" err="1">
                <a:solidFill>
                  <a:schemeClr val="dk1"/>
                </a:solidFill>
                <a:highlight>
                  <a:srgbClr val="FFFF00"/>
                </a:highlight>
              </a:rPr>
              <a:t>Asignar</a:t>
            </a:r>
            <a:r>
              <a:rPr lang="en-US" sz="1300" dirty="0">
                <a:solidFill>
                  <a:schemeClr val="dk1"/>
                </a:solidFill>
                <a:highlight>
                  <a:srgbClr val="FFFF00"/>
                </a:highlight>
              </a:rPr>
              <a:t> </a:t>
            </a:r>
            <a:r>
              <a:rPr lang="en-US" sz="1300" dirty="0" err="1">
                <a:solidFill>
                  <a:schemeClr val="dk1"/>
                </a:solidFill>
                <a:highlight>
                  <a:srgbClr val="FFFF00"/>
                </a:highlight>
              </a:rPr>
              <a:t>tareas</a:t>
            </a:r>
            <a:r>
              <a:rPr lang="en-US" sz="1300" dirty="0">
                <a:solidFill>
                  <a:schemeClr val="dk1"/>
                </a:solidFill>
                <a:highlight>
                  <a:srgbClr val="FFFF00"/>
                </a:highlight>
              </a:rPr>
              <a:t> o </a:t>
            </a:r>
            <a:r>
              <a:rPr lang="en-US" sz="1300" dirty="0" err="1">
                <a:solidFill>
                  <a:schemeClr val="dk1"/>
                </a:solidFill>
                <a:highlight>
                  <a:srgbClr val="FFFF00"/>
                </a:highlight>
              </a:rPr>
              <a:t>responsabilidades</a:t>
            </a:r>
            <a:r>
              <a:rPr lang="en-US" sz="1300" dirty="0">
                <a:solidFill>
                  <a:schemeClr val="dk1"/>
                </a:solidFill>
                <a:highlight>
                  <a:srgbClr val="FFFF00"/>
                </a:highlight>
              </a:rPr>
              <a:t> a un </a:t>
            </a:r>
            <a:r>
              <a:rPr lang="en-US" sz="1300" dirty="0" err="1">
                <a:solidFill>
                  <a:schemeClr val="dk1"/>
                </a:solidFill>
                <a:highlight>
                  <a:srgbClr val="FFFF00"/>
                </a:highlight>
              </a:rPr>
              <a:t>sistema</a:t>
            </a:r>
            <a:r>
              <a:rPr lang="en-US" sz="1300" dirty="0">
                <a:solidFill>
                  <a:schemeClr val="dk1"/>
                </a:solidFill>
                <a:highlight>
                  <a:srgbClr val="FFFF00"/>
                </a:highlight>
              </a:rPr>
              <a:t>.</a:t>
            </a:r>
            <a:endParaRPr sz="1300" dirty="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lvl="0">
              <a:spcBef>
                <a:spcPts val="520"/>
              </a:spcBef>
            </a:pPr>
            <a:r>
              <a:rPr lang="en-US" sz="2300" b="1" i="1" dirty="0" err="1">
                <a:solidFill>
                  <a:srgbClr val="003399"/>
                </a:solidFill>
              </a:rPr>
              <a:t>orientación</a:t>
            </a:r>
            <a:r>
              <a:rPr lang="en-US" sz="2300" b="1" i="1" dirty="0">
                <a:solidFill>
                  <a:srgbClr val="003399"/>
                </a:solidFill>
              </a:rPr>
              <a:t> humana</a:t>
            </a:r>
            <a:r>
              <a:rPr lang="en-US" sz="2300" b="1" dirty="0">
                <a:solidFill>
                  <a:schemeClr val="dk1"/>
                </a:solidFill>
              </a:rPr>
              <a:t>: </a:t>
            </a:r>
            <a:r>
              <a:rPr lang="es-MX" sz="1300" dirty="0">
                <a:solidFill>
                  <a:schemeClr val="dk1"/>
                </a:solidFill>
              </a:rPr>
              <a:t>Diseñar sistemas e interacciones con un enfoque en las necesidades y la comprensión humanas</a:t>
            </a:r>
            <a:r>
              <a:rPr lang="en-US" sz="1300" dirty="0">
                <a:solidFill>
                  <a:schemeClr val="dk1"/>
                </a:solidFill>
              </a:rPr>
              <a:t>.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4" name="Google Shape;423;g310c24f165f_0_52">
            <a:extLst>
              <a:ext uri="{FF2B5EF4-FFF2-40B4-BE49-F238E27FC236}">
                <a16:creationId xmlns:a16="http://schemas.microsoft.com/office/drawing/2014/main" id="{D2899B55-83CF-5266-E284-E1F0A2AE935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77822"/>
            <a:ext cx="8229600" cy="8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US" dirty="0" err="1"/>
              <a:t>Repaso</a:t>
            </a:r>
            <a:r>
              <a:rPr lang="en-US" dirty="0"/>
              <a:t>: Medio </a:t>
            </a:r>
            <a:r>
              <a:rPr lang="en-US" dirty="0" err="1"/>
              <a:t>ambiente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158669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2">
          <a:extLst>
            <a:ext uri="{FF2B5EF4-FFF2-40B4-BE49-F238E27FC236}">
              <a16:creationId xmlns:a16="http://schemas.microsoft.com/office/drawing/2014/main" id="{689C3002-8BB8-D4D9-24CF-8BB6E8BA7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10c24f165f_0_52">
            <a:extLst>
              <a:ext uri="{FF2B5EF4-FFF2-40B4-BE49-F238E27FC236}">
                <a16:creationId xmlns:a16="http://schemas.microsoft.com/office/drawing/2014/main" id="{E7E2F9AF-3C0F-CF0F-5EB5-C954A38DAD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044044"/>
            <a:ext cx="8229600" cy="2984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520"/>
              </a:spcBef>
            </a:pPr>
            <a:r>
              <a:rPr lang="en-US" sz="2100" i="1" dirty="0">
                <a:solidFill>
                  <a:schemeClr val="dk1"/>
                </a:solidFill>
              </a:rPr>
              <a:t>“</a:t>
            </a:r>
            <a:r>
              <a:rPr lang="es-MX" sz="2400" dirty="0"/>
              <a:t>Sensores de tránsito que envían información a una central de control para ajustar semáforos.</a:t>
            </a:r>
          </a:p>
          <a:p>
            <a:pPr marL="0" lvl="0" indent="0">
              <a:spcBef>
                <a:spcPts val="520"/>
              </a:spcBef>
            </a:pPr>
            <a:r>
              <a:rPr lang="es-MX" sz="2400" dirty="0"/>
              <a:t>Tu smartphone controla las luces y el aire acondicionado de tu casa.</a:t>
            </a:r>
          </a:p>
          <a:p>
            <a:pPr marL="0" lvl="0" indent="0">
              <a:spcBef>
                <a:spcPts val="520"/>
              </a:spcBef>
            </a:pPr>
            <a:r>
              <a:rPr lang="es-MX" sz="2400" dirty="0"/>
              <a:t>Vehículos eléctricos que se conectan a estaciones inteligentes para programar la carga</a:t>
            </a:r>
            <a:r>
              <a:rPr lang="en-US" sz="2100" i="1" dirty="0">
                <a:solidFill>
                  <a:schemeClr val="dk1"/>
                </a:solidFill>
              </a:rPr>
              <a:t>.”</a:t>
            </a:r>
            <a:endParaRPr sz="2100" i="1" dirty="0">
              <a:solidFill>
                <a:schemeClr val="dk1"/>
              </a:solidFill>
            </a:endParaRPr>
          </a:p>
          <a:p>
            <a:pPr marL="0" lvl="0" indent="0">
              <a:spcBef>
                <a:spcPts val="520"/>
              </a:spcBef>
            </a:pPr>
            <a:r>
              <a:rPr lang="es-MX" sz="2300" b="1" dirty="0">
                <a:solidFill>
                  <a:schemeClr val="dk1"/>
                </a:solidFill>
              </a:rPr>
              <a:t>podrían considerarse ejemplos de</a:t>
            </a:r>
            <a:r>
              <a:rPr lang="en-US" sz="2300" b="1" dirty="0">
                <a:solidFill>
                  <a:schemeClr val="dk1"/>
                </a:solidFill>
              </a:rPr>
              <a:t>:</a:t>
            </a:r>
            <a:endParaRPr sz="1700" b="1" dirty="0"/>
          </a:p>
        </p:txBody>
      </p:sp>
      <p:sp>
        <p:nvSpPr>
          <p:cNvPr id="425" name="Google Shape;425;g310c24f165f_0_52">
            <a:extLst>
              <a:ext uri="{FF2B5EF4-FFF2-40B4-BE49-F238E27FC236}">
                <a16:creationId xmlns:a16="http://schemas.microsoft.com/office/drawing/2014/main" id="{025C1E0B-F34A-B6F1-3261-C4C638AAADFA}"/>
              </a:ext>
            </a:extLst>
          </p:cNvPr>
          <p:cNvSpPr txBox="1"/>
          <p:nvPr/>
        </p:nvSpPr>
        <p:spPr>
          <a:xfrm>
            <a:off x="457325" y="3896753"/>
            <a:ext cx="4262700" cy="2100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spcBef>
                <a:spcPts val="520"/>
              </a:spcBef>
            </a:pPr>
            <a:r>
              <a:rPr lang="en-US" sz="2300" b="1" i="1" dirty="0" err="1">
                <a:solidFill>
                  <a:srgbClr val="003399"/>
                </a:solidFill>
              </a:rPr>
              <a:t>ubicuidad</a:t>
            </a:r>
            <a:r>
              <a:rPr lang="en-US" sz="2300" b="1" dirty="0">
                <a:solidFill>
                  <a:schemeClr val="dk1"/>
                </a:solidFill>
              </a:rPr>
              <a:t>: </a:t>
            </a:r>
            <a:r>
              <a:rPr lang="es-MX" sz="1500" dirty="0">
                <a:solidFill>
                  <a:schemeClr val="dk1"/>
                </a:solidFill>
              </a:rPr>
              <a:t>Presente en cualquier lugar y en cualquier momento</a:t>
            </a:r>
            <a:r>
              <a:rPr lang="en-US" sz="1500" dirty="0">
                <a:solidFill>
                  <a:schemeClr val="dk1"/>
                </a:solidFill>
              </a:rPr>
              <a:t>.</a:t>
            </a:r>
            <a:endParaRPr sz="700" dirty="0">
              <a:solidFill>
                <a:schemeClr val="dk1"/>
              </a:solidFill>
            </a:endParaRPr>
          </a:p>
          <a:p>
            <a:pPr lvl="0">
              <a:spcBef>
                <a:spcPts val="520"/>
              </a:spcBef>
            </a:pPr>
            <a:r>
              <a:rPr lang="en-US" sz="2300" b="1" i="1" dirty="0" err="1">
                <a:solidFill>
                  <a:srgbClr val="003399"/>
                </a:solidFill>
              </a:rPr>
              <a:t>Interconexión</a:t>
            </a:r>
            <a:r>
              <a:rPr lang="en-US" sz="2300" b="1" dirty="0">
                <a:solidFill>
                  <a:schemeClr val="dk1"/>
                </a:solidFill>
              </a:rPr>
              <a:t>:</a:t>
            </a:r>
            <a:r>
              <a:rPr lang="en-US" sz="2300" dirty="0">
                <a:solidFill>
                  <a:schemeClr val="dk1"/>
                </a:solidFill>
              </a:rPr>
              <a:t> </a:t>
            </a:r>
            <a:r>
              <a:rPr lang="es-MX" dirty="0">
                <a:solidFill>
                  <a:schemeClr val="dk1"/>
                </a:solidFill>
              </a:rPr>
              <a:t>Comunicación perpetua entre sistemas o agentes</a:t>
            </a:r>
            <a:r>
              <a:rPr lang="en-US" dirty="0">
                <a:solidFill>
                  <a:schemeClr val="dk1"/>
                </a:solidFill>
              </a:rPr>
              <a:t>.</a:t>
            </a:r>
            <a:endParaRPr dirty="0">
              <a:solidFill>
                <a:schemeClr val="dk1"/>
              </a:solidFill>
            </a:endParaRPr>
          </a:p>
          <a:p>
            <a:pPr lvl="0">
              <a:spcBef>
                <a:spcPts val="520"/>
              </a:spcBef>
            </a:pPr>
            <a:r>
              <a:rPr lang="en-US" sz="2300" b="1" i="1" dirty="0" err="1">
                <a:solidFill>
                  <a:srgbClr val="003399"/>
                </a:solidFill>
              </a:rPr>
              <a:t>inteligencia</a:t>
            </a:r>
            <a:r>
              <a:rPr lang="en-US" sz="2300" b="1" dirty="0">
                <a:solidFill>
                  <a:schemeClr val="dk1"/>
                </a:solidFill>
              </a:rPr>
              <a:t>: </a:t>
            </a:r>
            <a:r>
              <a:rPr lang="es-MX" dirty="0">
                <a:solidFill>
                  <a:schemeClr val="dk1"/>
                </a:solidFill>
              </a:rPr>
              <a:t>Capacidad para aprender, comprender y tomar decisiones</a:t>
            </a:r>
            <a:r>
              <a:rPr lang="en-US" dirty="0">
                <a:solidFill>
                  <a:schemeClr val="dk1"/>
                </a:solidFill>
              </a:rPr>
              <a:t>.</a:t>
            </a:r>
            <a:endParaRPr dirty="0"/>
          </a:p>
        </p:txBody>
      </p:sp>
      <p:sp>
        <p:nvSpPr>
          <p:cNvPr id="426" name="Google Shape;426;g310c24f165f_0_52">
            <a:extLst>
              <a:ext uri="{FF2B5EF4-FFF2-40B4-BE49-F238E27FC236}">
                <a16:creationId xmlns:a16="http://schemas.microsoft.com/office/drawing/2014/main" id="{F333BC19-354E-127A-A0C7-F100687F3BBC}"/>
              </a:ext>
            </a:extLst>
          </p:cNvPr>
          <p:cNvSpPr txBox="1"/>
          <p:nvPr/>
        </p:nvSpPr>
        <p:spPr>
          <a:xfrm>
            <a:off x="4720025" y="4202357"/>
            <a:ext cx="4184100" cy="16209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spcBef>
                <a:spcPts val="520"/>
              </a:spcBef>
            </a:pPr>
            <a:r>
              <a:rPr lang="en-US" sz="2300" b="1" i="1" dirty="0" err="1">
                <a:solidFill>
                  <a:srgbClr val="003399"/>
                </a:solidFill>
              </a:rPr>
              <a:t>delegación</a:t>
            </a:r>
            <a:r>
              <a:rPr lang="en-US" sz="2300" b="1" dirty="0">
                <a:solidFill>
                  <a:schemeClr val="dk1"/>
                </a:solidFill>
              </a:rPr>
              <a:t>:</a:t>
            </a:r>
            <a:r>
              <a:rPr lang="en-US" sz="2300" dirty="0">
                <a:solidFill>
                  <a:schemeClr val="dk1"/>
                </a:solidFill>
              </a:rPr>
              <a:t> </a:t>
            </a:r>
            <a:r>
              <a:rPr lang="en-US" sz="1300" dirty="0" err="1">
                <a:solidFill>
                  <a:schemeClr val="dk1"/>
                </a:solidFill>
              </a:rPr>
              <a:t>Asignar</a:t>
            </a:r>
            <a:r>
              <a:rPr lang="en-US" sz="1300" dirty="0">
                <a:solidFill>
                  <a:schemeClr val="dk1"/>
                </a:solidFill>
              </a:rPr>
              <a:t> </a:t>
            </a:r>
            <a:r>
              <a:rPr lang="en-US" sz="1300" dirty="0" err="1">
                <a:solidFill>
                  <a:schemeClr val="dk1"/>
                </a:solidFill>
              </a:rPr>
              <a:t>tareas</a:t>
            </a:r>
            <a:r>
              <a:rPr lang="en-US" sz="1300" dirty="0">
                <a:solidFill>
                  <a:schemeClr val="dk1"/>
                </a:solidFill>
              </a:rPr>
              <a:t> o </a:t>
            </a:r>
            <a:r>
              <a:rPr lang="en-US" sz="1300" dirty="0" err="1">
                <a:solidFill>
                  <a:schemeClr val="dk1"/>
                </a:solidFill>
              </a:rPr>
              <a:t>responsabilidades</a:t>
            </a:r>
            <a:r>
              <a:rPr lang="en-US" sz="1300" dirty="0">
                <a:solidFill>
                  <a:schemeClr val="dk1"/>
                </a:solidFill>
              </a:rPr>
              <a:t> a un </a:t>
            </a:r>
            <a:r>
              <a:rPr lang="en-US" sz="1300" dirty="0" err="1">
                <a:solidFill>
                  <a:schemeClr val="dk1"/>
                </a:solidFill>
              </a:rPr>
              <a:t>sistema</a:t>
            </a:r>
            <a:r>
              <a:rPr lang="en-US" sz="1300" dirty="0">
                <a:solidFill>
                  <a:schemeClr val="dk1"/>
                </a:solidFill>
              </a:rPr>
              <a:t>.</a:t>
            </a:r>
            <a:endParaRPr sz="1300" dirty="0">
              <a:solidFill>
                <a:schemeClr val="dk1"/>
              </a:solidFill>
            </a:endParaRPr>
          </a:p>
          <a:p>
            <a:pPr lvl="0">
              <a:spcBef>
                <a:spcPts val="520"/>
              </a:spcBef>
            </a:pPr>
            <a:r>
              <a:rPr lang="en-US" sz="2300" b="1" i="1" dirty="0" err="1">
                <a:solidFill>
                  <a:srgbClr val="003399"/>
                </a:solidFill>
              </a:rPr>
              <a:t>orientación</a:t>
            </a:r>
            <a:r>
              <a:rPr lang="en-US" sz="2300" b="1" i="1" dirty="0">
                <a:solidFill>
                  <a:srgbClr val="003399"/>
                </a:solidFill>
              </a:rPr>
              <a:t> humana</a:t>
            </a:r>
            <a:r>
              <a:rPr lang="en-US" sz="2300" b="1" dirty="0">
                <a:solidFill>
                  <a:schemeClr val="dk1"/>
                </a:solidFill>
              </a:rPr>
              <a:t>: </a:t>
            </a:r>
            <a:r>
              <a:rPr lang="es-MX" sz="1300" dirty="0">
                <a:solidFill>
                  <a:schemeClr val="dk1"/>
                </a:solidFill>
              </a:rPr>
              <a:t>Diseñar sistemas e interacciones con un enfoque en las necesidades y la comprensión humanas</a:t>
            </a:r>
            <a:r>
              <a:rPr lang="en-US" sz="1300" dirty="0">
                <a:solidFill>
                  <a:schemeClr val="dk1"/>
                </a:solidFill>
              </a:rPr>
              <a:t>.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4" name="Google Shape;423;g310c24f165f_0_52">
            <a:extLst>
              <a:ext uri="{FF2B5EF4-FFF2-40B4-BE49-F238E27FC236}">
                <a16:creationId xmlns:a16="http://schemas.microsoft.com/office/drawing/2014/main" id="{231C74AD-CA56-CE29-6509-659AC5BD6A6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77822"/>
            <a:ext cx="8229600" cy="8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US" dirty="0" err="1"/>
              <a:t>Repaso</a:t>
            </a:r>
            <a:r>
              <a:rPr lang="en-US" dirty="0"/>
              <a:t>: Medio </a:t>
            </a:r>
            <a:r>
              <a:rPr lang="en-US" dirty="0" err="1"/>
              <a:t>ambiente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682522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2">
          <a:extLst>
            <a:ext uri="{FF2B5EF4-FFF2-40B4-BE49-F238E27FC236}">
              <a16:creationId xmlns:a16="http://schemas.microsoft.com/office/drawing/2014/main" id="{80588599-DAD1-5449-E7B3-4238F11DA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10c24f165f_0_52">
            <a:extLst>
              <a:ext uri="{FF2B5EF4-FFF2-40B4-BE49-F238E27FC236}">
                <a16:creationId xmlns:a16="http://schemas.microsoft.com/office/drawing/2014/main" id="{84566F0D-F074-F9D6-94B8-DC340E88CF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044044"/>
            <a:ext cx="8229600" cy="2984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520"/>
              </a:spcBef>
            </a:pPr>
            <a:r>
              <a:rPr lang="en-US" sz="2100" i="1" dirty="0">
                <a:solidFill>
                  <a:schemeClr val="dk1"/>
                </a:solidFill>
              </a:rPr>
              <a:t>“</a:t>
            </a:r>
            <a:r>
              <a:rPr lang="es-MX" sz="2400" dirty="0"/>
              <a:t>Sensores de tránsito que envían información a una central de control para ajustar semáforos.</a:t>
            </a:r>
          </a:p>
          <a:p>
            <a:pPr marL="0" lvl="0" indent="0">
              <a:spcBef>
                <a:spcPts val="520"/>
              </a:spcBef>
            </a:pPr>
            <a:r>
              <a:rPr lang="es-MX" sz="2400" dirty="0"/>
              <a:t>Tu smartphone controla las luces y el aire acondicionado de tu casa.</a:t>
            </a:r>
          </a:p>
          <a:p>
            <a:pPr marL="0" lvl="0" indent="0">
              <a:spcBef>
                <a:spcPts val="520"/>
              </a:spcBef>
            </a:pPr>
            <a:r>
              <a:rPr lang="es-MX" sz="2400" dirty="0"/>
              <a:t>Vehículos eléctricos que se conectan a estaciones inteligentes para programar la carga</a:t>
            </a:r>
            <a:r>
              <a:rPr lang="en-US" sz="2100" i="1" dirty="0">
                <a:solidFill>
                  <a:schemeClr val="dk1"/>
                </a:solidFill>
              </a:rPr>
              <a:t>.”</a:t>
            </a:r>
            <a:endParaRPr sz="2100" i="1" dirty="0">
              <a:solidFill>
                <a:schemeClr val="dk1"/>
              </a:solidFill>
            </a:endParaRPr>
          </a:p>
          <a:p>
            <a:pPr marL="0" lvl="0" indent="0">
              <a:spcBef>
                <a:spcPts val="520"/>
              </a:spcBef>
            </a:pPr>
            <a:r>
              <a:rPr lang="es-MX" sz="2300" b="1" dirty="0">
                <a:solidFill>
                  <a:schemeClr val="dk1"/>
                </a:solidFill>
              </a:rPr>
              <a:t>podrían considerarse ejemplos de</a:t>
            </a:r>
            <a:r>
              <a:rPr lang="en-US" sz="2300" b="1" dirty="0">
                <a:solidFill>
                  <a:schemeClr val="dk1"/>
                </a:solidFill>
              </a:rPr>
              <a:t>:</a:t>
            </a:r>
            <a:endParaRPr sz="1700" b="1" dirty="0"/>
          </a:p>
        </p:txBody>
      </p:sp>
      <p:sp>
        <p:nvSpPr>
          <p:cNvPr id="425" name="Google Shape;425;g310c24f165f_0_52">
            <a:extLst>
              <a:ext uri="{FF2B5EF4-FFF2-40B4-BE49-F238E27FC236}">
                <a16:creationId xmlns:a16="http://schemas.microsoft.com/office/drawing/2014/main" id="{E5A02563-0B0F-FA25-400C-EA0BC4CCD4DD}"/>
              </a:ext>
            </a:extLst>
          </p:cNvPr>
          <p:cNvSpPr txBox="1"/>
          <p:nvPr/>
        </p:nvSpPr>
        <p:spPr>
          <a:xfrm>
            <a:off x="457325" y="3896753"/>
            <a:ext cx="4262700" cy="2100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spcBef>
                <a:spcPts val="520"/>
              </a:spcBef>
            </a:pPr>
            <a:r>
              <a:rPr lang="en-US" sz="2300" b="1" i="1" dirty="0" err="1">
                <a:solidFill>
                  <a:srgbClr val="003399"/>
                </a:solidFill>
              </a:rPr>
              <a:t>ubicuidad</a:t>
            </a:r>
            <a:r>
              <a:rPr lang="en-US" sz="2300" b="1" dirty="0">
                <a:solidFill>
                  <a:schemeClr val="dk1"/>
                </a:solidFill>
              </a:rPr>
              <a:t>: </a:t>
            </a:r>
            <a:r>
              <a:rPr lang="es-MX" sz="1500" dirty="0">
                <a:solidFill>
                  <a:schemeClr val="dk1"/>
                </a:solidFill>
              </a:rPr>
              <a:t>Presente en cualquier lugar y en cualquier momento</a:t>
            </a:r>
            <a:r>
              <a:rPr lang="en-US" sz="1500" dirty="0">
                <a:solidFill>
                  <a:schemeClr val="dk1"/>
                </a:solidFill>
              </a:rPr>
              <a:t>.</a:t>
            </a:r>
            <a:endParaRPr sz="700" dirty="0">
              <a:solidFill>
                <a:schemeClr val="dk1"/>
              </a:solidFill>
            </a:endParaRPr>
          </a:p>
          <a:p>
            <a:pPr lvl="0">
              <a:spcBef>
                <a:spcPts val="520"/>
              </a:spcBef>
            </a:pPr>
            <a:r>
              <a:rPr lang="en-US" sz="2300" b="1" i="1" dirty="0" err="1">
                <a:solidFill>
                  <a:srgbClr val="003399"/>
                </a:solidFill>
                <a:highlight>
                  <a:srgbClr val="FFFF00"/>
                </a:highlight>
              </a:rPr>
              <a:t>Interconexión</a:t>
            </a:r>
            <a:r>
              <a:rPr lang="en-US" sz="2300" b="1" dirty="0">
                <a:solidFill>
                  <a:schemeClr val="dk1"/>
                </a:solidFill>
                <a:highlight>
                  <a:srgbClr val="FFFF00"/>
                </a:highlight>
              </a:rPr>
              <a:t>:</a:t>
            </a:r>
            <a:r>
              <a:rPr lang="en-US" sz="2300" dirty="0">
                <a:solidFill>
                  <a:schemeClr val="dk1"/>
                </a:solidFill>
                <a:highlight>
                  <a:srgbClr val="FFFF00"/>
                </a:highlight>
              </a:rPr>
              <a:t> </a:t>
            </a:r>
            <a:r>
              <a:rPr lang="es-MX" dirty="0">
                <a:solidFill>
                  <a:schemeClr val="dk1"/>
                </a:solidFill>
                <a:highlight>
                  <a:srgbClr val="FFFF00"/>
                </a:highlight>
              </a:rPr>
              <a:t>Comunicación perpetua entre sistemas o agentes</a:t>
            </a:r>
            <a:r>
              <a:rPr lang="en-US" dirty="0">
                <a:solidFill>
                  <a:schemeClr val="dk1"/>
                </a:solidFill>
                <a:highlight>
                  <a:srgbClr val="FFFF00"/>
                </a:highlight>
              </a:rPr>
              <a:t>.</a:t>
            </a:r>
            <a:endParaRPr dirty="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lvl="0">
              <a:spcBef>
                <a:spcPts val="520"/>
              </a:spcBef>
            </a:pPr>
            <a:r>
              <a:rPr lang="en-US" sz="2300" b="1" i="1" dirty="0" err="1">
                <a:solidFill>
                  <a:srgbClr val="003399"/>
                </a:solidFill>
              </a:rPr>
              <a:t>inteligencia</a:t>
            </a:r>
            <a:r>
              <a:rPr lang="en-US" sz="2300" b="1" dirty="0">
                <a:solidFill>
                  <a:schemeClr val="dk1"/>
                </a:solidFill>
              </a:rPr>
              <a:t>: </a:t>
            </a:r>
            <a:r>
              <a:rPr lang="es-MX" dirty="0">
                <a:solidFill>
                  <a:schemeClr val="dk1"/>
                </a:solidFill>
              </a:rPr>
              <a:t>Capacidad para aprender, comprender y tomar decisiones</a:t>
            </a:r>
            <a:r>
              <a:rPr lang="en-US" dirty="0">
                <a:solidFill>
                  <a:schemeClr val="dk1"/>
                </a:solidFill>
              </a:rPr>
              <a:t>.</a:t>
            </a:r>
            <a:endParaRPr dirty="0"/>
          </a:p>
        </p:txBody>
      </p:sp>
      <p:sp>
        <p:nvSpPr>
          <p:cNvPr id="426" name="Google Shape;426;g310c24f165f_0_52">
            <a:extLst>
              <a:ext uri="{FF2B5EF4-FFF2-40B4-BE49-F238E27FC236}">
                <a16:creationId xmlns:a16="http://schemas.microsoft.com/office/drawing/2014/main" id="{06606C56-A40B-FA5D-2C62-F25D51F9F92E}"/>
              </a:ext>
            </a:extLst>
          </p:cNvPr>
          <p:cNvSpPr txBox="1"/>
          <p:nvPr/>
        </p:nvSpPr>
        <p:spPr>
          <a:xfrm>
            <a:off x="4720025" y="4202357"/>
            <a:ext cx="4184100" cy="16209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spcBef>
                <a:spcPts val="520"/>
              </a:spcBef>
            </a:pPr>
            <a:r>
              <a:rPr lang="en-US" sz="2300" b="1" i="1" dirty="0" err="1">
                <a:solidFill>
                  <a:srgbClr val="003399"/>
                </a:solidFill>
              </a:rPr>
              <a:t>delegación</a:t>
            </a:r>
            <a:r>
              <a:rPr lang="en-US" sz="2300" b="1" dirty="0">
                <a:solidFill>
                  <a:schemeClr val="dk1"/>
                </a:solidFill>
              </a:rPr>
              <a:t>:</a:t>
            </a:r>
            <a:r>
              <a:rPr lang="en-US" sz="2300" dirty="0">
                <a:solidFill>
                  <a:schemeClr val="dk1"/>
                </a:solidFill>
              </a:rPr>
              <a:t> </a:t>
            </a:r>
            <a:r>
              <a:rPr lang="en-US" sz="1300" dirty="0" err="1">
                <a:solidFill>
                  <a:schemeClr val="dk1"/>
                </a:solidFill>
              </a:rPr>
              <a:t>Asignar</a:t>
            </a:r>
            <a:r>
              <a:rPr lang="en-US" sz="1300" dirty="0">
                <a:solidFill>
                  <a:schemeClr val="dk1"/>
                </a:solidFill>
              </a:rPr>
              <a:t> </a:t>
            </a:r>
            <a:r>
              <a:rPr lang="en-US" sz="1300" dirty="0" err="1">
                <a:solidFill>
                  <a:schemeClr val="dk1"/>
                </a:solidFill>
              </a:rPr>
              <a:t>tareas</a:t>
            </a:r>
            <a:r>
              <a:rPr lang="en-US" sz="1300" dirty="0">
                <a:solidFill>
                  <a:schemeClr val="dk1"/>
                </a:solidFill>
              </a:rPr>
              <a:t> o </a:t>
            </a:r>
            <a:r>
              <a:rPr lang="en-US" sz="1300" dirty="0" err="1">
                <a:solidFill>
                  <a:schemeClr val="dk1"/>
                </a:solidFill>
              </a:rPr>
              <a:t>responsabilidades</a:t>
            </a:r>
            <a:r>
              <a:rPr lang="en-US" sz="1300" dirty="0">
                <a:solidFill>
                  <a:schemeClr val="dk1"/>
                </a:solidFill>
              </a:rPr>
              <a:t> a un </a:t>
            </a:r>
            <a:r>
              <a:rPr lang="en-US" sz="1300" dirty="0" err="1">
                <a:solidFill>
                  <a:schemeClr val="dk1"/>
                </a:solidFill>
              </a:rPr>
              <a:t>sistema</a:t>
            </a:r>
            <a:r>
              <a:rPr lang="en-US" sz="1300" dirty="0">
                <a:solidFill>
                  <a:schemeClr val="dk1"/>
                </a:solidFill>
              </a:rPr>
              <a:t>.</a:t>
            </a:r>
            <a:endParaRPr sz="1300" dirty="0">
              <a:solidFill>
                <a:schemeClr val="dk1"/>
              </a:solidFill>
            </a:endParaRPr>
          </a:p>
          <a:p>
            <a:pPr lvl="0">
              <a:spcBef>
                <a:spcPts val="520"/>
              </a:spcBef>
            </a:pPr>
            <a:r>
              <a:rPr lang="en-US" sz="2300" b="1" i="1" dirty="0" err="1">
                <a:solidFill>
                  <a:srgbClr val="003399"/>
                </a:solidFill>
              </a:rPr>
              <a:t>orientación</a:t>
            </a:r>
            <a:r>
              <a:rPr lang="en-US" sz="2300" b="1" i="1" dirty="0">
                <a:solidFill>
                  <a:srgbClr val="003399"/>
                </a:solidFill>
              </a:rPr>
              <a:t> humana</a:t>
            </a:r>
            <a:r>
              <a:rPr lang="en-US" sz="2300" b="1" dirty="0">
                <a:solidFill>
                  <a:schemeClr val="dk1"/>
                </a:solidFill>
              </a:rPr>
              <a:t>: </a:t>
            </a:r>
            <a:r>
              <a:rPr lang="es-MX" sz="1300" dirty="0">
                <a:solidFill>
                  <a:schemeClr val="dk1"/>
                </a:solidFill>
              </a:rPr>
              <a:t>Diseñar sistemas e interacciones con un enfoque en las necesidades y la comprensión humanas</a:t>
            </a:r>
            <a:r>
              <a:rPr lang="en-US" sz="1300" dirty="0">
                <a:solidFill>
                  <a:schemeClr val="dk1"/>
                </a:solidFill>
              </a:rPr>
              <a:t>.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4" name="Google Shape;423;g310c24f165f_0_52">
            <a:extLst>
              <a:ext uri="{FF2B5EF4-FFF2-40B4-BE49-F238E27FC236}">
                <a16:creationId xmlns:a16="http://schemas.microsoft.com/office/drawing/2014/main" id="{54878361-091A-CAA1-EB36-08ED68C6940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77822"/>
            <a:ext cx="8229600" cy="8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US" dirty="0" err="1"/>
              <a:t>Repaso</a:t>
            </a:r>
            <a:r>
              <a:rPr lang="en-US" dirty="0"/>
              <a:t>: Medio </a:t>
            </a:r>
            <a:r>
              <a:rPr lang="en-US" dirty="0" err="1"/>
              <a:t>ambiente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632953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10c24f165f_0_108"/>
          <p:cNvSpPr txBox="1">
            <a:spLocks noGrp="1"/>
          </p:cNvSpPr>
          <p:nvPr>
            <p:ph type="sldNum" idx="12"/>
          </p:nvPr>
        </p:nvSpPr>
        <p:spPr>
          <a:xfrm>
            <a:off x="6553200" y="6243637"/>
            <a:ext cx="2132100" cy="4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Garamond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488" name="Google Shape;488;g310c24f165f_0_108"/>
          <p:cNvSpPr txBox="1">
            <a:spLocks noGrp="1"/>
          </p:cNvSpPr>
          <p:nvPr>
            <p:ph type="title"/>
          </p:nvPr>
        </p:nvSpPr>
        <p:spPr>
          <a:xfrm>
            <a:off x="457200" y="277804"/>
            <a:ext cx="8229600" cy="7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4200"/>
              <a:buFont typeface="Garamond"/>
              <a:buNone/>
            </a:pPr>
            <a:r>
              <a:rPr lang="en-US" dirty="0" err="1">
                <a:solidFill>
                  <a:srgbClr val="CC3300"/>
                </a:solidFill>
              </a:rPr>
              <a:t>Repaso</a:t>
            </a:r>
            <a:endParaRPr dirty="0"/>
          </a:p>
        </p:txBody>
      </p:sp>
      <p:sp>
        <p:nvSpPr>
          <p:cNvPr id="491" name="Google Shape;491;g310c24f165f_0_108"/>
          <p:cNvSpPr txBox="1">
            <a:spLocks noGrp="1"/>
          </p:cNvSpPr>
          <p:nvPr>
            <p:ph type="body" idx="1"/>
          </p:nvPr>
        </p:nvSpPr>
        <p:spPr>
          <a:xfrm>
            <a:off x="457200" y="1143000"/>
            <a:ext cx="82296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520"/>
              </a:spcBef>
            </a:pPr>
            <a:r>
              <a:rPr lang="en-US" sz="2100" i="1" dirty="0">
                <a:solidFill>
                  <a:schemeClr val="dk1"/>
                </a:solidFill>
              </a:rPr>
              <a:t>“</a:t>
            </a:r>
            <a:r>
              <a:rPr lang="es-MX" sz="2100" i="1" dirty="0">
                <a:solidFill>
                  <a:schemeClr val="dk1"/>
                </a:solidFill>
              </a:rPr>
              <a:t>Una colonia de robots limpiadores donde cada uno actúa en una sección de un cuarto.</a:t>
            </a:r>
          </a:p>
          <a:p>
            <a:pPr marL="0" lvl="0" indent="0">
              <a:spcBef>
                <a:spcPts val="520"/>
              </a:spcBef>
            </a:pPr>
            <a:r>
              <a:rPr lang="es-MX" sz="2100" i="1" dirty="0">
                <a:solidFill>
                  <a:schemeClr val="dk1"/>
                </a:solidFill>
              </a:rPr>
              <a:t>Una simulación de tráfico donde autos (agentes) se mueven en calles (entorno).</a:t>
            </a:r>
          </a:p>
          <a:p>
            <a:pPr marL="0" lvl="0" indent="0">
              <a:spcBef>
                <a:spcPts val="520"/>
              </a:spcBef>
            </a:pPr>
            <a:r>
              <a:rPr lang="es-MX" sz="2100" i="1" dirty="0">
                <a:solidFill>
                  <a:schemeClr val="dk1"/>
                </a:solidFill>
              </a:rPr>
              <a:t>Un enjambre de drones que reparten paquetes en una ciudad.</a:t>
            </a:r>
            <a:r>
              <a:rPr lang="en-US" sz="2100" i="1" dirty="0">
                <a:solidFill>
                  <a:schemeClr val="dk1"/>
                </a:solidFill>
              </a:rPr>
              <a:t>.”</a:t>
            </a:r>
            <a:endParaRPr sz="2100" i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520"/>
              </a:spcBef>
              <a:spcAft>
                <a:spcPts val="0"/>
              </a:spcAft>
              <a:buNone/>
            </a:pPr>
            <a:endParaRPr sz="2300" b="1" i="1" dirty="0">
              <a:solidFill>
                <a:srgbClr val="003399"/>
              </a:solidFill>
            </a:endParaRPr>
          </a:p>
          <a:p>
            <a:pPr marL="0" lvl="0" indent="0">
              <a:spcBef>
                <a:spcPts val="520"/>
              </a:spcBef>
            </a:pPr>
            <a:r>
              <a:rPr lang="es-MX" sz="2300" b="1" dirty="0">
                <a:solidFill>
                  <a:schemeClr val="dk1"/>
                </a:solidFill>
              </a:rPr>
              <a:t>podrían considerarse ejemplos de</a:t>
            </a:r>
            <a:r>
              <a:rPr lang="en-US" sz="2300" b="1" dirty="0">
                <a:solidFill>
                  <a:schemeClr val="dk1"/>
                </a:solidFill>
              </a:rPr>
              <a:t>:</a:t>
            </a:r>
            <a:endParaRPr sz="1700" b="1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86">
          <a:extLst>
            <a:ext uri="{FF2B5EF4-FFF2-40B4-BE49-F238E27FC236}">
              <a16:creationId xmlns:a16="http://schemas.microsoft.com/office/drawing/2014/main" id="{A68556CF-0F7E-1325-67EA-72E0FBBA9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10c24f165f_0_108">
            <a:extLst>
              <a:ext uri="{FF2B5EF4-FFF2-40B4-BE49-F238E27FC236}">
                <a16:creationId xmlns:a16="http://schemas.microsoft.com/office/drawing/2014/main" id="{2AC62D00-CA1E-2CAD-5FBD-1050B0F4ED2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243637"/>
            <a:ext cx="2132100" cy="4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Garamond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488" name="Google Shape;488;g310c24f165f_0_108">
            <a:extLst>
              <a:ext uri="{FF2B5EF4-FFF2-40B4-BE49-F238E27FC236}">
                <a16:creationId xmlns:a16="http://schemas.microsoft.com/office/drawing/2014/main" id="{B89B9F36-FE47-565F-4F10-FE403D44579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77804"/>
            <a:ext cx="8229600" cy="7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4200"/>
              <a:buFont typeface="Garamond"/>
              <a:buNone/>
            </a:pPr>
            <a:r>
              <a:rPr lang="en-US" dirty="0" err="1">
                <a:solidFill>
                  <a:srgbClr val="CC3300"/>
                </a:solidFill>
              </a:rPr>
              <a:t>Repaso</a:t>
            </a:r>
            <a:endParaRPr dirty="0"/>
          </a:p>
        </p:txBody>
      </p:sp>
      <p:sp>
        <p:nvSpPr>
          <p:cNvPr id="490" name="Google Shape;490;g310c24f165f_0_108">
            <a:extLst>
              <a:ext uri="{FF2B5EF4-FFF2-40B4-BE49-F238E27FC236}">
                <a16:creationId xmlns:a16="http://schemas.microsoft.com/office/drawing/2014/main" id="{2FFBD41B-204A-81FD-2DFE-EC258D189810}"/>
              </a:ext>
            </a:extLst>
          </p:cNvPr>
          <p:cNvSpPr txBox="1"/>
          <p:nvPr/>
        </p:nvSpPr>
        <p:spPr>
          <a:xfrm>
            <a:off x="2479950" y="4594861"/>
            <a:ext cx="4184100" cy="741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spcBef>
                <a:spcPts val="520"/>
              </a:spcBef>
            </a:pPr>
            <a:r>
              <a:rPr lang="en-US" sz="3200" b="1">
                <a:solidFill>
                  <a:schemeClr val="accent2">
                    <a:lumMod val="75000"/>
                  </a:schemeClr>
                </a:solidFill>
              </a:rPr>
              <a:t>Sistema multiagente</a:t>
            </a:r>
            <a:endParaRPr sz="32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91" name="Google Shape;491;g310c24f165f_0_108">
            <a:extLst>
              <a:ext uri="{FF2B5EF4-FFF2-40B4-BE49-F238E27FC236}">
                <a16:creationId xmlns:a16="http://schemas.microsoft.com/office/drawing/2014/main" id="{74F1144B-2903-4BF1-7347-0563FACBED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143000"/>
            <a:ext cx="82296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520"/>
              </a:spcBef>
            </a:pPr>
            <a:r>
              <a:rPr lang="en-US" sz="2100" i="1" dirty="0">
                <a:solidFill>
                  <a:schemeClr val="dk1"/>
                </a:solidFill>
              </a:rPr>
              <a:t>“</a:t>
            </a:r>
            <a:r>
              <a:rPr lang="es-MX" sz="2100" i="1" dirty="0">
                <a:solidFill>
                  <a:schemeClr val="dk1"/>
                </a:solidFill>
              </a:rPr>
              <a:t>Una colonia de robots limpiadores donde cada uno actúa en una sección de un cuarto.</a:t>
            </a:r>
          </a:p>
          <a:p>
            <a:pPr marL="0" lvl="0" indent="0">
              <a:spcBef>
                <a:spcPts val="520"/>
              </a:spcBef>
            </a:pPr>
            <a:r>
              <a:rPr lang="es-MX" sz="2100" i="1" dirty="0">
                <a:solidFill>
                  <a:schemeClr val="dk1"/>
                </a:solidFill>
              </a:rPr>
              <a:t>Una simulación de tráfico donde autos (agentes) se mueven en calles (entorno).</a:t>
            </a:r>
          </a:p>
          <a:p>
            <a:pPr marL="0" lvl="0" indent="0">
              <a:spcBef>
                <a:spcPts val="520"/>
              </a:spcBef>
            </a:pPr>
            <a:r>
              <a:rPr lang="es-MX" sz="2100" i="1" dirty="0">
                <a:solidFill>
                  <a:schemeClr val="dk1"/>
                </a:solidFill>
              </a:rPr>
              <a:t>Un enjambre de drones que reparten paquetes en una ciudad.</a:t>
            </a:r>
            <a:r>
              <a:rPr lang="en-US" sz="2100" i="1" dirty="0">
                <a:solidFill>
                  <a:schemeClr val="dk1"/>
                </a:solidFill>
              </a:rPr>
              <a:t>.”</a:t>
            </a:r>
            <a:endParaRPr sz="2100" i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520"/>
              </a:spcBef>
              <a:spcAft>
                <a:spcPts val="0"/>
              </a:spcAft>
              <a:buNone/>
            </a:pPr>
            <a:endParaRPr sz="2300" b="1" i="1" dirty="0">
              <a:solidFill>
                <a:srgbClr val="003399"/>
              </a:solidFill>
            </a:endParaRPr>
          </a:p>
          <a:p>
            <a:pPr marL="0" lvl="0" indent="0">
              <a:spcBef>
                <a:spcPts val="520"/>
              </a:spcBef>
            </a:pPr>
            <a:r>
              <a:rPr lang="es-MX" sz="2300" b="1" dirty="0">
                <a:solidFill>
                  <a:schemeClr val="dk1"/>
                </a:solidFill>
              </a:rPr>
              <a:t>podrían considerarse ejemplos de</a:t>
            </a:r>
            <a:r>
              <a:rPr lang="en-US" sz="2300" b="1" dirty="0">
                <a:solidFill>
                  <a:schemeClr val="dk1"/>
                </a:solidFill>
              </a:rPr>
              <a:t>:</a:t>
            </a:r>
            <a:endParaRPr sz="1700" b="1" dirty="0"/>
          </a:p>
        </p:txBody>
      </p:sp>
    </p:spTree>
    <p:extLst>
      <p:ext uri="{BB962C8B-B14F-4D97-AF65-F5344CB8AC3E}">
        <p14:creationId xmlns:p14="http://schemas.microsoft.com/office/powerpoint/2010/main" val="16987182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86">
          <a:extLst>
            <a:ext uri="{FF2B5EF4-FFF2-40B4-BE49-F238E27FC236}">
              <a16:creationId xmlns:a16="http://schemas.microsoft.com/office/drawing/2014/main" id="{F4C39ECE-2378-99FB-F4A9-58D1CF1AF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10c24f165f_0_108">
            <a:extLst>
              <a:ext uri="{FF2B5EF4-FFF2-40B4-BE49-F238E27FC236}">
                <a16:creationId xmlns:a16="http://schemas.microsoft.com/office/drawing/2014/main" id="{85E25806-77C4-FB92-F2FF-97439297731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243637"/>
            <a:ext cx="2132100" cy="4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Garamond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488" name="Google Shape;488;g310c24f165f_0_108">
            <a:extLst>
              <a:ext uri="{FF2B5EF4-FFF2-40B4-BE49-F238E27FC236}">
                <a16:creationId xmlns:a16="http://schemas.microsoft.com/office/drawing/2014/main" id="{56934C81-B17B-2193-CB95-61FDA4246B4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77804"/>
            <a:ext cx="8229600" cy="7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4200"/>
              <a:buFont typeface="Garamond"/>
              <a:buNone/>
            </a:pPr>
            <a:r>
              <a:rPr lang="en-US" dirty="0" err="1">
                <a:solidFill>
                  <a:srgbClr val="CC3300"/>
                </a:solidFill>
              </a:rPr>
              <a:t>Repaso</a:t>
            </a:r>
            <a:endParaRPr dirty="0"/>
          </a:p>
        </p:txBody>
      </p:sp>
      <p:sp>
        <p:nvSpPr>
          <p:cNvPr id="491" name="Google Shape;491;g310c24f165f_0_108">
            <a:extLst>
              <a:ext uri="{FF2B5EF4-FFF2-40B4-BE49-F238E27FC236}">
                <a16:creationId xmlns:a16="http://schemas.microsoft.com/office/drawing/2014/main" id="{94B1A671-F7B6-3AEE-4A89-F95451AD90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143000"/>
            <a:ext cx="8229600" cy="3383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520"/>
              </a:spcBef>
            </a:pPr>
            <a:r>
              <a:rPr lang="es-MX" sz="3200" i="1" dirty="0">
                <a:solidFill>
                  <a:schemeClr val="dk1"/>
                </a:solidFill>
              </a:rPr>
              <a:t>Un agente es...:</a:t>
            </a:r>
          </a:p>
          <a:p>
            <a:pPr marL="0" lvl="0" indent="0">
              <a:spcBef>
                <a:spcPts val="520"/>
              </a:spcBef>
            </a:pPr>
            <a:r>
              <a:rPr lang="es-MX" sz="3200" i="1" dirty="0">
                <a:solidFill>
                  <a:schemeClr val="dk1"/>
                </a:solidFill>
              </a:rPr>
              <a:t>a) Un objeto</a:t>
            </a:r>
          </a:p>
          <a:p>
            <a:pPr marL="0" lvl="0" indent="0">
              <a:spcBef>
                <a:spcPts val="520"/>
              </a:spcBef>
            </a:pPr>
            <a:r>
              <a:rPr lang="es-MX" sz="3200" i="1" dirty="0">
                <a:solidFill>
                  <a:schemeClr val="dk1"/>
                </a:solidFill>
              </a:rPr>
              <a:t>b) Un dato</a:t>
            </a:r>
          </a:p>
          <a:p>
            <a:pPr marL="0" lvl="0" indent="0">
              <a:spcBef>
                <a:spcPts val="520"/>
              </a:spcBef>
            </a:pPr>
            <a:r>
              <a:rPr lang="es-MX" sz="3200" i="1" dirty="0">
                <a:solidFill>
                  <a:schemeClr val="dk1"/>
                </a:solidFill>
              </a:rPr>
              <a:t>c) Una función </a:t>
            </a:r>
          </a:p>
          <a:p>
            <a:pPr marL="0" lvl="0" indent="0">
              <a:spcBef>
                <a:spcPts val="520"/>
              </a:spcBef>
            </a:pPr>
            <a:r>
              <a:rPr lang="es-MX" sz="3200" i="1" dirty="0">
                <a:solidFill>
                  <a:schemeClr val="dk1"/>
                </a:solidFill>
              </a:rPr>
              <a:t>d) Una señal</a:t>
            </a:r>
            <a:endParaRPr sz="3200" i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520"/>
              </a:spcBef>
              <a:spcAft>
                <a:spcPts val="0"/>
              </a:spcAft>
              <a:buNone/>
            </a:pPr>
            <a:endParaRPr sz="3200" b="1" i="1" dirty="0">
              <a:solidFill>
                <a:srgbClr val="0033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12052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86">
          <a:extLst>
            <a:ext uri="{FF2B5EF4-FFF2-40B4-BE49-F238E27FC236}">
              <a16:creationId xmlns:a16="http://schemas.microsoft.com/office/drawing/2014/main" id="{7FE03ABB-3382-10D4-BD22-451F37672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10c24f165f_0_108">
            <a:extLst>
              <a:ext uri="{FF2B5EF4-FFF2-40B4-BE49-F238E27FC236}">
                <a16:creationId xmlns:a16="http://schemas.microsoft.com/office/drawing/2014/main" id="{92159CEB-9F87-D094-A865-5E844C81DEE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243637"/>
            <a:ext cx="2132100" cy="4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Garamond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sp>
        <p:nvSpPr>
          <p:cNvPr id="488" name="Google Shape;488;g310c24f165f_0_108">
            <a:extLst>
              <a:ext uri="{FF2B5EF4-FFF2-40B4-BE49-F238E27FC236}">
                <a16:creationId xmlns:a16="http://schemas.microsoft.com/office/drawing/2014/main" id="{62874846-C4C3-22B0-DA35-7CC51D19DBB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77804"/>
            <a:ext cx="8229600" cy="7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4200"/>
              <a:buFont typeface="Garamond"/>
              <a:buNone/>
            </a:pPr>
            <a:r>
              <a:rPr lang="en-US" dirty="0" err="1">
                <a:solidFill>
                  <a:srgbClr val="CC3300"/>
                </a:solidFill>
              </a:rPr>
              <a:t>Repaso</a:t>
            </a:r>
            <a:endParaRPr dirty="0"/>
          </a:p>
        </p:txBody>
      </p:sp>
      <p:sp>
        <p:nvSpPr>
          <p:cNvPr id="491" name="Google Shape;491;g310c24f165f_0_108">
            <a:extLst>
              <a:ext uri="{FF2B5EF4-FFF2-40B4-BE49-F238E27FC236}">
                <a16:creationId xmlns:a16="http://schemas.microsoft.com/office/drawing/2014/main" id="{3095E8E3-88B4-89E2-B3F5-A393284588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143000"/>
            <a:ext cx="8229600" cy="3383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520"/>
              </a:spcBef>
            </a:pPr>
            <a:r>
              <a:rPr lang="es-MX" sz="3200" i="1" dirty="0">
                <a:solidFill>
                  <a:schemeClr val="dk1"/>
                </a:solidFill>
              </a:rPr>
              <a:t>Un agente es...:</a:t>
            </a:r>
          </a:p>
          <a:p>
            <a:pPr marL="0" lvl="0" indent="0">
              <a:spcBef>
                <a:spcPts val="520"/>
              </a:spcBef>
            </a:pPr>
            <a:r>
              <a:rPr lang="es-MX" sz="3200" i="1" dirty="0">
                <a:solidFill>
                  <a:schemeClr val="dk1"/>
                </a:solidFill>
              </a:rPr>
              <a:t>a) Un objeto</a:t>
            </a:r>
          </a:p>
          <a:p>
            <a:pPr marL="0" lvl="0" indent="0">
              <a:spcBef>
                <a:spcPts val="520"/>
              </a:spcBef>
            </a:pPr>
            <a:r>
              <a:rPr lang="es-MX" sz="3200" i="1" dirty="0">
                <a:solidFill>
                  <a:schemeClr val="dk1"/>
                </a:solidFill>
              </a:rPr>
              <a:t>b) Un dato</a:t>
            </a:r>
          </a:p>
          <a:p>
            <a:pPr marL="0" lvl="0" indent="0">
              <a:spcBef>
                <a:spcPts val="520"/>
              </a:spcBef>
            </a:pPr>
            <a:r>
              <a:rPr lang="es-MX" sz="3200" i="1" dirty="0">
                <a:solidFill>
                  <a:schemeClr val="dk1"/>
                </a:solidFill>
                <a:highlight>
                  <a:srgbClr val="FFFF00"/>
                </a:highlight>
              </a:rPr>
              <a:t>c) Una función </a:t>
            </a:r>
          </a:p>
          <a:p>
            <a:pPr marL="0" lvl="0" indent="0">
              <a:spcBef>
                <a:spcPts val="520"/>
              </a:spcBef>
            </a:pPr>
            <a:r>
              <a:rPr lang="es-MX" sz="3200" i="1" dirty="0">
                <a:solidFill>
                  <a:schemeClr val="dk1"/>
                </a:solidFill>
              </a:rPr>
              <a:t>d) Una señal</a:t>
            </a:r>
            <a:endParaRPr sz="3200" i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520"/>
              </a:spcBef>
              <a:spcAft>
                <a:spcPts val="0"/>
              </a:spcAft>
              <a:buNone/>
            </a:pPr>
            <a:endParaRPr sz="3200" b="1" i="1" dirty="0">
              <a:solidFill>
                <a:srgbClr val="0033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30496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310c24f165f_0_116"/>
          <p:cNvSpPr txBox="1">
            <a:spLocks noGrp="1"/>
          </p:cNvSpPr>
          <p:nvPr>
            <p:ph type="sldNum" idx="12"/>
          </p:nvPr>
        </p:nvSpPr>
        <p:spPr>
          <a:xfrm>
            <a:off x="6553200" y="6243637"/>
            <a:ext cx="2132100" cy="4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Garamond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sp>
        <p:nvSpPr>
          <p:cNvPr id="497" name="Google Shape;497;g310c24f165f_0_116"/>
          <p:cNvSpPr txBox="1">
            <a:spLocks noGrp="1"/>
          </p:cNvSpPr>
          <p:nvPr>
            <p:ph type="title"/>
          </p:nvPr>
        </p:nvSpPr>
        <p:spPr>
          <a:xfrm>
            <a:off x="457200" y="277804"/>
            <a:ext cx="8229600" cy="7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4200"/>
              <a:buFont typeface="Garamond"/>
              <a:buNone/>
            </a:pPr>
            <a:r>
              <a:rPr lang="en-US">
                <a:solidFill>
                  <a:srgbClr val="CC3300"/>
                </a:solidFill>
              </a:rPr>
              <a:t>Recap</a:t>
            </a:r>
            <a:endParaRPr/>
          </a:p>
        </p:txBody>
      </p:sp>
      <p:sp>
        <p:nvSpPr>
          <p:cNvPr id="500" name="Google Shape;500;g310c24f165f_0_116"/>
          <p:cNvSpPr txBox="1">
            <a:spLocks noGrp="1"/>
          </p:cNvSpPr>
          <p:nvPr>
            <p:ph type="body" idx="1"/>
          </p:nvPr>
        </p:nvSpPr>
        <p:spPr>
          <a:xfrm>
            <a:off x="457200" y="1143000"/>
            <a:ext cx="8229600" cy="28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520"/>
              </a:spcBef>
            </a:pPr>
            <a:r>
              <a:rPr lang="en-US" sz="2100" i="1" dirty="0">
                <a:solidFill>
                  <a:schemeClr val="dk1"/>
                </a:solidFill>
              </a:rPr>
              <a:t>“</a:t>
            </a:r>
            <a:r>
              <a:rPr lang="es-MX" sz="2100" i="1" dirty="0">
                <a:solidFill>
                  <a:schemeClr val="dk1"/>
                </a:solidFill>
              </a:rPr>
              <a:t>El mercado de criptomonedas, cuyos valores suben y bajan cada segundo.</a:t>
            </a:r>
          </a:p>
          <a:p>
            <a:pPr marL="0" lvl="0" indent="0">
              <a:spcBef>
                <a:spcPts val="520"/>
              </a:spcBef>
            </a:pPr>
            <a:r>
              <a:rPr lang="es-MX" sz="2100" i="1" dirty="0">
                <a:solidFill>
                  <a:schemeClr val="dk1"/>
                </a:solidFill>
              </a:rPr>
              <a:t>El clima, que se transforma aunque nadie lo controle.</a:t>
            </a:r>
          </a:p>
          <a:p>
            <a:pPr marL="0" lvl="0" indent="0">
              <a:spcBef>
                <a:spcPts val="520"/>
              </a:spcBef>
            </a:pPr>
            <a:r>
              <a:rPr lang="es-MX" sz="2100" i="1" dirty="0">
                <a:solidFill>
                  <a:schemeClr val="dk1"/>
                </a:solidFill>
              </a:rPr>
              <a:t>Una bolsa de valores donde entran y salen órdenes constantemente</a:t>
            </a:r>
            <a:endParaRPr sz="2100" i="1" dirty="0">
              <a:solidFill>
                <a:schemeClr val="dk1"/>
              </a:solidFill>
            </a:endParaRPr>
          </a:p>
          <a:p>
            <a:pPr marL="0" lvl="0" indent="0">
              <a:spcBef>
                <a:spcPts val="520"/>
              </a:spcBef>
            </a:pPr>
            <a:r>
              <a:rPr lang="es-MX" sz="2300" b="1" dirty="0">
                <a:solidFill>
                  <a:schemeClr val="dk1"/>
                </a:solidFill>
              </a:rPr>
              <a:t>podrían considerarse ejemplos de este tipo de entorno</a:t>
            </a:r>
            <a:r>
              <a:rPr lang="en-US" sz="2300" b="1" dirty="0">
                <a:solidFill>
                  <a:schemeClr val="dk1"/>
                </a:solidFill>
              </a:rPr>
              <a:t>:</a:t>
            </a:r>
            <a:endParaRPr sz="1700" b="1" dirty="0"/>
          </a:p>
        </p:txBody>
      </p:sp>
      <p:sp>
        <p:nvSpPr>
          <p:cNvPr id="2" name="Google Shape;489;g310c24f165f_0_108">
            <a:extLst>
              <a:ext uri="{FF2B5EF4-FFF2-40B4-BE49-F238E27FC236}">
                <a16:creationId xmlns:a16="http://schemas.microsoft.com/office/drawing/2014/main" id="{244D9598-A37B-545E-FD1E-910C883733E9}"/>
              </a:ext>
            </a:extLst>
          </p:cNvPr>
          <p:cNvSpPr txBox="1"/>
          <p:nvPr/>
        </p:nvSpPr>
        <p:spPr>
          <a:xfrm>
            <a:off x="457325" y="3714750"/>
            <a:ext cx="4262700" cy="2100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spcBef>
                <a:spcPts val="520"/>
              </a:spcBef>
            </a:pPr>
            <a:r>
              <a:rPr lang="en-US" sz="2300" b="1" i="1" dirty="0" err="1">
                <a:solidFill>
                  <a:srgbClr val="003399"/>
                </a:solidFill>
              </a:rPr>
              <a:t>Accesible</a:t>
            </a:r>
            <a:r>
              <a:rPr lang="en-US" sz="2300" b="1" dirty="0">
                <a:solidFill>
                  <a:schemeClr val="dk1"/>
                </a:solidFill>
              </a:rPr>
              <a:t> </a:t>
            </a:r>
            <a:r>
              <a:rPr lang="es-MX" sz="1500" dirty="0">
                <a:solidFill>
                  <a:schemeClr val="dk1"/>
                </a:solidFill>
              </a:rPr>
              <a:t>Información sobre el entorno está disponible</a:t>
            </a:r>
            <a:r>
              <a:rPr lang="en-US" sz="1500" dirty="0">
                <a:solidFill>
                  <a:schemeClr val="dk1"/>
                </a:solidFill>
              </a:rPr>
              <a:t>.</a:t>
            </a:r>
            <a:endParaRPr sz="700" dirty="0">
              <a:solidFill>
                <a:schemeClr val="dk1"/>
              </a:solidFill>
            </a:endParaRPr>
          </a:p>
          <a:p>
            <a:pPr lvl="0">
              <a:spcBef>
                <a:spcPts val="520"/>
              </a:spcBef>
            </a:pPr>
            <a:r>
              <a:rPr lang="en-US" sz="2300" b="1" i="1" dirty="0" err="1">
                <a:solidFill>
                  <a:srgbClr val="003399"/>
                </a:solidFill>
              </a:rPr>
              <a:t>Determinista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s-MX" dirty="0">
                <a:solidFill>
                  <a:schemeClr val="dk1"/>
                </a:solidFill>
              </a:rPr>
              <a:t>Las acciones tienen resultados predecibles</a:t>
            </a:r>
            <a:r>
              <a:rPr lang="en-US" dirty="0">
                <a:solidFill>
                  <a:schemeClr val="dk1"/>
                </a:solidFill>
              </a:rPr>
              <a:t>.</a:t>
            </a:r>
            <a:endParaRPr dirty="0">
              <a:solidFill>
                <a:schemeClr val="dk1"/>
              </a:solidFill>
            </a:endParaRPr>
          </a:p>
          <a:p>
            <a:pPr lvl="0">
              <a:spcBef>
                <a:spcPts val="520"/>
              </a:spcBef>
            </a:pPr>
            <a:r>
              <a:rPr lang="en-US" sz="2300" b="1" i="1" dirty="0" err="1">
                <a:solidFill>
                  <a:srgbClr val="003399"/>
                </a:solidFill>
              </a:rPr>
              <a:t>Episódico</a:t>
            </a:r>
            <a:r>
              <a:rPr lang="en-US" sz="2300" b="1" dirty="0">
                <a:solidFill>
                  <a:schemeClr val="dk1"/>
                </a:solidFill>
              </a:rPr>
              <a:t> </a:t>
            </a:r>
            <a:r>
              <a:rPr lang="es-MX" dirty="0">
                <a:solidFill>
                  <a:schemeClr val="dk1"/>
                </a:solidFill>
              </a:rPr>
              <a:t>Las experiencias se dividen en eventos independientes (episodias).</a:t>
            </a:r>
            <a:endParaRPr dirty="0"/>
          </a:p>
        </p:txBody>
      </p:sp>
      <p:sp>
        <p:nvSpPr>
          <p:cNvPr id="3" name="Google Shape;490;g310c24f165f_0_108">
            <a:extLst>
              <a:ext uri="{FF2B5EF4-FFF2-40B4-BE49-F238E27FC236}">
                <a16:creationId xmlns:a16="http://schemas.microsoft.com/office/drawing/2014/main" id="{76909CB8-CFA9-71F2-ED7D-C0A540757030}"/>
              </a:ext>
            </a:extLst>
          </p:cNvPr>
          <p:cNvSpPr txBox="1"/>
          <p:nvPr/>
        </p:nvSpPr>
        <p:spPr>
          <a:xfrm>
            <a:off x="4720025" y="3436468"/>
            <a:ext cx="4184100" cy="2657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spcBef>
                <a:spcPts val="520"/>
              </a:spcBef>
            </a:pPr>
            <a:r>
              <a:rPr lang="en-US" sz="2300" b="1" i="1" dirty="0" err="1">
                <a:solidFill>
                  <a:srgbClr val="003399"/>
                </a:solidFill>
              </a:rPr>
              <a:t>Estático</a:t>
            </a:r>
            <a:r>
              <a:rPr lang="en-US" sz="2300" b="1" dirty="0">
                <a:solidFill>
                  <a:schemeClr val="dk1"/>
                </a:solidFill>
              </a:rPr>
              <a:t>:</a:t>
            </a:r>
            <a:r>
              <a:rPr lang="en-US" sz="1300" dirty="0">
                <a:solidFill>
                  <a:schemeClr val="dk1"/>
                </a:solidFill>
              </a:rPr>
              <a:t> </a:t>
            </a:r>
            <a:r>
              <a:rPr lang="es-MX" sz="1300" dirty="0">
                <a:solidFill>
                  <a:schemeClr val="dk1"/>
                </a:solidFill>
              </a:rPr>
              <a:t>El entorno realiza cambios solo por efecto de un agente</a:t>
            </a:r>
            <a:r>
              <a:rPr lang="en-US" sz="1300" dirty="0">
                <a:solidFill>
                  <a:schemeClr val="dk1"/>
                </a:solidFill>
              </a:rPr>
              <a:t>.</a:t>
            </a:r>
            <a:endParaRPr sz="1300" dirty="0">
              <a:solidFill>
                <a:schemeClr val="dk1"/>
              </a:solidFill>
            </a:endParaRPr>
          </a:p>
          <a:p>
            <a:pPr lvl="0">
              <a:spcBef>
                <a:spcPts val="520"/>
              </a:spcBef>
              <a:buClr>
                <a:schemeClr val="dk1"/>
              </a:buClr>
              <a:buSzPts val="1100"/>
            </a:pPr>
            <a:r>
              <a:rPr lang="en-US" sz="2300" b="1" i="1" dirty="0" err="1">
                <a:solidFill>
                  <a:srgbClr val="003399"/>
                </a:solidFill>
              </a:rPr>
              <a:t>Dinámico</a:t>
            </a:r>
            <a:r>
              <a:rPr lang="en-US" sz="2300" b="1" i="1" dirty="0">
                <a:solidFill>
                  <a:srgbClr val="003399"/>
                </a:solidFill>
              </a:rPr>
              <a:t>: </a:t>
            </a:r>
            <a:r>
              <a:rPr lang="es-MX" sz="1300" dirty="0">
                <a:solidFill>
                  <a:schemeClr val="dk1"/>
                </a:solidFill>
              </a:rPr>
              <a:t>El entorno cambia con el tiempo independientemente de las acciones del agente</a:t>
            </a:r>
            <a:r>
              <a:rPr lang="en-US" sz="1300" dirty="0">
                <a:solidFill>
                  <a:schemeClr val="dk1"/>
                </a:solidFill>
              </a:rPr>
              <a:t>.</a:t>
            </a:r>
            <a:endParaRPr sz="1300" dirty="0">
              <a:solidFill>
                <a:schemeClr val="dk1"/>
              </a:solidFill>
            </a:endParaRPr>
          </a:p>
          <a:p>
            <a:pPr lvl="0">
              <a:spcBef>
                <a:spcPts val="520"/>
              </a:spcBef>
            </a:pPr>
            <a:r>
              <a:rPr lang="en-US" sz="2300" b="1" i="1" dirty="0" err="1">
                <a:solidFill>
                  <a:srgbClr val="003399"/>
                </a:solidFill>
              </a:rPr>
              <a:t>Discreto</a:t>
            </a:r>
            <a:r>
              <a:rPr lang="en-US" sz="2300" b="1" dirty="0">
                <a:solidFill>
                  <a:schemeClr val="dk1"/>
                </a:solidFill>
              </a:rPr>
              <a:t>: </a:t>
            </a:r>
            <a:r>
              <a:rPr lang="es-MX" sz="1300" dirty="0">
                <a:solidFill>
                  <a:schemeClr val="dk1"/>
                </a:solidFill>
              </a:rPr>
              <a:t>El entorno tiene estados distintos, separados (bien delimitados)</a:t>
            </a:r>
            <a:r>
              <a:rPr lang="en-US" sz="1300" dirty="0">
                <a:solidFill>
                  <a:schemeClr val="dk1"/>
                </a:solidFill>
              </a:rPr>
              <a:t>.</a:t>
            </a:r>
            <a:endParaRPr sz="1300" dirty="0">
              <a:solidFill>
                <a:schemeClr val="dk1"/>
              </a:solidFill>
            </a:endParaRPr>
          </a:p>
          <a:p>
            <a:pPr lvl="0">
              <a:spcBef>
                <a:spcPts val="520"/>
              </a:spcBef>
              <a:buClr>
                <a:schemeClr val="dk1"/>
              </a:buClr>
              <a:buSzPts val="1100"/>
            </a:pPr>
            <a:r>
              <a:rPr lang="en-US" sz="2300" b="1" i="1" dirty="0">
                <a:solidFill>
                  <a:srgbClr val="003399"/>
                </a:solidFill>
              </a:rPr>
              <a:t>Continuo</a:t>
            </a:r>
            <a:r>
              <a:rPr lang="en-US" sz="2300" b="1" dirty="0">
                <a:solidFill>
                  <a:schemeClr val="dk1"/>
                </a:solidFill>
              </a:rPr>
              <a:t>: </a:t>
            </a:r>
            <a:r>
              <a:rPr lang="es-MX" sz="1300" dirty="0">
                <a:solidFill>
                  <a:schemeClr val="dk1"/>
                </a:solidFill>
              </a:rPr>
              <a:t>Los estados son rangos sin una separación clara</a:t>
            </a:r>
            <a:r>
              <a:rPr lang="en-US" sz="1300" dirty="0">
                <a:solidFill>
                  <a:schemeClr val="dk1"/>
                </a:solidFill>
              </a:rPr>
              <a:t>.</a:t>
            </a:r>
            <a:endParaRPr sz="13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95">
          <a:extLst>
            <a:ext uri="{FF2B5EF4-FFF2-40B4-BE49-F238E27FC236}">
              <a16:creationId xmlns:a16="http://schemas.microsoft.com/office/drawing/2014/main" id="{07B21644-9B13-6BEE-B542-776564118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310c24f165f_0_116">
            <a:extLst>
              <a:ext uri="{FF2B5EF4-FFF2-40B4-BE49-F238E27FC236}">
                <a16:creationId xmlns:a16="http://schemas.microsoft.com/office/drawing/2014/main" id="{DE9E0EB2-2A18-D0E2-7D41-81F378528C0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243637"/>
            <a:ext cx="2132100" cy="4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Garamond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sp>
        <p:nvSpPr>
          <p:cNvPr id="497" name="Google Shape;497;g310c24f165f_0_116">
            <a:extLst>
              <a:ext uri="{FF2B5EF4-FFF2-40B4-BE49-F238E27FC236}">
                <a16:creationId xmlns:a16="http://schemas.microsoft.com/office/drawing/2014/main" id="{9482F93D-B514-3C6B-259F-1502D17D8C0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77804"/>
            <a:ext cx="8229600" cy="7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4200"/>
              <a:buFont typeface="Garamond"/>
              <a:buNone/>
            </a:pPr>
            <a:r>
              <a:rPr lang="en-US">
                <a:solidFill>
                  <a:srgbClr val="CC3300"/>
                </a:solidFill>
              </a:rPr>
              <a:t>Recap</a:t>
            </a:r>
            <a:endParaRPr/>
          </a:p>
        </p:txBody>
      </p:sp>
      <p:sp>
        <p:nvSpPr>
          <p:cNvPr id="500" name="Google Shape;500;g310c24f165f_0_116">
            <a:extLst>
              <a:ext uri="{FF2B5EF4-FFF2-40B4-BE49-F238E27FC236}">
                <a16:creationId xmlns:a16="http://schemas.microsoft.com/office/drawing/2014/main" id="{CBCDAAB7-AF25-717C-96C7-C080FEC89B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143000"/>
            <a:ext cx="8229600" cy="28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520"/>
              </a:spcBef>
            </a:pPr>
            <a:r>
              <a:rPr lang="en-US" sz="2100" i="1" dirty="0">
                <a:solidFill>
                  <a:schemeClr val="dk1"/>
                </a:solidFill>
              </a:rPr>
              <a:t>“</a:t>
            </a:r>
            <a:r>
              <a:rPr lang="es-MX" sz="2100" i="1" dirty="0">
                <a:solidFill>
                  <a:schemeClr val="dk1"/>
                </a:solidFill>
              </a:rPr>
              <a:t>El mercado de criptomonedas, cuyos valores suben y bajan cada segundo.</a:t>
            </a:r>
          </a:p>
          <a:p>
            <a:pPr marL="0" lvl="0" indent="0">
              <a:spcBef>
                <a:spcPts val="520"/>
              </a:spcBef>
            </a:pPr>
            <a:r>
              <a:rPr lang="es-MX" sz="2100" i="1" dirty="0">
                <a:solidFill>
                  <a:schemeClr val="dk1"/>
                </a:solidFill>
              </a:rPr>
              <a:t>El clima, que se transforma aunque nadie lo controle.</a:t>
            </a:r>
          </a:p>
          <a:p>
            <a:pPr marL="0" lvl="0" indent="0">
              <a:spcBef>
                <a:spcPts val="520"/>
              </a:spcBef>
            </a:pPr>
            <a:r>
              <a:rPr lang="es-MX" sz="2100" i="1" dirty="0">
                <a:solidFill>
                  <a:schemeClr val="dk1"/>
                </a:solidFill>
              </a:rPr>
              <a:t>Una bolsa de valores donde entran y salen órdenes constantemente</a:t>
            </a:r>
            <a:endParaRPr sz="2100" i="1" dirty="0">
              <a:solidFill>
                <a:schemeClr val="dk1"/>
              </a:solidFill>
            </a:endParaRPr>
          </a:p>
          <a:p>
            <a:pPr marL="0" lvl="0" indent="0">
              <a:spcBef>
                <a:spcPts val="520"/>
              </a:spcBef>
            </a:pPr>
            <a:r>
              <a:rPr lang="es-MX" sz="2300" b="1" dirty="0">
                <a:solidFill>
                  <a:schemeClr val="dk1"/>
                </a:solidFill>
              </a:rPr>
              <a:t>podrían considerarse ejemplos de este tipo de entorno</a:t>
            </a:r>
            <a:r>
              <a:rPr lang="en-US" sz="2300" b="1" dirty="0">
                <a:solidFill>
                  <a:schemeClr val="dk1"/>
                </a:solidFill>
              </a:rPr>
              <a:t>:</a:t>
            </a:r>
            <a:endParaRPr sz="1700" b="1" dirty="0"/>
          </a:p>
        </p:txBody>
      </p:sp>
      <p:sp>
        <p:nvSpPr>
          <p:cNvPr id="2" name="Google Shape;489;g310c24f165f_0_108">
            <a:extLst>
              <a:ext uri="{FF2B5EF4-FFF2-40B4-BE49-F238E27FC236}">
                <a16:creationId xmlns:a16="http://schemas.microsoft.com/office/drawing/2014/main" id="{07A5508C-B438-5FFE-E7FE-CC868CF46001}"/>
              </a:ext>
            </a:extLst>
          </p:cNvPr>
          <p:cNvSpPr txBox="1"/>
          <p:nvPr/>
        </p:nvSpPr>
        <p:spPr>
          <a:xfrm>
            <a:off x="457325" y="3714750"/>
            <a:ext cx="4262700" cy="2100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spcBef>
                <a:spcPts val="520"/>
              </a:spcBef>
            </a:pPr>
            <a:r>
              <a:rPr lang="en-US" sz="2300" b="1" i="1" dirty="0" err="1">
                <a:solidFill>
                  <a:srgbClr val="003399"/>
                </a:solidFill>
              </a:rPr>
              <a:t>Accesible</a:t>
            </a:r>
            <a:r>
              <a:rPr lang="en-US" sz="2300" b="1" dirty="0">
                <a:solidFill>
                  <a:schemeClr val="dk1"/>
                </a:solidFill>
              </a:rPr>
              <a:t> </a:t>
            </a:r>
            <a:r>
              <a:rPr lang="es-MX" sz="1500" dirty="0">
                <a:solidFill>
                  <a:schemeClr val="dk1"/>
                </a:solidFill>
              </a:rPr>
              <a:t>Información sobre el entorno está disponible</a:t>
            </a:r>
            <a:r>
              <a:rPr lang="en-US" sz="1500" dirty="0">
                <a:solidFill>
                  <a:schemeClr val="dk1"/>
                </a:solidFill>
              </a:rPr>
              <a:t>.</a:t>
            </a:r>
            <a:endParaRPr sz="700" dirty="0">
              <a:solidFill>
                <a:schemeClr val="dk1"/>
              </a:solidFill>
            </a:endParaRPr>
          </a:p>
          <a:p>
            <a:pPr lvl="0">
              <a:spcBef>
                <a:spcPts val="520"/>
              </a:spcBef>
            </a:pPr>
            <a:r>
              <a:rPr lang="en-US" sz="2300" b="1" i="1" dirty="0" err="1">
                <a:solidFill>
                  <a:srgbClr val="003399"/>
                </a:solidFill>
              </a:rPr>
              <a:t>Determinista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s-MX" dirty="0">
                <a:solidFill>
                  <a:schemeClr val="dk1"/>
                </a:solidFill>
              </a:rPr>
              <a:t>Las acciones tienen resultados predecibles</a:t>
            </a:r>
            <a:r>
              <a:rPr lang="en-US" dirty="0">
                <a:solidFill>
                  <a:schemeClr val="dk1"/>
                </a:solidFill>
              </a:rPr>
              <a:t>.</a:t>
            </a:r>
            <a:endParaRPr dirty="0">
              <a:solidFill>
                <a:schemeClr val="dk1"/>
              </a:solidFill>
            </a:endParaRPr>
          </a:p>
          <a:p>
            <a:pPr lvl="0">
              <a:spcBef>
                <a:spcPts val="520"/>
              </a:spcBef>
            </a:pPr>
            <a:r>
              <a:rPr lang="en-US" sz="2300" b="1" i="1" dirty="0" err="1">
                <a:solidFill>
                  <a:srgbClr val="003399"/>
                </a:solidFill>
              </a:rPr>
              <a:t>Episódico</a:t>
            </a:r>
            <a:r>
              <a:rPr lang="en-US" sz="2300" b="1" dirty="0">
                <a:solidFill>
                  <a:schemeClr val="dk1"/>
                </a:solidFill>
              </a:rPr>
              <a:t> </a:t>
            </a:r>
            <a:r>
              <a:rPr lang="es-MX" dirty="0">
                <a:solidFill>
                  <a:schemeClr val="dk1"/>
                </a:solidFill>
              </a:rPr>
              <a:t>Las experiencias se dividen en eventos independientes (episodias).</a:t>
            </a:r>
            <a:endParaRPr dirty="0"/>
          </a:p>
        </p:txBody>
      </p:sp>
      <p:sp>
        <p:nvSpPr>
          <p:cNvPr id="3" name="Google Shape;490;g310c24f165f_0_108">
            <a:extLst>
              <a:ext uri="{FF2B5EF4-FFF2-40B4-BE49-F238E27FC236}">
                <a16:creationId xmlns:a16="http://schemas.microsoft.com/office/drawing/2014/main" id="{2FCC1936-C218-F1E5-B7AA-765383630917}"/>
              </a:ext>
            </a:extLst>
          </p:cNvPr>
          <p:cNvSpPr txBox="1"/>
          <p:nvPr/>
        </p:nvSpPr>
        <p:spPr>
          <a:xfrm>
            <a:off x="4720025" y="3436468"/>
            <a:ext cx="4184100" cy="2657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spcBef>
                <a:spcPts val="520"/>
              </a:spcBef>
            </a:pPr>
            <a:r>
              <a:rPr lang="en-US" sz="2300" b="1" i="1" dirty="0" err="1">
                <a:solidFill>
                  <a:srgbClr val="003399"/>
                </a:solidFill>
              </a:rPr>
              <a:t>Estático</a:t>
            </a:r>
            <a:r>
              <a:rPr lang="en-US" sz="2300" b="1" dirty="0">
                <a:solidFill>
                  <a:schemeClr val="dk1"/>
                </a:solidFill>
              </a:rPr>
              <a:t>:</a:t>
            </a:r>
            <a:r>
              <a:rPr lang="en-US" sz="1300" dirty="0">
                <a:solidFill>
                  <a:schemeClr val="dk1"/>
                </a:solidFill>
              </a:rPr>
              <a:t> </a:t>
            </a:r>
            <a:r>
              <a:rPr lang="es-MX" sz="1300" dirty="0">
                <a:solidFill>
                  <a:schemeClr val="dk1"/>
                </a:solidFill>
              </a:rPr>
              <a:t>El entorno realiza cambios solo por efecto de un agente</a:t>
            </a:r>
            <a:r>
              <a:rPr lang="en-US" sz="1300" dirty="0">
                <a:solidFill>
                  <a:schemeClr val="dk1"/>
                </a:solidFill>
              </a:rPr>
              <a:t>.</a:t>
            </a:r>
            <a:endParaRPr sz="1300" dirty="0">
              <a:solidFill>
                <a:schemeClr val="dk1"/>
              </a:solidFill>
            </a:endParaRPr>
          </a:p>
          <a:p>
            <a:pPr lvl="0">
              <a:spcBef>
                <a:spcPts val="520"/>
              </a:spcBef>
              <a:buClr>
                <a:schemeClr val="dk1"/>
              </a:buClr>
              <a:buSzPts val="1100"/>
            </a:pPr>
            <a:r>
              <a:rPr lang="en-US" sz="2300" b="1" i="1" dirty="0" err="1">
                <a:solidFill>
                  <a:srgbClr val="003399"/>
                </a:solidFill>
                <a:highlight>
                  <a:srgbClr val="FFFF00"/>
                </a:highlight>
              </a:rPr>
              <a:t>Dinámico</a:t>
            </a:r>
            <a:r>
              <a:rPr lang="en-US" sz="2300" b="1" i="1" dirty="0">
                <a:solidFill>
                  <a:srgbClr val="003399"/>
                </a:solidFill>
                <a:highlight>
                  <a:srgbClr val="FFFF00"/>
                </a:highlight>
              </a:rPr>
              <a:t>: </a:t>
            </a:r>
            <a:r>
              <a:rPr lang="es-MX" sz="1300" dirty="0">
                <a:solidFill>
                  <a:schemeClr val="dk1"/>
                </a:solidFill>
                <a:highlight>
                  <a:srgbClr val="FFFF00"/>
                </a:highlight>
              </a:rPr>
              <a:t>El entorno cambia con el tiempo independientemente de las acciones del agente</a:t>
            </a:r>
            <a:r>
              <a:rPr lang="en-US" sz="1300" dirty="0">
                <a:solidFill>
                  <a:schemeClr val="dk1"/>
                </a:solidFill>
              </a:rPr>
              <a:t>.</a:t>
            </a:r>
            <a:endParaRPr sz="1300" dirty="0">
              <a:solidFill>
                <a:schemeClr val="dk1"/>
              </a:solidFill>
            </a:endParaRPr>
          </a:p>
          <a:p>
            <a:pPr lvl="0">
              <a:spcBef>
                <a:spcPts val="520"/>
              </a:spcBef>
            </a:pPr>
            <a:r>
              <a:rPr lang="en-US" sz="2300" b="1" i="1" dirty="0" err="1">
                <a:solidFill>
                  <a:srgbClr val="003399"/>
                </a:solidFill>
              </a:rPr>
              <a:t>Discreto</a:t>
            </a:r>
            <a:r>
              <a:rPr lang="en-US" sz="2300" b="1" dirty="0">
                <a:solidFill>
                  <a:schemeClr val="dk1"/>
                </a:solidFill>
              </a:rPr>
              <a:t>: </a:t>
            </a:r>
            <a:r>
              <a:rPr lang="es-MX" sz="1300" dirty="0">
                <a:solidFill>
                  <a:schemeClr val="dk1"/>
                </a:solidFill>
              </a:rPr>
              <a:t>El entorno tiene estados distintos, separados (bien delimitados)</a:t>
            </a:r>
            <a:r>
              <a:rPr lang="en-US" sz="1300" dirty="0">
                <a:solidFill>
                  <a:schemeClr val="dk1"/>
                </a:solidFill>
              </a:rPr>
              <a:t>.</a:t>
            </a:r>
            <a:endParaRPr sz="1300" dirty="0">
              <a:solidFill>
                <a:schemeClr val="dk1"/>
              </a:solidFill>
            </a:endParaRPr>
          </a:p>
          <a:p>
            <a:pPr lvl="0">
              <a:spcBef>
                <a:spcPts val="520"/>
              </a:spcBef>
              <a:buClr>
                <a:schemeClr val="dk1"/>
              </a:buClr>
              <a:buSzPts val="1100"/>
            </a:pPr>
            <a:r>
              <a:rPr lang="en-US" sz="2300" b="1" i="1" dirty="0">
                <a:solidFill>
                  <a:srgbClr val="003399"/>
                </a:solidFill>
              </a:rPr>
              <a:t>Continuo</a:t>
            </a:r>
            <a:r>
              <a:rPr lang="en-US" sz="2300" b="1" dirty="0">
                <a:solidFill>
                  <a:schemeClr val="dk1"/>
                </a:solidFill>
              </a:rPr>
              <a:t>: </a:t>
            </a:r>
            <a:r>
              <a:rPr lang="es-MX" sz="1300" dirty="0">
                <a:solidFill>
                  <a:schemeClr val="dk1"/>
                </a:solidFill>
              </a:rPr>
              <a:t>Los estados son rangos sin una separación clara</a:t>
            </a:r>
            <a:r>
              <a:rPr lang="en-US" sz="1300" dirty="0">
                <a:solidFill>
                  <a:schemeClr val="dk1"/>
                </a:solidFill>
              </a:rPr>
              <a:t>.</a:t>
            </a:r>
            <a:endParaRPr sz="13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70009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95">
          <a:extLst>
            <a:ext uri="{FF2B5EF4-FFF2-40B4-BE49-F238E27FC236}">
              <a16:creationId xmlns:a16="http://schemas.microsoft.com/office/drawing/2014/main" id="{4949E2C8-4C4D-91F4-E9AA-62B4DAF90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310c24f165f_0_116">
            <a:extLst>
              <a:ext uri="{FF2B5EF4-FFF2-40B4-BE49-F238E27FC236}">
                <a16:creationId xmlns:a16="http://schemas.microsoft.com/office/drawing/2014/main" id="{67A44D3C-9B1C-8814-37AF-64363D82B7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243637"/>
            <a:ext cx="2132100" cy="4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Garamond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sp>
        <p:nvSpPr>
          <p:cNvPr id="497" name="Google Shape;497;g310c24f165f_0_116">
            <a:extLst>
              <a:ext uri="{FF2B5EF4-FFF2-40B4-BE49-F238E27FC236}">
                <a16:creationId xmlns:a16="http://schemas.microsoft.com/office/drawing/2014/main" id="{B5B239F0-5324-B925-71D6-92BD70DBDF4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77804"/>
            <a:ext cx="8229600" cy="7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4200"/>
              <a:buFont typeface="Garamond"/>
              <a:buNone/>
            </a:pPr>
            <a:r>
              <a:rPr lang="en-US">
                <a:solidFill>
                  <a:srgbClr val="CC3300"/>
                </a:solidFill>
              </a:rPr>
              <a:t>Recap</a:t>
            </a:r>
            <a:endParaRPr/>
          </a:p>
        </p:txBody>
      </p:sp>
      <p:sp>
        <p:nvSpPr>
          <p:cNvPr id="500" name="Google Shape;500;g310c24f165f_0_116">
            <a:extLst>
              <a:ext uri="{FF2B5EF4-FFF2-40B4-BE49-F238E27FC236}">
                <a16:creationId xmlns:a16="http://schemas.microsoft.com/office/drawing/2014/main" id="{3A905F9A-147C-B949-C74C-E4F2CA868F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143000"/>
            <a:ext cx="8229600" cy="28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520"/>
              </a:spcBef>
            </a:pPr>
            <a:r>
              <a:rPr lang="en-US" sz="2100" i="1" dirty="0">
                <a:solidFill>
                  <a:schemeClr val="dk1"/>
                </a:solidFill>
              </a:rPr>
              <a:t>“</a:t>
            </a:r>
            <a:r>
              <a:rPr lang="es-MX" sz="2100" i="1" dirty="0">
                <a:solidFill>
                  <a:schemeClr val="dk1"/>
                </a:solidFill>
              </a:rPr>
              <a:t>Un sudoku: todas las celdas están visibles y las reglas no cambian.</a:t>
            </a:r>
          </a:p>
          <a:p>
            <a:pPr marL="0" lvl="0" indent="0">
              <a:spcBef>
                <a:spcPts val="520"/>
              </a:spcBef>
            </a:pPr>
            <a:r>
              <a:rPr lang="es-MX" sz="2100" i="1" dirty="0">
                <a:solidFill>
                  <a:schemeClr val="dk1"/>
                </a:solidFill>
              </a:rPr>
              <a:t>Un laberinto con paredes fijas y visibles desde arriba.</a:t>
            </a:r>
          </a:p>
          <a:p>
            <a:pPr marL="0" lvl="0" indent="0">
              <a:spcBef>
                <a:spcPts val="520"/>
              </a:spcBef>
            </a:pPr>
            <a:r>
              <a:rPr lang="es-MX" sz="2100" i="1" dirty="0">
                <a:solidFill>
                  <a:schemeClr val="dk1"/>
                </a:solidFill>
              </a:rPr>
              <a:t>El ajedrez: todas las piezas y movimientos son conocidos.</a:t>
            </a:r>
          </a:p>
          <a:p>
            <a:pPr marL="0" lvl="0" indent="0">
              <a:spcBef>
                <a:spcPts val="520"/>
              </a:spcBef>
            </a:pPr>
            <a:endParaRPr lang="es-MX" sz="2100" b="1" i="1" dirty="0">
              <a:solidFill>
                <a:schemeClr val="dk1"/>
              </a:solidFill>
            </a:endParaRPr>
          </a:p>
          <a:p>
            <a:pPr marL="0" lvl="0" indent="0">
              <a:spcBef>
                <a:spcPts val="520"/>
              </a:spcBef>
            </a:pPr>
            <a:r>
              <a:rPr lang="es-MX" sz="2300" b="1" dirty="0">
                <a:solidFill>
                  <a:schemeClr val="dk1"/>
                </a:solidFill>
              </a:rPr>
              <a:t>podrían considerarse ejemplos de este tipo de entorno</a:t>
            </a:r>
            <a:r>
              <a:rPr lang="en-US" sz="2300" b="1" dirty="0">
                <a:solidFill>
                  <a:schemeClr val="dk1"/>
                </a:solidFill>
              </a:rPr>
              <a:t>:</a:t>
            </a:r>
            <a:endParaRPr sz="1700" b="1" dirty="0"/>
          </a:p>
        </p:txBody>
      </p:sp>
      <p:sp>
        <p:nvSpPr>
          <p:cNvPr id="2" name="Google Shape;489;g310c24f165f_0_108">
            <a:extLst>
              <a:ext uri="{FF2B5EF4-FFF2-40B4-BE49-F238E27FC236}">
                <a16:creationId xmlns:a16="http://schemas.microsoft.com/office/drawing/2014/main" id="{8999E8D9-840C-59D1-CB52-F553B3DA473B}"/>
              </a:ext>
            </a:extLst>
          </p:cNvPr>
          <p:cNvSpPr txBox="1"/>
          <p:nvPr/>
        </p:nvSpPr>
        <p:spPr>
          <a:xfrm>
            <a:off x="457325" y="3714750"/>
            <a:ext cx="4262700" cy="2100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spcBef>
                <a:spcPts val="520"/>
              </a:spcBef>
            </a:pPr>
            <a:r>
              <a:rPr lang="en-US" sz="2300" b="1" i="1" dirty="0" err="1">
                <a:solidFill>
                  <a:srgbClr val="003399"/>
                </a:solidFill>
              </a:rPr>
              <a:t>Accesible</a:t>
            </a:r>
            <a:r>
              <a:rPr lang="en-US" sz="2300" b="1" dirty="0">
                <a:solidFill>
                  <a:schemeClr val="dk1"/>
                </a:solidFill>
              </a:rPr>
              <a:t> </a:t>
            </a:r>
            <a:r>
              <a:rPr lang="es-MX" sz="1500" dirty="0">
                <a:solidFill>
                  <a:schemeClr val="dk1"/>
                </a:solidFill>
              </a:rPr>
              <a:t>Información sobre el entorno está disponible</a:t>
            </a:r>
            <a:r>
              <a:rPr lang="en-US" sz="1500" dirty="0">
                <a:solidFill>
                  <a:schemeClr val="dk1"/>
                </a:solidFill>
              </a:rPr>
              <a:t>.</a:t>
            </a:r>
            <a:endParaRPr sz="700" dirty="0">
              <a:solidFill>
                <a:schemeClr val="dk1"/>
              </a:solidFill>
            </a:endParaRPr>
          </a:p>
          <a:p>
            <a:pPr lvl="0">
              <a:spcBef>
                <a:spcPts val="520"/>
              </a:spcBef>
            </a:pPr>
            <a:r>
              <a:rPr lang="en-US" sz="2300" b="1" i="1" dirty="0" err="1">
                <a:solidFill>
                  <a:srgbClr val="003399"/>
                </a:solidFill>
              </a:rPr>
              <a:t>Determinista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s-MX" dirty="0">
                <a:solidFill>
                  <a:schemeClr val="dk1"/>
                </a:solidFill>
              </a:rPr>
              <a:t>Las acciones tienen resultados predecibles</a:t>
            </a:r>
            <a:r>
              <a:rPr lang="en-US" dirty="0">
                <a:solidFill>
                  <a:schemeClr val="dk1"/>
                </a:solidFill>
              </a:rPr>
              <a:t>.</a:t>
            </a:r>
            <a:endParaRPr dirty="0">
              <a:solidFill>
                <a:schemeClr val="dk1"/>
              </a:solidFill>
            </a:endParaRPr>
          </a:p>
          <a:p>
            <a:pPr lvl="0">
              <a:spcBef>
                <a:spcPts val="520"/>
              </a:spcBef>
            </a:pPr>
            <a:r>
              <a:rPr lang="en-US" sz="2300" b="1" i="1" dirty="0" err="1">
                <a:solidFill>
                  <a:srgbClr val="003399"/>
                </a:solidFill>
              </a:rPr>
              <a:t>Episódico</a:t>
            </a:r>
            <a:r>
              <a:rPr lang="en-US" sz="2300" b="1" dirty="0">
                <a:solidFill>
                  <a:schemeClr val="dk1"/>
                </a:solidFill>
              </a:rPr>
              <a:t> </a:t>
            </a:r>
            <a:r>
              <a:rPr lang="es-MX" dirty="0">
                <a:solidFill>
                  <a:schemeClr val="dk1"/>
                </a:solidFill>
              </a:rPr>
              <a:t>Las experiencias se dividen en eventos independientes (episodias).</a:t>
            </a:r>
            <a:endParaRPr dirty="0"/>
          </a:p>
        </p:txBody>
      </p:sp>
      <p:sp>
        <p:nvSpPr>
          <p:cNvPr id="3" name="Google Shape;490;g310c24f165f_0_108">
            <a:extLst>
              <a:ext uri="{FF2B5EF4-FFF2-40B4-BE49-F238E27FC236}">
                <a16:creationId xmlns:a16="http://schemas.microsoft.com/office/drawing/2014/main" id="{10F51D74-31A3-B22F-1D32-360AE6B4A31C}"/>
              </a:ext>
            </a:extLst>
          </p:cNvPr>
          <p:cNvSpPr txBox="1"/>
          <p:nvPr/>
        </p:nvSpPr>
        <p:spPr>
          <a:xfrm>
            <a:off x="4720025" y="3436468"/>
            <a:ext cx="4184100" cy="2657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spcBef>
                <a:spcPts val="520"/>
              </a:spcBef>
            </a:pPr>
            <a:r>
              <a:rPr lang="en-US" sz="2300" b="1" i="1" dirty="0" err="1">
                <a:solidFill>
                  <a:srgbClr val="003399"/>
                </a:solidFill>
              </a:rPr>
              <a:t>Estático</a:t>
            </a:r>
            <a:r>
              <a:rPr lang="en-US" sz="2300" b="1" dirty="0">
                <a:solidFill>
                  <a:schemeClr val="dk1"/>
                </a:solidFill>
              </a:rPr>
              <a:t>:</a:t>
            </a:r>
            <a:r>
              <a:rPr lang="en-US" sz="1300" dirty="0">
                <a:solidFill>
                  <a:schemeClr val="dk1"/>
                </a:solidFill>
              </a:rPr>
              <a:t> </a:t>
            </a:r>
            <a:r>
              <a:rPr lang="es-MX" sz="1300" dirty="0">
                <a:solidFill>
                  <a:schemeClr val="dk1"/>
                </a:solidFill>
              </a:rPr>
              <a:t>El entorno realiza cambios solo por efecto de un agente</a:t>
            </a:r>
            <a:r>
              <a:rPr lang="en-US" sz="1300" dirty="0">
                <a:solidFill>
                  <a:schemeClr val="dk1"/>
                </a:solidFill>
              </a:rPr>
              <a:t>.</a:t>
            </a:r>
            <a:endParaRPr sz="1300" dirty="0">
              <a:solidFill>
                <a:schemeClr val="dk1"/>
              </a:solidFill>
            </a:endParaRPr>
          </a:p>
          <a:p>
            <a:pPr lvl="0">
              <a:spcBef>
                <a:spcPts val="520"/>
              </a:spcBef>
              <a:buClr>
                <a:schemeClr val="dk1"/>
              </a:buClr>
              <a:buSzPts val="1100"/>
            </a:pPr>
            <a:r>
              <a:rPr lang="en-US" sz="2300" b="1" i="1" dirty="0" err="1">
                <a:solidFill>
                  <a:srgbClr val="003399"/>
                </a:solidFill>
              </a:rPr>
              <a:t>Dinámico</a:t>
            </a:r>
            <a:r>
              <a:rPr lang="en-US" sz="2300" b="1" i="1" dirty="0">
                <a:solidFill>
                  <a:srgbClr val="003399"/>
                </a:solidFill>
              </a:rPr>
              <a:t>: </a:t>
            </a:r>
            <a:r>
              <a:rPr lang="es-MX" sz="1300" dirty="0">
                <a:solidFill>
                  <a:schemeClr val="dk1"/>
                </a:solidFill>
              </a:rPr>
              <a:t>El entorno cambia con el tiempo independientemente de las acciones del agente</a:t>
            </a:r>
            <a:r>
              <a:rPr lang="en-US" sz="1300" dirty="0">
                <a:solidFill>
                  <a:schemeClr val="dk1"/>
                </a:solidFill>
              </a:rPr>
              <a:t>.</a:t>
            </a:r>
            <a:endParaRPr sz="1300" dirty="0">
              <a:solidFill>
                <a:schemeClr val="dk1"/>
              </a:solidFill>
            </a:endParaRPr>
          </a:p>
          <a:p>
            <a:pPr lvl="0">
              <a:spcBef>
                <a:spcPts val="520"/>
              </a:spcBef>
            </a:pPr>
            <a:r>
              <a:rPr lang="en-US" sz="2300" b="1" i="1" dirty="0" err="1">
                <a:solidFill>
                  <a:srgbClr val="003399"/>
                </a:solidFill>
              </a:rPr>
              <a:t>Discreto</a:t>
            </a:r>
            <a:r>
              <a:rPr lang="en-US" sz="2300" b="1" dirty="0">
                <a:solidFill>
                  <a:schemeClr val="dk1"/>
                </a:solidFill>
              </a:rPr>
              <a:t>: </a:t>
            </a:r>
            <a:r>
              <a:rPr lang="es-MX" sz="1300" dirty="0">
                <a:solidFill>
                  <a:schemeClr val="dk1"/>
                </a:solidFill>
              </a:rPr>
              <a:t>El entorno tiene estados distintos, separados (bien delimitados)</a:t>
            </a:r>
            <a:r>
              <a:rPr lang="en-US" sz="1300" dirty="0">
                <a:solidFill>
                  <a:schemeClr val="dk1"/>
                </a:solidFill>
              </a:rPr>
              <a:t>.</a:t>
            </a:r>
            <a:endParaRPr sz="1300" dirty="0">
              <a:solidFill>
                <a:schemeClr val="dk1"/>
              </a:solidFill>
            </a:endParaRPr>
          </a:p>
          <a:p>
            <a:pPr lvl="0">
              <a:spcBef>
                <a:spcPts val="520"/>
              </a:spcBef>
              <a:buClr>
                <a:schemeClr val="dk1"/>
              </a:buClr>
              <a:buSzPts val="1100"/>
            </a:pPr>
            <a:r>
              <a:rPr lang="en-US" sz="2300" b="1" i="1" dirty="0">
                <a:solidFill>
                  <a:srgbClr val="003399"/>
                </a:solidFill>
              </a:rPr>
              <a:t>Continuo</a:t>
            </a:r>
            <a:r>
              <a:rPr lang="en-US" sz="2300" b="1" dirty="0">
                <a:solidFill>
                  <a:schemeClr val="dk1"/>
                </a:solidFill>
              </a:rPr>
              <a:t>: </a:t>
            </a:r>
            <a:r>
              <a:rPr lang="es-MX" sz="1300" dirty="0">
                <a:solidFill>
                  <a:schemeClr val="dk1"/>
                </a:solidFill>
              </a:rPr>
              <a:t>Los estados son rangos sin una separación clara</a:t>
            </a:r>
            <a:r>
              <a:rPr lang="en-US" sz="1300" dirty="0">
                <a:solidFill>
                  <a:schemeClr val="dk1"/>
                </a:solidFill>
              </a:rPr>
              <a:t>.</a:t>
            </a:r>
            <a:endParaRPr sz="13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09242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95">
          <a:extLst>
            <a:ext uri="{FF2B5EF4-FFF2-40B4-BE49-F238E27FC236}">
              <a16:creationId xmlns:a16="http://schemas.microsoft.com/office/drawing/2014/main" id="{E7F7D1CE-A189-C2D1-96ED-67919D7A2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310c24f165f_0_116">
            <a:extLst>
              <a:ext uri="{FF2B5EF4-FFF2-40B4-BE49-F238E27FC236}">
                <a16:creationId xmlns:a16="http://schemas.microsoft.com/office/drawing/2014/main" id="{DC363ED1-5F09-A793-54D4-ADE68D9CD5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243637"/>
            <a:ext cx="2132100" cy="4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Garamond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sp>
        <p:nvSpPr>
          <p:cNvPr id="497" name="Google Shape;497;g310c24f165f_0_116">
            <a:extLst>
              <a:ext uri="{FF2B5EF4-FFF2-40B4-BE49-F238E27FC236}">
                <a16:creationId xmlns:a16="http://schemas.microsoft.com/office/drawing/2014/main" id="{BEABF2D3-76CD-C86E-A295-11444AC58F2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77804"/>
            <a:ext cx="8229600" cy="7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4200"/>
              <a:buFont typeface="Garamond"/>
              <a:buNone/>
            </a:pPr>
            <a:r>
              <a:rPr lang="en-US">
                <a:solidFill>
                  <a:srgbClr val="CC3300"/>
                </a:solidFill>
              </a:rPr>
              <a:t>Recap</a:t>
            </a:r>
            <a:endParaRPr/>
          </a:p>
        </p:txBody>
      </p:sp>
      <p:sp>
        <p:nvSpPr>
          <p:cNvPr id="500" name="Google Shape;500;g310c24f165f_0_116">
            <a:extLst>
              <a:ext uri="{FF2B5EF4-FFF2-40B4-BE49-F238E27FC236}">
                <a16:creationId xmlns:a16="http://schemas.microsoft.com/office/drawing/2014/main" id="{03702B62-C626-E4D9-E2A9-33F38601A7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143000"/>
            <a:ext cx="8229600" cy="28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520"/>
              </a:spcBef>
            </a:pPr>
            <a:r>
              <a:rPr lang="en-US" sz="2100" i="1" dirty="0">
                <a:solidFill>
                  <a:schemeClr val="dk1"/>
                </a:solidFill>
              </a:rPr>
              <a:t>“</a:t>
            </a:r>
            <a:r>
              <a:rPr lang="es-MX" sz="2100" i="1" dirty="0">
                <a:solidFill>
                  <a:schemeClr val="dk1"/>
                </a:solidFill>
              </a:rPr>
              <a:t>Un sudoku: todas las celdas están visibles y las reglas no cambian.</a:t>
            </a:r>
          </a:p>
          <a:p>
            <a:pPr marL="0" lvl="0" indent="0">
              <a:spcBef>
                <a:spcPts val="520"/>
              </a:spcBef>
            </a:pPr>
            <a:r>
              <a:rPr lang="es-MX" sz="2100" i="1" dirty="0">
                <a:solidFill>
                  <a:schemeClr val="dk1"/>
                </a:solidFill>
              </a:rPr>
              <a:t>Un laberinto con paredes fijas y visibles desde arriba.</a:t>
            </a:r>
          </a:p>
          <a:p>
            <a:pPr marL="0" lvl="0" indent="0">
              <a:spcBef>
                <a:spcPts val="520"/>
              </a:spcBef>
            </a:pPr>
            <a:r>
              <a:rPr lang="es-MX" sz="2100" i="1" dirty="0">
                <a:solidFill>
                  <a:schemeClr val="dk1"/>
                </a:solidFill>
              </a:rPr>
              <a:t>El ajedrez: todas las piezas y movimientos son conocidos.</a:t>
            </a:r>
          </a:p>
          <a:p>
            <a:pPr marL="0" lvl="0" indent="0">
              <a:spcBef>
                <a:spcPts val="520"/>
              </a:spcBef>
            </a:pPr>
            <a:endParaRPr lang="es-MX" sz="2100" b="1" i="1" dirty="0">
              <a:solidFill>
                <a:schemeClr val="dk1"/>
              </a:solidFill>
            </a:endParaRPr>
          </a:p>
          <a:p>
            <a:pPr marL="0" lvl="0" indent="0">
              <a:spcBef>
                <a:spcPts val="520"/>
              </a:spcBef>
            </a:pPr>
            <a:r>
              <a:rPr lang="es-MX" sz="2300" b="1" dirty="0">
                <a:solidFill>
                  <a:schemeClr val="dk1"/>
                </a:solidFill>
              </a:rPr>
              <a:t>podrían considerarse ejemplos de este tipo de entorno</a:t>
            </a:r>
            <a:r>
              <a:rPr lang="en-US" sz="2300" b="1" dirty="0">
                <a:solidFill>
                  <a:schemeClr val="dk1"/>
                </a:solidFill>
              </a:rPr>
              <a:t>:</a:t>
            </a:r>
            <a:endParaRPr sz="1700" b="1" dirty="0"/>
          </a:p>
        </p:txBody>
      </p:sp>
      <p:sp>
        <p:nvSpPr>
          <p:cNvPr id="2" name="Google Shape;489;g310c24f165f_0_108">
            <a:extLst>
              <a:ext uri="{FF2B5EF4-FFF2-40B4-BE49-F238E27FC236}">
                <a16:creationId xmlns:a16="http://schemas.microsoft.com/office/drawing/2014/main" id="{670350C0-2BD2-8008-2FCA-E68A06A33CCA}"/>
              </a:ext>
            </a:extLst>
          </p:cNvPr>
          <p:cNvSpPr txBox="1"/>
          <p:nvPr/>
        </p:nvSpPr>
        <p:spPr>
          <a:xfrm>
            <a:off x="457325" y="3714750"/>
            <a:ext cx="4262700" cy="2100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spcBef>
                <a:spcPts val="520"/>
              </a:spcBef>
            </a:pPr>
            <a:r>
              <a:rPr lang="en-US" sz="2300" b="1" i="1" dirty="0" err="1">
                <a:solidFill>
                  <a:srgbClr val="003399"/>
                </a:solidFill>
                <a:highlight>
                  <a:srgbClr val="FFFF00"/>
                </a:highlight>
              </a:rPr>
              <a:t>Accesible</a:t>
            </a:r>
            <a:r>
              <a:rPr lang="en-US" sz="2300" b="1" dirty="0">
                <a:solidFill>
                  <a:schemeClr val="dk1"/>
                </a:solidFill>
                <a:highlight>
                  <a:srgbClr val="FFFF00"/>
                </a:highlight>
              </a:rPr>
              <a:t> </a:t>
            </a:r>
            <a:r>
              <a:rPr lang="es-MX" sz="1500" dirty="0">
                <a:solidFill>
                  <a:schemeClr val="dk1"/>
                </a:solidFill>
                <a:highlight>
                  <a:srgbClr val="FFFF00"/>
                </a:highlight>
              </a:rPr>
              <a:t>Información sobre el entorno está disponible</a:t>
            </a:r>
            <a:r>
              <a:rPr lang="en-US" sz="1500" dirty="0">
                <a:solidFill>
                  <a:schemeClr val="dk1"/>
                </a:solidFill>
                <a:highlight>
                  <a:srgbClr val="FFFF00"/>
                </a:highlight>
              </a:rPr>
              <a:t>.</a:t>
            </a:r>
            <a:endParaRPr sz="700" dirty="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lvl="0">
              <a:spcBef>
                <a:spcPts val="520"/>
              </a:spcBef>
            </a:pPr>
            <a:r>
              <a:rPr lang="en-US" sz="2300" b="1" i="1" dirty="0" err="1">
                <a:solidFill>
                  <a:srgbClr val="003399"/>
                </a:solidFill>
                <a:highlight>
                  <a:srgbClr val="FFFF00"/>
                </a:highlight>
              </a:rPr>
              <a:t>Determinista</a:t>
            </a:r>
            <a:r>
              <a:rPr lang="en-US" dirty="0">
                <a:solidFill>
                  <a:schemeClr val="dk1"/>
                </a:solidFill>
                <a:highlight>
                  <a:srgbClr val="FFFF00"/>
                </a:highlight>
              </a:rPr>
              <a:t> </a:t>
            </a:r>
            <a:r>
              <a:rPr lang="es-MX" dirty="0">
                <a:solidFill>
                  <a:schemeClr val="dk1"/>
                </a:solidFill>
                <a:highlight>
                  <a:srgbClr val="FFFF00"/>
                </a:highlight>
              </a:rPr>
              <a:t>Las acciones tienen resultados predecibles</a:t>
            </a:r>
            <a:r>
              <a:rPr lang="en-US" dirty="0">
                <a:solidFill>
                  <a:schemeClr val="dk1"/>
                </a:solidFill>
              </a:rPr>
              <a:t>.</a:t>
            </a:r>
            <a:endParaRPr dirty="0">
              <a:solidFill>
                <a:schemeClr val="dk1"/>
              </a:solidFill>
            </a:endParaRPr>
          </a:p>
          <a:p>
            <a:pPr lvl="0">
              <a:spcBef>
                <a:spcPts val="520"/>
              </a:spcBef>
            </a:pPr>
            <a:r>
              <a:rPr lang="en-US" sz="2300" b="1" i="1" dirty="0" err="1">
                <a:solidFill>
                  <a:srgbClr val="003399"/>
                </a:solidFill>
              </a:rPr>
              <a:t>Episódico</a:t>
            </a:r>
            <a:r>
              <a:rPr lang="en-US" sz="2300" b="1" dirty="0">
                <a:solidFill>
                  <a:schemeClr val="dk1"/>
                </a:solidFill>
              </a:rPr>
              <a:t> </a:t>
            </a:r>
            <a:r>
              <a:rPr lang="es-MX" dirty="0">
                <a:solidFill>
                  <a:schemeClr val="dk1"/>
                </a:solidFill>
              </a:rPr>
              <a:t>Las experiencias se dividen en eventos independientes (episodias).</a:t>
            </a:r>
            <a:endParaRPr dirty="0"/>
          </a:p>
        </p:txBody>
      </p:sp>
      <p:sp>
        <p:nvSpPr>
          <p:cNvPr id="3" name="Google Shape;490;g310c24f165f_0_108">
            <a:extLst>
              <a:ext uri="{FF2B5EF4-FFF2-40B4-BE49-F238E27FC236}">
                <a16:creationId xmlns:a16="http://schemas.microsoft.com/office/drawing/2014/main" id="{CD92F9D3-EE1D-7A91-6520-3D2625DA2C09}"/>
              </a:ext>
            </a:extLst>
          </p:cNvPr>
          <p:cNvSpPr txBox="1"/>
          <p:nvPr/>
        </p:nvSpPr>
        <p:spPr>
          <a:xfrm>
            <a:off x="4720025" y="3436468"/>
            <a:ext cx="4184100" cy="2657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spcBef>
                <a:spcPts val="520"/>
              </a:spcBef>
            </a:pPr>
            <a:r>
              <a:rPr lang="en-US" sz="2300" b="1" i="1" dirty="0" err="1">
                <a:solidFill>
                  <a:srgbClr val="003399"/>
                </a:solidFill>
              </a:rPr>
              <a:t>Estático</a:t>
            </a:r>
            <a:r>
              <a:rPr lang="en-US" sz="2300" b="1" dirty="0">
                <a:solidFill>
                  <a:schemeClr val="dk1"/>
                </a:solidFill>
              </a:rPr>
              <a:t>:</a:t>
            </a:r>
            <a:r>
              <a:rPr lang="en-US" sz="1300" dirty="0">
                <a:solidFill>
                  <a:schemeClr val="dk1"/>
                </a:solidFill>
              </a:rPr>
              <a:t> </a:t>
            </a:r>
            <a:r>
              <a:rPr lang="es-MX" sz="1300" dirty="0">
                <a:solidFill>
                  <a:schemeClr val="dk1"/>
                </a:solidFill>
              </a:rPr>
              <a:t>El entorno realiza cambios solo por efecto de un agente</a:t>
            </a:r>
            <a:r>
              <a:rPr lang="en-US" sz="1300" dirty="0">
                <a:solidFill>
                  <a:schemeClr val="dk1"/>
                </a:solidFill>
              </a:rPr>
              <a:t>.</a:t>
            </a:r>
            <a:endParaRPr sz="1300" dirty="0">
              <a:solidFill>
                <a:schemeClr val="dk1"/>
              </a:solidFill>
            </a:endParaRPr>
          </a:p>
          <a:p>
            <a:pPr lvl="0">
              <a:spcBef>
                <a:spcPts val="520"/>
              </a:spcBef>
              <a:buClr>
                <a:schemeClr val="dk1"/>
              </a:buClr>
              <a:buSzPts val="1100"/>
            </a:pPr>
            <a:r>
              <a:rPr lang="en-US" sz="2300" b="1" i="1" dirty="0" err="1">
                <a:solidFill>
                  <a:srgbClr val="003399"/>
                </a:solidFill>
              </a:rPr>
              <a:t>Dinámico</a:t>
            </a:r>
            <a:r>
              <a:rPr lang="en-US" sz="2300" b="1" i="1" dirty="0">
                <a:solidFill>
                  <a:srgbClr val="003399"/>
                </a:solidFill>
              </a:rPr>
              <a:t>: </a:t>
            </a:r>
            <a:r>
              <a:rPr lang="es-MX" sz="1300" dirty="0">
                <a:solidFill>
                  <a:schemeClr val="dk1"/>
                </a:solidFill>
              </a:rPr>
              <a:t>El entorno cambia con el tiempo independientemente de las acciones del agente</a:t>
            </a:r>
            <a:r>
              <a:rPr lang="en-US" sz="1300" dirty="0">
                <a:solidFill>
                  <a:schemeClr val="dk1"/>
                </a:solidFill>
              </a:rPr>
              <a:t>.</a:t>
            </a:r>
            <a:endParaRPr sz="1300" dirty="0">
              <a:solidFill>
                <a:schemeClr val="dk1"/>
              </a:solidFill>
            </a:endParaRPr>
          </a:p>
          <a:p>
            <a:pPr lvl="0">
              <a:spcBef>
                <a:spcPts val="520"/>
              </a:spcBef>
            </a:pPr>
            <a:r>
              <a:rPr lang="en-US" sz="2300" b="1" i="1" dirty="0" err="1">
                <a:solidFill>
                  <a:srgbClr val="003399"/>
                </a:solidFill>
              </a:rPr>
              <a:t>Discreto</a:t>
            </a:r>
            <a:r>
              <a:rPr lang="en-US" sz="2300" b="1" dirty="0">
                <a:solidFill>
                  <a:schemeClr val="dk1"/>
                </a:solidFill>
              </a:rPr>
              <a:t>: </a:t>
            </a:r>
            <a:r>
              <a:rPr lang="es-MX" sz="1300" dirty="0">
                <a:solidFill>
                  <a:schemeClr val="dk1"/>
                </a:solidFill>
              </a:rPr>
              <a:t>El entorno tiene estados distintos, separados (bien delimitados)</a:t>
            </a:r>
            <a:r>
              <a:rPr lang="en-US" sz="1300" dirty="0">
                <a:solidFill>
                  <a:schemeClr val="dk1"/>
                </a:solidFill>
              </a:rPr>
              <a:t>.</a:t>
            </a:r>
            <a:endParaRPr sz="1300" dirty="0">
              <a:solidFill>
                <a:schemeClr val="dk1"/>
              </a:solidFill>
            </a:endParaRPr>
          </a:p>
          <a:p>
            <a:pPr lvl="0">
              <a:spcBef>
                <a:spcPts val="520"/>
              </a:spcBef>
              <a:buClr>
                <a:schemeClr val="dk1"/>
              </a:buClr>
              <a:buSzPts val="1100"/>
            </a:pPr>
            <a:r>
              <a:rPr lang="en-US" sz="2300" b="1" i="1" dirty="0">
                <a:solidFill>
                  <a:srgbClr val="003399"/>
                </a:solidFill>
              </a:rPr>
              <a:t>Continuo</a:t>
            </a:r>
            <a:r>
              <a:rPr lang="en-US" sz="2300" b="1" dirty="0">
                <a:solidFill>
                  <a:schemeClr val="dk1"/>
                </a:solidFill>
              </a:rPr>
              <a:t>: </a:t>
            </a:r>
            <a:r>
              <a:rPr lang="es-MX" sz="1300" dirty="0">
                <a:solidFill>
                  <a:schemeClr val="dk1"/>
                </a:solidFill>
              </a:rPr>
              <a:t>Los estados son rangos sin una separación clara</a:t>
            </a:r>
            <a:r>
              <a:rPr lang="en-US" sz="1300" dirty="0">
                <a:solidFill>
                  <a:schemeClr val="dk1"/>
                </a:solidFill>
              </a:rPr>
              <a:t>.</a:t>
            </a:r>
            <a:endParaRPr sz="13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29993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310c24f165f_0_152"/>
          <p:cNvSpPr txBox="1">
            <a:spLocks noGrp="1"/>
          </p:cNvSpPr>
          <p:nvPr>
            <p:ph type="sldNum" idx="12"/>
          </p:nvPr>
        </p:nvSpPr>
        <p:spPr>
          <a:xfrm>
            <a:off x="6553200" y="6243637"/>
            <a:ext cx="2132100" cy="4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sp>
        <p:nvSpPr>
          <p:cNvPr id="515" name="Google Shape;515;g310c24f165f_0_152"/>
          <p:cNvSpPr txBox="1">
            <a:spLocks noGrp="1"/>
          </p:cNvSpPr>
          <p:nvPr>
            <p:ph type="title"/>
          </p:nvPr>
        </p:nvSpPr>
        <p:spPr>
          <a:xfrm>
            <a:off x="457200" y="277804"/>
            <a:ext cx="8229600" cy="7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lvl="0">
              <a:buClr>
                <a:srgbClr val="CC3300"/>
              </a:buClr>
              <a:buSzPts val="4200"/>
            </a:pPr>
            <a:r>
              <a:rPr lang="en-US" dirty="0">
                <a:solidFill>
                  <a:srgbClr val="CC3300"/>
                </a:solidFill>
              </a:rPr>
              <a:t>Recap: </a:t>
            </a:r>
            <a:r>
              <a:rPr lang="en-US" dirty="0" err="1">
                <a:solidFill>
                  <a:srgbClr val="CC3300"/>
                </a:solidFill>
              </a:rPr>
              <a:t>Arquitecturas</a:t>
            </a:r>
            <a:r>
              <a:rPr lang="en-US" dirty="0">
                <a:solidFill>
                  <a:srgbClr val="CC3300"/>
                </a:solidFill>
              </a:rPr>
              <a:t> de </a:t>
            </a:r>
            <a:r>
              <a:rPr lang="en-US" dirty="0" err="1">
                <a:solidFill>
                  <a:srgbClr val="CC3300"/>
                </a:solidFill>
              </a:rPr>
              <a:t>agentes</a:t>
            </a:r>
            <a:endParaRPr dirty="0">
              <a:solidFill>
                <a:srgbClr val="CC33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rgbClr val="CC330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4200"/>
              <a:buFont typeface="Garamond"/>
              <a:buNone/>
            </a:pPr>
            <a:endParaRPr dirty="0">
              <a:solidFill>
                <a:srgbClr val="CC3300"/>
              </a:solidFill>
            </a:endParaRPr>
          </a:p>
        </p:txBody>
      </p:sp>
      <p:sp>
        <p:nvSpPr>
          <p:cNvPr id="516" name="Google Shape;516;g310c24f165f_0_152"/>
          <p:cNvSpPr txBox="1"/>
          <p:nvPr/>
        </p:nvSpPr>
        <p:spPr>
          <a:xfrm>
            <a:off x="457200" y="3200400"/>
            <a:ext cx="4262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52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g310c24f165f_0_152"/>
          <p:cNvSpPr txBox="1">
            <a:spLocks noGrp="1"/>
          </p:cNvSpPr>
          <p:nvPr>
            <p:ph type="body" idx="1"/>
          </p:nvPr>
        </p:nvSpPr>
        <p:spPr>
          <a:xfrm>
            <a:off x="457200" y="1143000"/>
            <a:ext cx="8229600" cy="49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indent="-317500">
              <a:spcBef>
                <a:spcPts val="520"/>
              </a:spcBef>
              <a:buChar char="●"/>
            </a:pPr>
            <a:r>
              <a:rPr lang="en-US" sz="2300" b="1" i="1" dirty="0" err="1">
                <a:solidFill>
                  <a:srgbClr val="003399"/>
                </a:solidFill>
              </a:rPr>
              <a:t>Puramente</a:t>
            </a:r>
            <a:r>
              <a:rPr lang="en-US" sz="2300" b="1" i="1" dirty="0">
                <a:solidFill>
                  <a:srgbClr val="003399"/>
                </a:solidFill>
              </a:rPr>
              <a:t> (</a:t>
            </a:r>
            <a:r>
              <a:rPr lang="en-US" sz="2300" b="1" i="1" dirty="0" err="1">
                <a:solidFill>
                  <a:srgbClr val="003399"/>
                </a:solidFill>
              </a:rPr>
              <a:t>simplemente</a:t>
            </a:r>
            <a:r>
              <a:rPr lang="en-US" sz="2300" b="1" i="1" dirty="0">
                <a:solidFill>
                  <a:srgbClr val="003399"/>
                </a:solidFill>
              </a:rPr>
              <a:t>) </a:t>
            </a:r>
            <a:r>
              <a:rPr lang="en-US" sz="2300" b="1" i="1" dirty="0" err="1">
                <a:solidFill>
                  <a:srgbClr val="003399"/>
                </a:solidFill>
              </a:rPr>
              <a:t>reactivo</a:t>
            </a:r>
            <a:r>
              <a:rPr lang="en-US" sz="2300" b="1" i="1" dirty="0">
                <a:solidFill>
                  <a:srgbClr val="003399"/>
                </a:solidFill>
              </a:rPr>
              <a:t>: </a:t>
            </a:r>
            <a:r>
              <a:rPr lang="en-US" sz="2300" b="1" dirty="0">
                <a:solidFill>
                  <a:schemeClr val="dk1"/>
                </a:solidFill>
              </a:rPr>
              <a:t> </a:t>
            </a:r>
            <a:r>
              <a:rPr lang="es-MX" sz="2000" dirty="0">
                <a:solidFill>
                  <a:schemeClr val="dk1"/>
                </a:solidFill>
              </a:rPr>
              <a:t>Actos basados únicamente en el estado del entorno actual</a:t>
            </a:r>
            <a:r>
              <a:rPr lang="en-US" sz="2000" dirty="0">
                <a:solidFill>
                  <a:schemeClr val="dk1"/>
                </a:solidFill>
              </a:rPr>
              <a:t>.</a:t>
            </a:r>
            <a:endParaRPr sz="2000" dirty="0">
              <a:solidFill>
                <a:schemeClr val="dk1"/>
              </a:solidFill>
            </a:endParaRPr>
          </a:p>
          <a:p>
            <a:pPr lvl="0" indent="-317500">
              <a:spcBef>
                <a:spcPts val="0"/>
              </a:spcBef>
              <a:buChar char="●"/>
            </a:pPr>
            <a:r>
              <a:rPr lang="en-US" sz="2300" b="1" i="1" dirty="0">
                <a:solidFill>
                  <a:srgbClr val="003399"/>
                </a:solidFill>
              </a:rPr>
              <a:t>Con </a:t>
            </a:r>
            <a:r>
              <a:rPr lang="en-US" sz="2300" b="1" i="1" dirty="0" err="1">
                <a:solidFill>
                  <a:srgbClr val="003399"/>
                </a:solidFill>
              </a:rPr>
              <a:t>estado</a:t>
            </a:r>
            <a:r>
              <a:rPr lang="en-US" sz="2300" b="1" i="1" dirty="0">
                <a:solidFill>
                  <a:srgbClr val="003399"/>
                </a:solidFill>
              </a:rPr>
              <a:t>: </a:t>
            </a:r>
            <a:r>
              <a:rPr lang="es-MX" sz="2000" dirty="0">
                <a:solidFill>
                  <a:schemeClr val="dk1"/>
                </a:solidFill>
              </a:rPr>
              <a:t>Agentes con estructura de datos interna, que normalmente se utilizan para registrar información sobre el estado y el historial del entorno</a:t>
            </a:r>
            <a:r>
              <a:rPr lang="en-US" sz="2000" dirty="0">
                <a:solidFill>
                  <a:schemeClr val="dk1"/>
                </a:solidFill>
              </a:rPr>
              <a:t>.</a:t>
            </a:r>
            <a:endParaRPr sz="2000" dirty="0">
              <a:solidFill>
                <a:schemeClr val="dk1"/>
              </a:solidFill>
            </a:endParaRPr>
          </a:p>
          <a:p>
            <a:pPr lvl="0" indent="-317500">
              <a:spcBef>
                <a:spcPts val="0"/>
              </a:spcBef>
              <a:buChar char="●"/>
            </a:pPr>
            <a:r>
              <a:rPr lang="en-US" sz="2300" b="1" i="1" dirty="0" err="1">
                <a:solidFill>
                  <a:srgbClr val="003399"/>
                </a:solidFill>
              </a:rPr>
              <a:t>Basado</a:t>
            </a:r>
            <a:r>
              <a:rPr lang="en-US" sz="2300" b="1" i="1" dirty="0">
                <a:solidFill>
                  <a:srgbClr val="003399"/>
                </a:solidFill>
              </a:rPr>
              <a:t> </a:t>
            </a:r>
            <a:r>
              <a:rPr lang="en-US" sz="2300" b="1" i="1" dirty="0" err="1">
                <a:solidFill>
                  <a:srgbClr val="003399"/>
                </a:solidFill>
              </a:rPr>
              <a:t>en</a:t>
            </a:r>
            <a:r>
              <a:rPr lang="en-US" sz="2300" b="1" i="1" dirty="0">
                <a:solidFill>
                  <a:srgbClr val="003399"/>
                </a:solidFill>
              </a:rPr>
              <a:t> </a:t>
            </a:r>
            <a:r>
              <a:rPr lang="en-US" sz="2300" b="1" i="1" dirty="0" err="1">
                <a:solidFill>
                  <a:srgbClr val="003399"/>
                </a:solidFill>
              </a:rPr>
              <a:t>el</a:t>
            </a:r>
            <a:r>
              <a:rPr lang="en-US" sz="2300" b="1" i="1" dirty="0">
                <a:solidFill>
                  <a:srgbClr val="003399"/>
                </a:solidFill>
              </a:rPr>
              <a:t> </a:t>
            </a:r>
            <a:r>
              <a:rPr lang="en-US" sz="2300" b="1" i="1" dirty="0" err="1">
                <a:solidFill>
                  <a:srgbClr val="003399"/>
                </a:solidFill>
              </a:rPr>
              <a:t>modelo</a:t>
            </a:r>
            <a:r>
              <a:rPr lang="en-US" sz="2300" b="1" i="1" dirty="0">
                <a:solidFill>
                  <a:srgbClr val="003399"/>
                </a:solidFill>
              </a:rPr>
              <a:t>:</a:t>
            </a:r>
            <a:r>
              <a:rPr lang="en-US" sz="1400" dirty="0">
                <a:solidFill>
                  <a:schemeClr val="dk1"/>
                </a:solidFill>
              </a:rPr>
              <a:t> </a:t>
            </a:r>
            <a:r>
              <a:rPr lang="es-MX" sz="2000" dirty="0">
                <a:solidFill>
                  <a:schemeClr val="dk1"/>
                </a:solidFill>
              </a:rPr>
              <a:t>Crear un modelo del entorno en el que opera y decidir una acción basada en ese modelo</a:t>
            </a:r>
            <a:r>
              <a:rPr lang="en-US" sz="2000" dirty="0">
                <a:solidFill>
                  <a:schemeClr val="dk1"/>
                </a:solidFill>
              </a:rPr>
              <a:t>.</a:t>
            </a:r>
            <a:endParaRPr sz="2000" dirty="0">
              <a:solidFill>
                <a:schemeClr val="dk1"/>
              </a:solidFill>
            </a:endParaRPr>
          </a:p>
          <a:p>
            <a:pPr lvl="0" indent="-317500">
              <a:spcBef>
                <a:spcPts val="0"/>
              </a:spcBef>
              <a:buChar char="●"/>
            </a:pPr>
            <a:r>
              <a:rPr lang="en-US" sz="2300" b="1" i="1" dirty="0" err="1">
                <a:solidFill>
                  <a:srgbClr val="003399"/>
                </a:solidFill>
              </a:rPr>
              <a:t>Basado</a:t>
            </a:r>
            <a:r>
              <a:rPr lang="en-US" sz="2300" b="1" i="1" dirty="0">
                <a:solidFill>
                  <a:srgbClr val="003399"/>
                </a:solidFill>
              </a:rPr>
              <a:t> </a:t>
            </a:r>
            <a:r>
              <a:rPr lang="en-US" sz="2300" b="1" i="1" dirty="0" err="1">
                <a:solidFill>
                  <a:srgbClr val="003399"/>
                </a:solidFill>
              </a:rPr>
              <a:t>en</a:t>
            </a:r>
            <a:r>
              <a:rPr lang="en-US" sz="2300" b="1" i="1" dirty="0">
                <a:solidFill>
                  <a:srgbClr val="003399"/>
                </a:solidFill>
              </a:rPr>
              <a:t> </a:t>
            </a:r>
            <a:r>
              <a:rPr lang="en-US" sz="2300" b="1" i="1" dirty="0" err="1">
                <a:solidFill>
                  <a:srgbClr val="003399"/>
                </a:solidFill>
              </a:rPr>
              <a:t>utilidades</a:t>
            </a:r>
            <a:r>
              <a:rPr lang="en-US" sz="2300" b="1" i="1" dirty="0">
                <a:solidFill>
                  <a:srgbClr val="003399"/>
                </a:solidFill>
              </a:rPr>
              <a:t>: </a:t>
            </a:r>
            <a:r>
              <a:rPr lang="es-MX" sz="2000" dirty="0">
                <a:solidFill>
                  <a:schemeClr val="dk1"/>
                </a:solidFill>
              </a:rPr>
              <a:t>Incluye una función de utilidad para medir sus preferencias entre estados</a:t>
            </a:r>
            <a:r>
              <a:rPr lang="en-US" sz="2000" dirty="0">
                <a:solidFill>
                  <a:schemeClr val="dk1"/>
                </a:solidFill>
              </a:rPr>
              <a:t>.</a:t>
            </a:r>
            <a:endParaRPr sz="2000" dirty="0">
              <a:solidFill>
                <a:schemeClr val="dk1"/>
              </a:solidFill>
            </a:endParaRPr>
          </a:p>
          <a:p>
            <a:pPr lvl="0" indent="-317500">
              <a:spcBef>
                <a:spcPts val="0"/>
              </a:spcBef>
              <a:buChar char="●"/>
            </a:pPr>
            <a:r>
              <a:rPr lang="en-US" sz="2300" b="1" i="1" dirty="0" err="1">
                <a:solidFill>
                  <a:srgbClr val="003399"/>
                </a:solidFill>
              </a:rPr>
              <a:t>Basado</a:t>
            </a:r>
            <a:r>
              <a:rPr lang="en-US" sz="2300" b="1" i="1" dirty="0">
                <a:solidFill>
                  <a:srgbClr val="003399"/>
                </a:solidFill>
              </a:rPr>
              <a:t> </a:t>
            </a:r>
            <a:r>
              <a:rPr lang="en-US" sz="2300" b="1" i="1" dirty="0" err="1">
                <a:solidFill>
                  <a:srgbClr val="003399"/>
                </a:solidFill>
              </a:rPr>
              <a:t>en</a:t>
            </a:r>
            <a:r>
              <a:rPr lang="en-US" sz="2300" b="1" i="1" dirty="0">
                <a:solidFill>
                  <a:srgbClr val="003399"/>
                </a:solidFill>
              </a:rPr>
              <a:t> </a:t>
            </a:r>
            <a:r>
              <a:rPr lang="en-US" sz="2300" b="1" i="1" dirty="0" err="1">
                <a:solidFill>
                  <a:srgbClr val="003399"/>
                </a:solidFill>
              </a:rPr>
              <a:t>tareas</a:t>
            </a:r>
            <a:r>
              <a:rPr lang="en-US" sz="2300" b="1" i="1" dirty="0">
                <a:solidFill>
                  <a:srgbClr val="003399"/>
                </a:solidFill>
              </a:rPr>
              <a:t>: </a:t>
            </a:r>
            <a:r>
              <a:rPr lang="es-MX" sz="2000" dirty="0">
                <a:solidFill>
                  <a:schemeClr val="dk1"/>
                </a:solidFill>
              </a:rPr>
              <a:t>Tiene un objetivo que debe cumplirse (un caso especial de función de utilidad con un resultado binario)</a:t>
            </a:r>
            <a:r>
              <a:rPr lang="en-US" sz="2000" dirty="0">
                <a:solidFill>
                  <a:schemeClr val="dk1"/>
                </a:solidFill>
              </a:rPr>
              <a:t>.</a:t>
            </a:r>
            <a:endParaRPr sz="2000" dirty="0">
              <a:solidFill>
                <a:schemeClr val="dk1"/>
              </a:solidFill>
            </a:endParaRPr>
          </a:p>
          <a:p>
            <a:pPr lvl="0" indent="-355600">
              <a:spcBef>
                <a:spcPts val="0"/>
              </a:spcBef>
              <a:buClr>
                <a:schemeClr val="dk1"/>
              </a:buClr>
              <a:buSzPts val="2000"/>
              <a:buChar char="●"/>
            </a:pPr>
            <a:r>
              <a:rPr lang="en-US" sz="2300" b="1" i="1" dirty="0" err="1">
                <a:solidFill>
                  <a:srgbClr val="003399"/>
                </a:solidFill>
              </a:rPr>
              <a:t>Aprendizaje</a:t>
            </a:r>
            <a:r>
              <a:rPr lang="en-US" sz="2300" b="1" i="1" dirty="0">
                <a:solidFill>
                  <a:srgbClr val="003399"/>
                </a:solidFill>
              </a:rPr>
              <a:t>: </a:t>
            </a:r>
            <a:r>
              <a:rPr lang="es-MX" sz="2000" dirty="0">
                <a:solidFill>
                  <a:schemeClr val="dk1"/>
                </a:solidFill>
              </a:rPr>
              <a:t>Se vuelve más competente a medida que interactúa con su entorno. El aprendizaje implica mejorar cualquier elemento del agente: modelo, programa, función de utilidad, </a:t>
            </a:r>
            <a:r>
              <a:rPr lang="es-MX" sz="2000" dirty="0" err="1">
                <a:solidFill>
                  <a:schemeClr val="dk1"/>
                </a:solidFill>
              </a:rPr>
              <a:t>etc</a:t>
            </a:r>
            <a:r>
              <a:rPr lang="en-US" sz="2000" dirty="0">
                <a:solidFill>
                  <a:schemeClr val="dk1"/>
                </a:solidFill>
              </a:rPr>
              <a:t>.</a:t>
            </a:r>
            <a:endParaRPr sz="20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520"/>
              </a:spcBef>
              <a:spcAft>
                <a:spcPts val="0"/>
              </a:spcAft>
              <a:buNone/>
            </a:pPr>
            <a:endParaRPr sz="1700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I_THEME_TEMPLATE_DESIGN">
  <a:themeElements>
    <a:clrScheme name="POI_THEME_TEMPLATE_DESIGN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CC99"/>
      </a:accent4>
      <a:accent5>
        <a:srgbClr val="3333CC"/>
      </a:accent5>
      <a:accent6>
        <a:srgbClr val="FFFFFF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POI_THEME_TEMPLATE_DESIGN">
  <a:themeElements>
    <a:clrScheme name="POI_THEME_TEMPLATE_DESIGN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CC99"/>
      </a:accent4>
      <a:accent5>
        <a:srgbClr val="3333CC"/>
      </a:accent5>
      <a:accent6>
        <a:srgbClr val="FFFFFF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4F5DF901266EB46A712FE93801BA1D6" ma:contentTypeVersion="15" ma:contentTypeDescription="Create a new document." ma:contentTypeScope="" ma:versionID="7cf47ee2fdae45ad2b2738e5487ef8f5">
  <xsd:schema xmlns:xsd="http://www.w3.org/2001/XMLSchema" xmlns:xs="http://www.w3.org/2001/XMLSchema" xmlns:p="http://schemas.microsoft.com/office/2006/metadata/properties" xmlns:ns2="70ec0d4c-04c6-4704-9b9d-f9c1df4ff1ba" xmlns:ns3="c0587088-7c24-4881-8fa2-37f7164e5ccf" targetNamespace="http://schemas.microsoft.com/office/2006/metadata/properties" ma:root="true" ma:fieldsID="ab34482a2b14c90b47d89902a7710ce8" ns2:_="" ns3:_="">
    <xsd:import namespace="70ec0d4c-04c6-4704-9b9d-f9c1df4ff1ba"/>
    <xsd:import namespace="c0587088-7c24-4881-8fa2-37f7164e5cc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2:MediaLengthInSeconds" minOccurs="0"/>
                <xsd:element ref="ns2:MediaServiceObjectDetectorVersion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ec0d4c-04c6-4704-9b9d-f9c1df4ff1b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13b0b881-3bf5-4493-8d21-dd6cf614d6f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587088-7c24-4881-8fa2-37f7164e5ccf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1e35ec3c-03b4-409f-a06e-371fbcf352db}" ma:internalName="TaxCatchAll" ma:showField="CatchAllData" ma:web="c0587088-7c24-4881-8fa2-37f7164e5cc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0ec0d4c-04c6-4704-9b9d-f9c1df4ff1ba">
      <Terms xmlns="http://schemas.microsoft.com/office/infopath/2007/PartnerControls"/>
    </lcf76f155ced4ddcb4097134ff3c332f>
    <TaxCatchAll xmlns="c0587088-7c24-4881-8fa2-37f7164e5ccf" xsi:nil="true"/>
  </documentManagement>
</p:properties>
</file>

<file path=customXml/itemProps1.xml><?xml version="1.0" encoding="utf-8"?>
<ds:datastoreItem xmlns:ds="http://schemas.openxmlformats.org/officeDocument/2006/customXml" ds:itemID="{4A3797A1-BB16-43E6-AC73-35A48F4824C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0ec0d4c-04c6-4704-9b9d-f9c1df4ff1ba"/>
    <ds:schemaRef ds:uri="c0587088-7c24-4881-8fa2-37f7164e5cc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15122CB-00AD-4E95-ADEE-F6FD27A1EC3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408E3B6-760A-4E72-932D-7D194DA02D4D}">
  <ds:schemaRefs>
    <ds:schemaRef ds:uri="http://schemas.microsoft.com/office/2006/metadata/properties"/>
    <ds:schemaRef ds:uri="http://schemas.microsoft.com/office/infopath/2007/PartnerControls"/>
    <ds:schemaRef ds:uri="70ec0d4c-04c6-4704-9b9d-f9c1df4ff1ba"/>
    <ds:schemaRef ds:uri="c0587088-7c24-4881-8fa2-37f7164e5ccf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204</TotalTime>
  <Words>1876</Words>
  <Application>Microsoft Office PowerPoint</Application>
  <PresentationFormat>On-screen Show (4:3)</PresentationFormat>
  <Paragraphs>201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Times New Roman</vt:lpstr>
      <vt:lpstr>Noto Sans Symbols</vt:lpstr>
      <vt:lpstr>Garamond</vt:lpstr>
      <vt:lpstr>POI_THEME_TEMPLATE_DESIGN</vt:lpstr>
      <vt:lpstr>POI_THEME_TEMPLATE_DESIGN</vt:lpstr>
      <vt:lpstr>PowerPoint Presentation</vt:lpstr>
      <vt:lpstr>Repaso: Medio ambiente</vt:lpstr>
      <vt:lpstr>Repaso: Medio ambiente</vt:lpstr>
      <vt:lpstr>Repaso: Medio ambiente</vt:lpstr>
      <vt:lpstr>Repaso: Medio ambiente</vt:lpstr>
      <vt:lpstr>Repaso: Medio ambiente</vt:lpstr>
      <vt:lpstr>Repaso: Medio ambiente</vt:lpstr>
      <vt:lpstr>Repaso: Medio ambiente</vt:lpstr>
      <vt:lpstr>Repaso: Medio ambiente</vt:lpstr>
      <vt:lpstr>Repaso: Medio ambiente</vt:lpstr>
      <vt:lpstr>Repaso: Medio ambiente</vt:lpstr>
      <vt:lpstr>Repaso</vt:lpstr>
      <vt:lpstr>Repaso</vt:lpstr>
      <vt:lpstr>Repaso</vt:lpstr>
      <vt:lpstr>Repaso</vt:lpstr>
      <vt:lpstr>Recap</vt:lpstr>
      <vt:lpstr>Recap</vt:lpstr>
      <vt:lpstr>Recap</vt:lpstr>
      <vt:lpstr>Recap</vt:lpstr>
      <vt:lpstr>Recap: Arquitecturas de agentes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Jeff Rosenschein</dc:creator>
  <cp:lastModifiedBy>Alfredo Alan Flores Saldivar</cp:lastModifiedBy>
  <cp:revision>4</cp:revision>
  <dcterms:created xsi:type="dcterms:W3CDTF">2002-09-12T12:30:06Z</dcterms:created>
  <dcterms:modified xsi:type="dcterms:W3CDTF">2025-08-21T04:49:26Z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0x01010094F5DF901266EB46A712FE93801BA1D6</vt:lpwstr>
  </property>
</Properties>
</file>