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58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</p:sldIdLst>
  <p:sldSz cx="9144000" cy="6858000" type="screen4x3"/>
  <p:notesSz cx="6858000" cy="9144000"/>
  <p:embeddedFontLst>
    <p:embeddedFont>
      <p:font typeface="Garamond" panose="02020404030301010803" pitchFamily="18" charset="0"/>
      <p:regular r:id="rId59"/>
      <p:bold r:id="rId60"/>
      <p:italic r:id="rId61"/>
      <p:boldItalic r:id="rId6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4" roundtripDataSignature="AMtx7mhtLymnoVX3f13YyNoEOSlnAyMR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52C63E-CBAC-40B8-B033-407424A864AB}">
  <a:tblStyle styleId="{7152C63E-CBAC-40B8-B033-407424A864AB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210" y="12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8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notesMaster" Target="notesMasters/notesMaster1.xml"/><Relationship Id="rId66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openxmlformats.org/officeDocument/2006/relationships/font" Target="fonts/font3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customschemas.google.com/relationships/presentationmetadata" Target="metadata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font" Target="fonts/font1.fntdata"/><Relationship Id="rId67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font" Target="fonts/font2.fntdata"/><Relationship Id="rId65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dt" idx="10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" name="Google Shape;6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" name="Google Shape;7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ftr" idx="11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n"/>
          <p:cNvSpPr txBox="1">
            <a:spLocks noGrp="1"/>
          </p:cNvSpPr>
          <p:nvPr>
            <p:ph type="sldNum" idx="4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2dd93aa846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" name="Google Shape;34;g2dd93aa846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2e12b04c68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" name="Google Shape;47;g2e12b04c68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2e12b04c68a_0_4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 sz="1400"/>
          </a:p>
        </p:txBody>
      </p:sp>
      <p:sp>
        <p:nvSpPr>
          <p:cNvPr id="54" name="Google Shape;54;g2e12b04c68a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5" name="Google Shape;55;g2e12b04c68a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g2e12b04c68a_0_42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 sz="1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e12b04c68a_0_10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 sz="1400"/>
          </a:p>
        </p:txBody>
      </p:sp>
      <p:sp>
        <p:nvSpPr>
          <p:cNvPr id="62" name="Google Shape;62;g2e12b04c68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3" name="Google Shape;63;g2e12b04c68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4" name="Google Shape;64;g2e12b04c68a_0_102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 sz="1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e12b04c68a_0_16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 sz="1400"/>
          </a:p>
        </p:txBody>
      </p:sp>
      <p:sp>
        <p:nvSpPr>
          <p:cNvPr id="71" name="Google Shape;71;g2e12b04c68a_0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2" name="Google Shape;72;g2e12b04c68a_0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3" name="Google Shape;73;g2e12b04c68a_0_167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 sz="1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e12b04c68a_0_22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 sz="1400"/>
          </a:p>
        </p:txBody>
      </p:sp>
      <p:sp>
        <p:nvSpPr>
          <p:cNvPr id="80" name="Google Shape;80;g2e12b04c68a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1" name="Google Shape;81;g2e12b04c68a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2" name="Google Shape;82;g2e12b04c68a_0_223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 sz="1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2e12b04c68a_0_18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 sz="1400"/>
          </a:p>
        </p:txBody>
      </p:sp>
      <p:sp>
        <p:nvSpPr>
          <p:cNvPr id="89" name="Google Shape;89;g2e12b04c68a_0_1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0" name="Google Shape;90;g2e12b04c68a_0_1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1" name="Google Shape;91;g2e12b04c68a_0_183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 sz="1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e12b04c68a_0_19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 sz="1400"/>
          </a:p>
        </p:txBody>
      </p:sp>
      <p:sp>
        <p:nvSpPr>
          <p:cNvPr id="98" name="Google Shape;98;g2e12b04c68a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99" name="Google Shape;99;g2e12b04c68a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g2e12b04c68a_0_198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e12b04c68a_0_20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 sz="1400"/>
          </a:p>
        </p:txBody>
      </p:sp>
      <p:sp>
        <p:nvSpPr>
          <p:cNvPr id="107" name="Google Shape;107;g2e12b04c68a_0_2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8" name="Google Shape;108;g2e12b04c68a_0_2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g2e12b04c68a_0_206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 sz="14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e12b04c68a_0_214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 sz="1400"/>
          </a:p>
        </p:txBody>
      </p:sp>
      <p:sp>
        <p:nvSpPr>
          <p:cNvPr id="116" name="Google Shape;116;g2e12b04c68a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17" name="Google Shape;117;g2e12b04c68a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g2e12b04c68a_0_214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10</a:t>
            </a:fld>
            <a:endParaRPr sz="1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12b04c68a_0_41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 sz="1400"/>
          </a:p>
        </p:txBody>
      </p:sp>
      <p:sp>
        <p:nvSpPr>
          <p:cNvPr id="125" name="Google Shape;125;g2e12b04c68a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26" name="Google Shape;126;g2e12b04c68a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7" name="Google Shape;127;g2e12b04c68a_0_418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11</a:t>
            </a:fld>
            <a:endParaRPr sz="1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f5fdc1cbb4_0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 sz="1400"/>
          </a:p>
        </p:txBody>
      </p:sp>
      <p:sp>
        <p:nvSpPr>
          <p:cNvPr id="136" name="Google Shape;136;g2f5fdc1cbb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37" name="Google Shape;137;g2f5fdc1cbb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8" name="Google Shape;138;g2f5fdc1cbb4_0_0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 sz="1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2f5fdc1cbb4_0_1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 sz="1400"/>
          </a:p>
        </p:txBody>
      </p:sp>
      <p:sp>
        <p:nvSpPr>
          <p:cNvPr id="147" name="Google Shape;147;g2f5fdc1cbb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48" name="Google Shape;148;g2f5fdc1cbb4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9" name="Google Shape;149;g2f5fdc1cbb4_0_13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13</a:t>
            </a:fld>
            <a:endParaRPr sz="1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12b04c68a_0_43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 sz="1400"/>
          </a:p>
        </p:txBody>
      </p:sp>
      <p:sp>
        <p:nvSpPr>
          <p:cNvPr id="159" name="Google Shape;159;g2e12b04c68a_0_4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0" name="Google Shape;160;g2e12b04c68a_0_4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1" name="Google Shape;161;g2e12b04c68a_0_431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14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e12b04c68a_0_44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 sz="1400"/>
          </a:p>
        </p:txBody>
      </p:sp>
      <p:sp>
        <p:nvSpPr>
          <p:cNvPr id="171" name="Google Shape;171;g2e12b04c68a_0_4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72" name="Google Shape;172;g2e12b04c68a_0_4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3" name="Google Shape;173;g2e12b04c68a_0_446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 sz="140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e12b04c68a_0_50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 sz="1400"/>
          </a:p>
        </p:txBody>
      </p:sp>
      <p:sp>
        <p:nvSpPr>
          <p:cNvPr id="185" name="Google Shape;185;g2e12b04c68a_0_5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86" name="Google Shape;186;g2e12b04c68a_0_5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g2e12b04c68a_0_505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16</a:t>
            </a:fld>
            <a:endParaRPr sz="140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e12b04c68a_0_51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 sz="1400"/>
          </a:p>
        </p:txBody>
      </p:sp>
      <p:sp>
        <p:nvSpPr>
          <p:cNvPr id="197" name="Google Shape;197;g2e12b04c68a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98" name="Google Shape;198;g2e12b04c68a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9" name="Google Shape;199;g2e12b04c68a_0_518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 sz="1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2e12b04c68a_0_47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 sz="1400"/>
          </a:p>
        </p:txBody>
      </p:sp>
      <p:sp>
        <p:nvSpPr>
          <p:cNvPr id="209" name="Google Shape;209;g2e12b04c68a_0_4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0" name="Google Shape;210;g2e12b04c68a_0_4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1" name="Google Shape;211;g2e12b04c68a_0_473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18</a:t>
            </a:fld>
            <a:endParaRPr sz="1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2e12b04c68a_0_53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 sz="1400"/>
          </a:p>
        </p:txBody>
      </p:sp>
      <p:sp>
        <p:nvSpPr>
          <p:cNvPr id="218" name="Google Shape;218;g2e12b04c68a_0_5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19" name="Google Shape;219;g2e12b04c68a_0_5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0" name="Google Shape;220;g2e12b04c68a_0_537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19</a:t>
            </a:fld>
            <a:endParaRPr sz="1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f5fdc1cbb4_0_2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 sz="1400"/>
          </a:p>
        </p:txBody>
      </p:sp>
      <p:sp>
        <p:nvSpPr>
          <p:cNvPr id="227" name="Google Shape;227;g2f5fdc1cbb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28" name="Google Shape;228;g2f5fdc1cbb4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g2f5fdc1cbb4_0_25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 sz="140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2f5fdc1cbb4_0_3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 sz="1400"/>
          </a:p>
        </p:txBody>
      </p:sp>
      <p:sp>
        <p:nvSpPr>
          <p:cNvPr id="236" name="Google Shape;236;g2f5fdc1cbb4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37" name="Google Shape;237;g2f5fdc1cbb4_0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g2f5fdc1cbb4_0_33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21</a:t>
            </a:fld>
            <a:endParaRPr sz="140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2f5fdc1cbb4_0_4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 sz="1400"/>
          </a:p>
        </p:txBody>
      </p:sp>
      <p:sp>
        <p:nvSpPr>
          <p:cNvPr id="246" name="Google Shape;246;g2f5fdc1cbb4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47" name="Google Shape;247;g2f5fdc1cbb4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8" name="Google Shape;248;g2f5fdc1cbb4_0_42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22</a:t>
            </a:fld>
            <a:endParaRPr sz="140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2f5fdc1cbb4_0_5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 sz="1400"/>
          </a:p>
        </p:txBody>
      </p:sp>
      <p:sp>
        <p:nvSpPr>
          <p:cNvPr id="259" name="Google Shape;259;g2f5fdc1cbb4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60" name="Google Shape;260;g2f5fdc1cbb4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1" name="Google Shape;261;g2f5fdc1cbb4_0_51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23</a:t>
            </a:fld>
            <a:endParaRPr sz="140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2f5fdc1cbb4_0_7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 sz="1400"/>
          </a:p>
        </p:txBody>
      </p:sp>
      <p:sp>
        <p:nvSpPr>
          <p:cNvPr id="276" name="Google Shape;276;g2f5fdc1cbb4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77" name="Google Shape;277;g2f5fdc1cbb4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8" name="Google Shape;278;g2f5fdc1cbb4_0_70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24</a:t>
            </a:fld>
            <a:endParaRPr sz="140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f5fdc1cbb4_0_9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 sz="1400"/>
          </a:p>
        </p:txBody>
      </p:sp>
      <p:sp>
        <p:nvSpPr>
          <p:cNvPr id="295" name="Google Shape;295;g2f5fdc1cbb4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296" name="Google Shape;296;g2f5fdc1cbb4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" name="Google Shape;297;g2f5fdc1cbb4_0_90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25</a:t>
            </a:fld>
            <a:endParaRPr sz="140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f5fdc1cbb4_0_11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 sz="1400"/>
          </a:p>
        </p:txBody>
      </p:sp>
      <p:sp>
        <p:nvSpPr>
          <p:cNvPr id="315" name="Google Shape;315;g2f5fdc1cbb4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16" name="Google Shape;316;g2f5fdc1cbb4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7" name="Google Shape;317;g2f5fdc1cbb4_0_111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26</a:t>
            </a:fld>
            <a:endParaRPr sz="140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g2f5fdc1cbb4_0_13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 sz="1400"/>
          </a:p>
        </p:txBody>
      </p:sp>
      <p:sp>
        <p:nvSpPr>
          <p:cNvPr id="335" name="Google Shape;335;g2f5fdc1cbb4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36" name="Google Shape;336;g2f5fdc1cbb4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7" name="Google Shape;337;g2f5fdc1cbb4_0_130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27</a:t>
            </a:fld>
            <a:endParaRPr sz="140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e12b04c68a_0_85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 sz="1400"/>
          </a:p>
        </p:txBody>
      </p:sp>
      <p:sp>
        <p:nvSpPr>
          <p:cNvPr id="353" name="Google Shape;353;g2e12b04c68a_0_8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54" name="Google Shape;354;g2e12b04c68a_0_8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5" name="Google Shape;355;g2e12b04c68a_0_855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 sz="140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2e12b04c68a_0_87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 sz="1400"/>
          </a:p>
        </p:txBody>
      </p:sp>
      <p:sp>
        <p:nvSpPr>
          <p:cNvPr id="361" name="Google Shape;361;g2e12b04c68a_0_8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62" name="Google Shape;362;g2e12b04c68a_0_8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63" name="Google Shape;363;g2e12b04c68a_0_873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29</a:t>
            </a:fld>
            <a:endParaRPr sz="140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2e12b04c68a_0_86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 sz="1400"/>
          </a:p>
        </p:txBody>
      </p:sp>
      <p:sp>
        <p:nvSpPr>
          <p:cNvPr id="371" name="Google Shape;371;g2e12b04c68a_0_8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72" name="Google Shape;372;g2e12b04c68a_0_8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3" name="Google Shape;373;g2e12b04c68a_0_863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30</a:t>
            </a:fld>
            <a:endParaRPr sz="140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2e12b04c68a_0_932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 sz="1400"/>
          </a:p>
        </p:txBody>
      </p:sp>
      <p:sp>
        <p:nvSpPr>
          <p:cNvPr id="381" name="Google Shape;381;g2e12b04c68a_0_9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82" name="Google Shape;382;g2e12b04c68a_0_9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83" name="Google Shape;383;g2e12b04c68a_0_932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31</a:t>
            </a:fld>
            <a:endParaRPr sz="140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2f5fdc1cbb4_0_151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 sz="1400"/>
          </a:p>
        </p:txBody>
      </p:sp>
      <p:sp>
        <p:nvSpPr>
          <p:cNvPr id="391" name="Google Shape;391;g2f5fdc1cbb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392" name="Google Shape;392;g2f5fdc1cbb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93" name="Google Shape;393;g2f5fdc1cbb4_0_151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32</a:t>
            </a:fld>
            <a:endParaRPr sz="1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f5fdc1cbb4_1_0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 sz="1400"/>
          </a:p>
        </p:txBody>
      </p:sp>
      <p:sp>
        <p:nvSpPr>
          <p:cNvPr id="401" name="Google Shape;401;g2f5fdc1cbb4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02" name="Google Shape;402;g2f5fdc1cbb4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03" name="Google Shape;403;g2f5fdc1cbb4_1_0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33</a:t>
            </a:fld>
            <a:endParaRPr sz="1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f5fdc1cbb4_1_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 sz="1400"/>
          </a:p>
        </p:txBody>
      </p:sp>
      <p:sp>
        <p:nvSpPr>
          <p:cNvPr id="411" name="Google Shape;411;g2f5fdc1cbb4_1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12" name="Google Shape;412;g2f5fdc1cbb4_1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3" name="Google Shape;413;g2f5fdc1cbb4_1_9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34</a:t>
            </a:fld>
            <a:endParaRPr sz="14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f5fdc1cbb4_1_1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 sz="1400"/>
          </a:p>
        </p:txBody>
      </p:sp>
      <p:sp>
        <p:nvSpPr>
          <p:cNvPr id="421" name="Google Shape;421;g2f5fdc1cbb4_1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22" name="Google Shape;422;g2f5fdc1cbb4_1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23" name="Google Shape;423;g2f5fdc1cbb4_1_18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35</a:t>
            </a:fld>
            <a:endParaRPr sz="14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g2f5fdc1cbb4_1_27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 sz="1400"/>
          </a:p>
        </p:txBody>
      </p:sp>
      <p:sp>
        <p:nvSpPr>
          <p:cNvPr id="431" name="Google Shape;431;g2f5fdc1cbb4_1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32" name="Google Shape;432;g2f5fdc1cbb4_1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3" name="Google Shape;433;g2f5fdc1cbb4_1_27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36</a:t>
            </a:fld>
            <a:endParaRPr sz="14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2e12b04c68a_0_95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37</a:t>
            </a:fld>
            <a:endParaRPr sz="1400"/>
          </a:p>
        </p:txBody>
      </p:sp>
      <p:sp>
        <p:nvSpPr>
          <p:cNvPr id="441" name="Google Shape;441;g2e12b04c68a_0_9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42" name="Google Shape;442;g2e12b04c68a_0_9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3" name="Google Shape;443;g2e12b04c68a_0_959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37</a:t>
            </a:fld>
            <a:endParaRPr sz="14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g2f5fdc1cbb4_1_36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38</a:t>
            </a:fld>
            <a:endParaRPr sz="1400"/>
          </a:p>
        </p:txBody>
      </p:sp>
      <p:sp>
        <p:nvSpPr>
          <p:cNvPr id="451" name="Google Shape;451;g2f5fdc1cbb4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52" name="Google Shape;452;g2f5fdc1cbb4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3" name="Google Shape;453;g2f5fdc1cbb4_1_36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38</a:t>
            </a:fld>
            <a:endParaRPr sz="14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2f5fdc1cbb4_1_4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39</a:t>
            </a:fld>
            <a:endParaRPr sz="1400"/>
          </a:p>
        </p:txBody>
      </p:sp>
      <p:sp>
        <p:nvSpPr>
          <p:cNvPr id="461" name="Google Shape;461;g2f5fdc1cbb4_1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62" name="Google Shape;462;g2f5fdc1cbb4_1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3" name="Google Shape;463;g2f5fdc1cbb4_1_45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39</a:t>
            </a:fld>
            <a:endParaRPr sz="1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f5fdc1cbb4_1_11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40</a:t>
            </a:fld>
            <a:endParaRPr sz="1400"/>
          </a:p>
        </p:txBody>
      </p:sp>
      <p:sp>
        <p:nvSpPr>
          <p:cNvPr id="469" name="Google Shape;469;g2f5fdc1cbb4_1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0" name="Google Shape;470;g2f5fdc1cbb4_1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1" name="Google Shape;471;g2f5fdc1cbb4_1_119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40</a:t>
            </a:fld>
            <a:endParaRPr sz="140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2f5fdc1cbb4_1_12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 sz="1400"/>
          </a:p>
        </p:txBody>
      </p:sp>
      <p:sp>
        <p:nvSpPr>
          <p:cNvPr id="478" name="Google Shape;478;g2f5fdc1cbb4_1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479" name="Google Shape;479;g2f5fdc1cbb4_1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80" name="Google Shape;480;g2f5fdc1cbb4_1_128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41</a:t>
            </a:fld>
            <a:endParaRPr sz="140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f5fdc1cbb4_1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3" name="Google Shape;493;g2f5fdc1cbb4_1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f5fdc1cbb4_1_1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0" name="Google Shape;500;g2f5fdc1cbb4_1_1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f5fdc1cbb4_1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07" name="Google Shape;507;g2f5fdc1cbb4_1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g2f5fdc1cbb4_1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4" name="Google Shape;514;g2f5fdc1cbb4_1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2f5fdc1cbb4_1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1" name="Google Shape;521;g2f5fdc1cbb4_1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2f5fdc1cbb4_1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8" name="Google Shape;528;g2f5fdc1cbb4_1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2f5fdc1cbb4_1_1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5" name="Google Shape;535;g2f5fdc1cbb4_1_1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2f5fdc1cbb4_1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2" name="Google Shape;542;g2f5fdc1cbb4_1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2f5fdc1cbb4_1_195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 sz="1400"/>
          </a:p>
        </p:txBody>
      </p:sp>
      <p:sp>
        <p:nvSpPr>
          <p:cNvPr id="550" name="Google Shape;550;g2f5fdc1cbb4_1_1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51" name="Google Shape;551;g2f5fdc1cbb4_1_1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2" name="Google Shape;552;g2f5fdc1cbb4_1_195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50</a:t>
            </a:fld>
            <a:endParaRPr sz="140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2e12b04c68a_0_979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51</a:t>
            </a:fld>
            <a:endParaRPr sz="1400"/>
          </a:p>
        </p:txBody>
      </p:sp>
      <p:sp>
        <p:nvSpPr>
          <p:cNvPr id="558" name="Google Shape;558;g2e12b04c68a_0_9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559" name="Google Shape;559;g2e12b04c68a_0_9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0" name="Google Shape;560;g2e12b04c68a_0_979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51</a:t>
            </a:fld>
            <a:endParaRPr sz="140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g2f5fdc1cbb4_0_178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52</a:t>
            </a:fld>
            <a:endParaRPr sz="1400"/>
          </a:p>
        </p:txBody>
      </p:sp>
      <p:sp>
        <p:nvSpPr>
          <p:cNvPr id="614" name="Google Shape;614;g2f5fdc1cbb4_0_1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15" name="Google Shape;615;g2f5fdc1cbb4_0_1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16" name="Google Shape;616;g2f5fdc1cbb4_0_178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52</a:t>
            </a:fld>
            <a:endParaRPr sz="140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g2f5fdc1cbb4_0_233:notes"/>
          <p:cNvSpPr txBox="1">
            <a:spLocks noGrp="1"/>
          </p:cNvSpPr>
          <p:nvPr>
            <p:ph type="sldNum" idx="12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53</a:t>
            </a:fld>
            <a:endParaRPr sz="1400"/>
          </a:p>
        </p:txBody>
      </p:sp>
      <p:sp>
        <p:nvSpPr>
          <p:cNvPr id="670" name="Google Shape;670;g2f5fdc1cbb4_0_2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71" name="Google Shape;671;g2f5fdc1cbb4_0_2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72" name="Google Shape;672;g2f5fdc1cbb4_0_233:notes"/>
          <p:cNvSpPr txBox="1">
            <a:spLocks noGrp="1"/>
          </p:cNvSpPr>
          <p:nvPr>
            <p:ph type="sldNum" idx="3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53</a:t>
            </a:fld>
            <a:endParaRPr sz="140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9"/>
          <p:cNvSpPr txBox="1">
            <a:spLocks noGrp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9"/>
          <p:cNvSpPr txBox="1">
            <a:spLocks noGrp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lvl="1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lvl="2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lvl="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lvl="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lvl="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lvl="7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lvl="8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>
            <a:endParaRPr/>
          </a:p>
        </p:txBody>
      </p:sp>
      <p:sp>
        <p:nvSpPr>
          <p:cNvPr id="21" name="Google Shape;21;p49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9"/>
          <p:cNvSpPr txBox="1">
            <a:spLocks noGrp="1"/>
          </p:cNvSpPr>
          <p:nvPr>
            <p:ph type="ftr" idx="11"/>
          </p:nvPr>
        </p:nvSpPr>
        <p:spPr>
          <a:xfrm>
            <a:off x="3124200" y="6243637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latin typeface="Garamond"/>
                <a:ea typeface="Garamond"/>
                <a:cs typeface="Garamond"/>
                <a:sym typeface="Garamon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9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49"/>
          <p:cNvSpPr/>
          <p:nvPr/>
        </p:nvSpPr>
        <p:spPr>
          <a:xfrm>
            <a:off x="609600" y="1219200"/>
            <a:ext cx="7924800" cy="914400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" name="Google Shape;25;p49"/>
          <p:cNvCxnSpPr/>
          <p:nvPr/>
        </p:nvCxnSpPr>
        <p:spPr>
          <a:xfrm>
            <a:off x="1981200" y="3962400"/>
            <a:ext cx="6511925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_AND_BOD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0289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marL="914400" lvl="1" indent="-29718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marL="1371600" lvl="2" indent="-302894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marL="1828800" lvl="3" indent="-30861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marL="2286000" lvl="4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marL="2743200" lvl="5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6pPr>
            <a:lvl7pPr marL="3200400" lvl="6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7pPr>
            <a:lvl8pPr marL="3657600" lvl="7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8pPr>
            <a:lvl9pPr marL="4114800" lvl="8" indent="-314325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9pPr>
          </a:lstStyle>
          <a:p>
            <a:endParaRPr/>
          </a:p>
        </p:txBody>
      </p:sp>
      <p:sp>
        <p:nvSpPr>
          <p:cNvPr id="29" name="Google Shape;29;p50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0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0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48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200" b="0" i="0" u="none" strike="noStrike" cap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endParaRPr/>
          </a:p>
        </p:txBody>
      </p:sp>
      <p:sp>
        <p:nvSpPr>
          <p:cNvPr id="12" name="Google Shape;12;p4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242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sz="3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7660" algn="l" rtl="0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405" algn="l" rtl="0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238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8"/>
          <p:cNvSpPr txBox="1">
            <a:spLocks noGrp="1"/>
          </p:cNvSpPr>
          <p:nvPr>
            <p:ph type="dt" idx="10"/>
          </p:nvPr>
        </p:nvSpPr>
        <p:spPr>
          <a:xfrm>
            <a:off x="457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8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48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  <a:defRPr sz="1200" b="0" i="0" u="none" strike="noStrike" cap="none">
                <a:solidFill>
                  <a:schemeClr val="dk1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3-</a:t>
            </a: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8"/>
          <p:cNvSpPr/>
          <p:nvPr/>
        </p:nvSpPr>
        <p:spPr>
          <a:xfrm>
            <a:off x="381000" y="228600"/>
            <a:ext cx="8229600" cy="609600"/>
          </a:xfrm>
          <a:custGeom>
            <a:avLst/>
            <a:gdLst/>
            <a:ahLst/>
            <a:cxnLst/>
            <a:rect l="l" t="t" r="r" b="b"/>
            <a:pathLst>
              <a:path w="1000" h="1000" extrusionOk="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" name="Google Shape;17;p48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g2dd93aa8466_0_0"/>
          <p:cNvSpPr/>
          <p:nvPr/>
        </p:nvSpPr>
        <p:spPr>
          <a:xfrm>
            <a:off x="0" y="-1"/>
            <a:ext cx="9143700" cy="685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g2dd93aa8466_0_0"/>
          <p:cNvSpPr/>
          <p:nvPr/>
        </p:nvSpPr>
        <p:spPr>
          <a:xfrm>
            <a:off x="228" y="0"/>
            <a:ext cx="91437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g2dd93aa8466_0_0" descr="A blue circle with white flame in the middle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5352" y="2371869"/>
            <a:ext cx="3106320" cy="3031658"/>
          </a:xfrm>
          <a:custGeom>
            <a:avLst/>
            <a:gdLst/>
            <a:ahLst/>
            <a:cxnLst/>
            <a:rect l="l" t="t" r="r" b="b"/>
            <a:pathLst>
              <a:path w="4141760" h="4377846" extrusionOk="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39" name="Google Shape;39;g2dd93aa8466_0_0"/>
          <p:cNvGrpSpPr/>
          <p:nvPr/>
        </p:nvGrpSpPr>
        <p:grpSpPr>
          <a:xfrm>
            <a:off x="-7315" y="-5977"/>
            <a:ext cx="4683132" cy="6863979"/>
            <a:chOff x="-5196" y="-5977"/>
            <a:chExt cx="6244176" cy="6863979"/>
          </a:xfrm>
        </p:grpSpPr>
        <p:sp>
          <p:nvSpPr>
            <p:cNvPr id="40" name="Google Shape;40;g2dd93aa8466_0_0"/>
            <p:cNvSpPr/>
            <p:nvPr/>
          </p:nvSpPr>
          <p:spPr>
            <a:xfrm flipH="1">
              <a:off x="305" y="34854"/>
              <a:ext cx="6028697" cy="6817170"/>
            </a:xfrm>
            <a:custGeom>
              <a:avLst/>
              <a:gdLst/>
              <a:ahLst/>
              <a:cxnLst/>
              <a:rect l="l" t="t" r="r" b="b"/>
              <a:pathLst>
                <a:path w="6028697" h="6817170" extrusionOk="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843"/>
                  </a:srgbClr>
                </a:gs>
                <a:gs pos="2000">
                  <a:srgbClr val="FFFFFF">
                    <a:alpha val="7843"/>
                  </a:srgbClr>
                </a:gs>
                <a:gs pos="16000">
                  <a:srgbClr val="35742A">
                    <a:alpha val="7843"/>
                  </a:srgbClr>
                </a:gs>
                <a:gs pos="85000">
                  <a:srgbClr val="CC9900">
                    <a:alpha val="7843"/>
                  </a:srgbClr>
                </a:gs>
                <a:gs pos="100000">
                  <a:srgbClr val="FFFFFF">
                    <a:alpha val="784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g2dd93aa8466_0_0"/>
            <p:cNvSpPr/>
            <p:nvPr/>
          </p:nvSpPr>
          <p:spPr>
            <a:xfrm flipH="1">
              <a:off x="-5196" y="1"/>
              <a:ext cx="6170617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843"/>
                  </a:srgbClr>
                </a:gs>
                <a:gs pos="2000">
                  <a:srgbClr val="FFFFFF">
                    <a:alpha val="7843"/>
                  </a:srgbClr>
                </a:gs>
                <a:gs pos="16000">
                  <a:srgbClr val="35742A">
                    <a:alpha val="7843"/>
                  </a:srgbClr>
                </a:gs>
                <a:gs pos="85000">
                  <a:srgbClr val="CC9900">
                    <a:alpha val="7843"/>
                  </a:srgbClr>
                </a:gs>
                <a:gs pos="100000">
                  <a:srgbClr val="FFFFFF">
                    <a:alpha val="784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g2dd93aa8466_0_0"/>
            <p:cNvSpPr/>
            <p:nvPr/>
          </p:nvSpPr>
          <p:spPr>
            <a:xfrm flipH="1">
              <a:off x="5717" y="-5977"/>
              <a:ext cx="6233263" cy="6858001"/>
            </a:xfrm>
            <a:custGeom>
              <a:avLst/>
              <a:gdLst/>
              <a:ahLst/>
              <a:cxnLst/>
              <a:rect l="l" t="t" r="r" b="b"/>
              <a:pathLst>
                <a:path w="6264586" h="6858001" extrusionOk="0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7843"/>
                  </a:srgbClr>
                </a:gs>
                <a:gs pos="2000">
                  <a:srgbClr val="FFFFFF">
                    <a:alpha val="7843"/>
                  </a:srgbClr>
                </a:gs>
                <a:gs pos="16000">
                  <a:srgbClr val="35742A">
                    <a:alpha val="7843"/>
                  </a:srgbClr>
                </a:gs>
                <a:gs pos="85000">
                  <a:srgbClr val="CC9900">
                    <a:alpha val="7843"/>
                  </a:srgbClr>
                </a:gs>
                <a:gs pos="100000">
                  <a:srgbClr val="FFFFFF">
                    <a:alpha val="7843"/>
                  </a:srgbClr>
                </a:gs>
              </a:gsLst>
              <a:lin ang="12000143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4" name="Google Shape;44;g2dd93aa8466_0_0"/>
          <p:cNvSpPr txBox="1"/>
          <p:nvPr/>
        </p:nvSpPr>
        <p:spPr>
          <a:xfrm>
            <a:off x="4675825" y="4267825"/>
            <a:ext cx="3871800" cy="8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en-US" sz="3200" b="1" i="0" u="none" strike="noStrike" cap="none">
                <a:solidFill>
                  <a:srgbClr val="006633"/>
                </a:solidFill>
                <a:latin typeface="Arial"/>
                <a:ea typeface="Arial"/>
                <a:cs typeface="Arial"/>
                <a:sym typeface="Arial"/>
              </a:rPr>
              <a:t>Markov Decision Processes</a:t>
            </a:r>
            <a:endParaRPr sz="3200" b="1" i="0" u="none" strike="noStrike" cap="none">
              <a:solidFill>
                <a:srgbClr val="00663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105;p1">
            <a:extLst>
              <a:ext uri="{FF2B5EF4-FFF2-40B4-BE49-F238E27FC236}">
                <a16:creationId xmlns:a16="http://schemas.microsoft.com/office/drawing/2014/main" id="{A6F217FA-9BB4-43FD-09DD-CFF3F43D3176}"/>
              </a:ext>
            </a:extLst>
          </p:cNvPr>
          <p:cNvSpPr txBox="1">
            <a:spLocks/>
          </p:cNvSpPr>
          <p:nvPr/>
        </p:nvSpPr>
        <p:spPr>
          <a:xfrm>
            <a:off x="3360930" y="249228"/>
            <a:ext cx="5782200" cy="3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2425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1"/>
              </a:buClr>
              <a:buSzPts val="182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766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080"/>
              <a:buFont typeface="Noto Sans Symbols"/>
              <a:buChar char="❑"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940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170"/>
              <a:buFont typeface="Noto Sans Symbols"/>
              <a:buChar char="■"/>
              <a:defRPr sz="2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260"/>
              <a:buFont typeface="Noto Sans Symbols"/>
              <a:buChar char="❑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350"/>
              <a:buFont typeface="Noto Sans Symbols"/>
              <a:buChar char="▪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600"/>
              <a:buFont typeface="Noto Sans Symbols"/>
              <a:buNone/>
              <a:tabLst/>
              <a:defRPr/>
            </a:pPr>
            <a:r>
              <a:rPr kumimoji="0" lang="es-MX" sz="30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TC2008B Modelación de Sistemas </a:t>
            </a:r>
            <a:r>
              <a:rPr kumimoji="0" lang="es-MX" sz="3000" b="1" i="0" u="none" strike="noStrike" kern="0" cap="none" spc="0" normalizeH="0" baseline="0" noProof="0" dirty="0" err="1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Multiagentes</a:t>
            </a:r>
            <a:r>
              <a:rPr kumimoji="0" lang="es-MX" sz="30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 con Gráficos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600"/>
              <a:buFont typeface="Noto Sans Symbols"/>
              <a:buNone/>
              <a:tabLst/>
              <a:defRPr/>
            </a:pPr>
            <a:endParaRPr kumimoji="0" lang="es-MX" sz="3383" b="1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C9900"/>
              </a:buClr>
              <a:buSzPts val="2600"/>
              <a:buFont typeface="Noto Sans Symbols"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Alan Flores Saldivar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  <a:tabLst/>
              <a:defRPr/>
            </a:pPr>
            <a:r>
              <a:rPr kumimoji="0" lang="es-MX" sz="2000" b="0" i="0" u="none" strike="noStrike" kern="0" cap="none" spc="0" normalizeH="0" baseline="0" noProof="0" dirty="0">
                <a:ln>
                  <a:noFill/>
                </a:ln>
                <a:solidFill>
                  <a:srgbClr val="006633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Escuela de Ingeniería y Ciencias
Departamento de Ciencias de la Computación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  <a:tabLst/>
              <a:defRPr/>
            </a:pPr>
            <a:r>
              <a:rPr kumimoji="0" lang="es-MX" sz="2000" b="1" i="0" u="none" strike="noStrike" kern="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alan.flores_s@tec.mx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Noto Sans Symbols"/>
              <a:buNone/>
              <a:tabLst/>
              <a:defRPr/>
            </a:pPr>
            <a:endParaRPr kumimoji="0" lang="es-MX" sz="900" b="0" i="0" u="none" strike="noStrike" kern="0" cap="none" spc="0" normalizeH="0" baseline="0" noProof="0" dirty="0">
              <a:ln>
                <a:noFill/>
              </a:ln>
              <a:solidFill>
                <a:srgbClr val="006633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2e12b04c68a_0_14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50" name="Google Shape;50;g2e12b04c68a_0_14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/>
              <a:t>Reaching Agreements</a:t>
            </a:r>
            <a:endParaRPr/>
          </a:p>
        </p:txBody>
      </p:sp>
      <p:sp>
        <p:nvSpPr>
          <p:cNvPr id="51" name="Google Shape;51;g2e12b04c68a_0_14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9845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Noto Sans Symbols"/>
              <a:buChar char="■"/>
            </a:pPr>
            <a:r>
              <a:rPr lang="en-US" sz="2300"/>
              <a:t>Bibliography for this section:</a:t>
            </a:r>
            <a:br>
              <a:rPr lang="en-US" sz="2300"/>
            </a:br>
            <a:endParaRPr sz="2300"/>
          </a:p>
          <a:p>
            <a:pPr marL="669925" marR="0" lvl="1" indent="-33623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50"/>
              <a:buFont typeface="Noto Sans Symbols"/>
              <a:buChar char="❑"/>
            </a:pPr>
            <a:r>
              <a:rPr lang="en-US" sz="2300"/>
              <a:t>Chapter 17, 22 of </a:t>
            </a:r>
            <a:r>
              <a:rPr lang="en-US" sz="2300" b="1"/>
              <a:t>Artificial Intelligence: A Modern Approach </a:t>
            </a:r>
            <a:r>
              <a:rPr lang="en-US" sz="2300"/>
              <a:t>(Russel and Norvig)</a:t>
            </a:r>
            <a:endParaRPr sz="23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e12b04c68a_0_42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Maximum Expected Profit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9" name="Google Shape;59;g2e12b04c68a_0_42"/>
          <p:cNvSpPr txBox="1">
            <a:spLocks noGrp="1"/>
          </p:cNvSpPr>
          <p:nvPr>
            <p:ph type="body" idx="1"/>
          </p:nvPr>
        </p:nvSpPr>
        <p:spPr>
          <a:xfrm>
            <a:off x="457200" y="1026000"/>
            <a:ext cx="8229600" cy="51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200" b="1" i="1"/>
              <a:t>An agent should maximize his expected utility.</a:t>
            </a:r>
            <a:endParaRPr sz="2200" b="1" i="1"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An agent's </a:t>
            </a:r>
            <a:r>
              <a:rPr lang="en-US" sz="2200" i="1"/>
              <a:t>belief </a:t>
            </a:r>
            <a:r>
              <a:rPr lang="en-US" sz="2200"/>
              <a:t>(percept) and </a:t>
            </a:r>
            <a:r>
              <a:rPr lang="en-US" sz="2200" i="1"/>
              <a:t>desire </a:t>
            </a:r>
            <a:r>
              <a:rPr lang="en-US" sz="2200"/>
              <a:t>(objective) can be considered for decision making.</a:t>
            </a:r>
            <a:endParaRPr sz="2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e12b04c68a_0_102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</p:txBody>
      </p:sp>
      <p:sp>
        <p:nvSpPr>
          <p:cNvPr id="67" name="Google Shape;67;g2e12b04c68a_0_102"/>
          <p:cNvSpPr txBox="1">
            <a:spLocks noGrp="1"/>
          </p:cNvSpPr>
          <p:nvPr>
            <p:ph type="body" idx="1"/>
          </p:nvPr>
        </p:nvSpPr>
        <p:spPr>
          <a:xfrm>
            <a:off x="457200" y="1026000"/>
            <a:ext cx="8229600" cy="51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200" b="1" i="1"/>
              <a:t>An agent should maximize his expected utility.</a:t>
            </a:r>
            <a:endParaRPr sz="2200" b="1" i="1"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■"/>
            </a:pPr>
            <a:r>
              <a:rPr lang="en-US" sz="2200"/>
              <a:t>An agent's </a:t>
            </a:r>
            <a:r>
              <a:rPr lang="en-US" sz="2200" i="1"/>
              <a:t>belief </a:t>
            </a:r>
            <a:r>
              <a:rPr lang="en-US" sz="2200"/>
              <a:t>(percept) and </a:t>
            </a:r>
            <a:r>
              <a:rPr lang="en-US" sz="2200" i="1"/>
              <a:t>desire </a:t>
            </a:r>
            <a:r>
              <a:rPr lang="en-US" sz="2200"/>
              <a:t>(objective) can be considered for decision making.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200"/>
              <a:t>Consider the game of roulette (38 squares):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A player bets $1.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If the player hits, he wins $35</a:t>
            </a:r>
            <a:endParaRPr sz="220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/>
              <a:t>Otherwise, the player loses the</a:t>
            </a:r>
            <a:br>
              <a:rPr lang="en-US" sz="2200"/>
            </a:br>
            <a:r>
              <a:rPr lang="en-US" sz="2200"/>
              <a:t>bet</a:t>
            </a:r>
            <a:endParaRPr sz="2200"/>
          </a:p>
        </p:txBody>
      </p:sp>
      <p:pic>
        <p:nvPicPr>
          <p:cNvPr id="68" name="Google Shape;68;g2e12b04c68a_0_10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5555" y="3125150"/>
            <a:ext cx="3073345" cy="30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2e12b04c68a_0_167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</p:txBody>
      </p:sp>
      <p:sp>
        <p:nvSpPr>
          <p:cNvPr id="76" name="Google Shape;76;g2e12b04c68a_0_167"/>
          <p:cNvSpPr txBox="1">
            <a:spLocks noGrp="1"/>
          </p:cNvSpPr>
          <p:nvPr>
            <p:ph type="body" idx="1"/>
          </p:nvPr>
        </p:nvSpPr>
        <p:spPr>
          <a:xfrm>
            <a:off x="457200" y="1026000"/>
            <a:ext cx="8229600" cy="51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Consider the game of roulette (38 squares):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 player bets $1.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If the player hits, he wins $35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Otherwise, the player loses the bet.</a:t>
            </a:r>
            <a:br>
              <a:rPr lang="en-US" sz="2000"/>
            </a:br>
            <a:r>
              <a:rPr lang="en-US" sz="2000"/>
              <a:t>bet.</a:t>
            </a:r>
            <a:endParaRPr sz="2000"/>
          </a:p>
        </p:txBody>
      </p:sp>
      <p:pic>
        <p:nvPicPr>
          <p:cNvPr id="77" name="Google Shape;77;g2e12b04c68a_0_16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55555" y="3125150"/>
            <a:ext cx="3073345" cy="30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e12b04c68a_0_223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</p:txBody>
      </p:sp>
      <p:sp>
        <p:nvSpPr>
          <p:cNvPr id="85" name="Google Shape;85;g2e12b04c68a_0_223"/>
          <p:cNvSpPr txBox="1">
            <a:spLocks noGrp="1"/>
          </p:cNvSpPr>
          <p:nvPr>
            <p:ph type="body" idx="1"/>
          </p:nvPr>
        </p:nvSpPr>
        <p:spPr>
          <a:xfrm>
            <a:off x="457200" y="1026000"/>
            <a:ext cx="8229600" cy="51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Consider the game of roulette (38 squares):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 player bets $1.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If the player hits, he wins $35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Otherwise, the player loses the bet.</a:t>
            </a:r>
            <a:br>
              <a:rPr lang="en-US" sz="2000"/>
            </a:br>
            <a:r>
              <a:rPr lang="en-US" sz="2000"/>
              <a:t>bet.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457200" lvl="0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</a:pPr>
            <a:r>
              <a:rPr lang="en-US" sz="2000" i="1"/>
              <a:t>P(success) = 1/38, U(success) = 35</a:t>
            </a: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</p:txBody>
      </p:sp>
      <p:pic>
        <p:nvPicPr>
          <p:cNvPr id="86" name="Google Shape;86;g2e12b04c68a_0_2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84155" y="3125150"/>
            <a:ext cx="3073345" cy="30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2e12b04c68a_0_183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</p:txBody>
      </p:sp>
      <p:sp>
        <p:nvSpPr>
          <p:cNvPr id="94" name="Google Shape;94;g2e12b04c68a_0_183"/>
          <p:cNvSpPr txBox="1">
            <a:spLocks noGrp="1"/>
          </p:cNvSpPr>
          <p:nvPr>
            <p:ph type="body" idx="1"/>
          </p:nvPr>
        </p:nvSpPr>
        <p:spPr>
          <a:xfrm>
            <a:off x="457200" y="1026000"/>
            <a:ext cx="8229600" cy="51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Consider the game of roulette (38 squares):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 player bets $1.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If the player hits, he wins $35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Otherwise, the player loses the bet.</a:t>
            </a:r>
            <a:br>
              <a:rPr lang="en-US" sz="2000"/>
            </a:br>
            <a:r>
              <a:rPr lang="en-US" sz="2000"/>
              <a:t>bet.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457200" lvl="0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Char char="■"/>
            </a:pPr>
            <a:r>
              <a:rPr lang="en-US" sz="2000" i="1"/>
              <a:t>P(success) = </a:t>
            </a:r>
            <a:r>
              <a:rPr lang="en-US" sz="2600" i="1"/>
              <a:t>1/38</a:t>
            </a:r>
            <a:r>
              <a:rPr lang="en-US" sz="2000" i="1"/>
              <a:t>, U(success) = 35</a:t>
            </a:r>
            <a:endParaRPr sz="2000" i="1"/>
          </a:p>
          <a:p>
            <a:pPr marL="457200" lvl="0" indent="-3028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0"/>
              <a:buChar char="■"/>
            </a:pPr>
            <a:r>
              <a:rPr lang="en-US" sz="2000" i="1"/>
              <a:t>P(failure) = </a:t>
            </a:r>
            <a:r>
              <a:rPr lang="en-US" sz="2600" i="1"/>
              <a:t>37/38</a:t>
            </a:r>
            <a:r>
              <a:rPr lang="en-US" sz="2000" i="1"/>
              <a:t>, U(failure)= -1</a:t>
            </a: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</p:txBody>
      </p:sp>
      <p:pic>
        <p:nvPicPr>
          <p:cNvPr id="95" name="Google Shape;95;g2e12b04c68a_0_18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84155" y="3125150"/>
            <a:ext cx="3073345" cy="30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e12b04c68a_0_198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</p:txBody>
      </p:sp>
      <p:sp>
        <p:nvSpPr>
          <p:cNvPr id="103" name="Google Shape;103;g2e12b04c68a_0_198"/>
          <p:cNvSpPr txBox="1">
            <a:spLocks noGrp="1"/>
          </p:cNvSpPr>
          <p:nvPr>
            <p:ph type="body" idx="1"/>
          </p:nvPr>
        </p:nvSpPr>
        <p:spPr>
          <a:xfrm>
            <a:off x="457200" y="1026000"/>
            <a:ext cx="8229600" cy="51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Consider the american roulette game (38 squares):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 player bets $1.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If the player hits, he wins $35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Otherwise, the player loses the bet.</a:t>
            </a:r>
            <a:br>
              <a:rPr lang="en-US" sz="2000"/>
            </a:br>
            <a:r>
              <a:rPr lang="en-US" sz="2000"/>
              <a:t>bet.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457200" lvl="0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633"/>
              </a:buClr>
              <a:buSzPts val="1170"/>
              <a:buChar char="■"/>
            </a:pPr>
            <a:r>
              <a:rPr lang="en-US" sz="2000" b="1" i="1">
                <a:solidFill>
                  <a:srgbClr val="006633"/>
                </a:solidFill>
              </a:rPr>
              <a:t>P(success) = </a:t>
            </a:r>
            <a:r>
              <a:rPr lang="en-US" sz="2600" b="1" i="1">
                <a:solidFill>
                  <a:srgbClr val="006633"/>
                </a:solidFill>
              </a:rPr>
              <a:t>1/38</a:t>
            </a:r>
            <a:r>
              <a:rPr lang="en-US" sz="2000" b="1" i="1">
                <a:solidFill>
                  <a:srgbClr val="006633"/>
                </a:solidFill>
              </a:rPr>
              <a:t>, U(success) = 35</a:t>
            </a:r>
            <a:endParaRPr sz="2000" b="1" i="1">
              <a:solidFill>
                <a:srgbClr val="006633"/>
              </a:solidFill>
            </a:endParaRPr>
          </a:p>
          <a:p>
            <a:pPr marL="457200" lvl="0" indent="-3028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170"/>
              <a:buChar char="■"/>
            </a:pPr>
            <a:r>
              <a:rPr lang="en-US" sz="2000" b="1" i="1">
                <a:solidFill>
                  <a:srgbClr val="980000"/>
                </a:solidFill>
              </a:rPr>
              <a:t>P(failure) = </a:t>
            </a:r>
            <a:r>
              <a:rPr lang="en-US" sz="2600" b="1" i="1">
                <a:solidFill>
                  <a:srgbClr val="980000"/>
                </a:solidFill>
              </a:rPr>
              <a:t>37/38</a:t>
            </a:r>
            <a:r>
              <a:rPr lang="en-US" sz="2000" b="1" i="1">
                <a:solidFill>
                  <a:srgbClr val="980000"/>
                </a:solidFill>
              </a:rPr>
              <a:t>, U(failure)= -1</a:t>
            </a:r>
            <a:endParaRPr sz="2000" b="1" i="1">
              <a:solidFill>
                <a:srgbClr val="98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Expected profit: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 i="1"/>
              <a:t>E(U) = </a:t>
            </a:r>
            <a:r>
              <a:rPr lang="en-US" sz="2000" b="1" i="1">
                <a:solidFill>
                  <a:schemeClr val="dk2"/>
                </a:solidFill>
              </a:rPr>
              <a:t>P(success) </a:t>
            </a:r>
            <a:r>
              <a:rPr lang="en-US" sz="2000" b="1" i="1"/>
              <a:t>* </a:t>
            </a:r>
            <a:r>
              <a:rPr lang="en-US" sz="2000" b="1" i="1">
                <a:solidFill>
                  <a:schemeClr val="dk2"/>
                </a:solidFill>
              </a:rPr>
              <a:t>U(success) </a:t>
            </a:r>
            <a:r>
              <a:rPr lang="en-US" sz="2000" b="1" i="1"/>
              <a:t>+ </a:t>
            </a:r>
            <a:endParaRPr sz="2000" b="1" i="1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 b="1" i="1">
                <a:solidFill>
                  <a:srgbClr val="980000"/>
                </a:solidFill>
              </a:rPr>
              <a:t>     P(failure) </a:t>
            </a:r>
            <a:r>
              <a:rPr lang="en-US" sz="2000" b="1" i="1"/>
              <a:t>* </a:t>
            </a:r>
            <a:r>
              <a:rPr lang="en-US" sz="2000" b="1" i="1">
                <a:solidFill>
                  <a:srgbClr val="980000"/>
                </a:solidFill>
              </a:rPr>
              <a:t>U(failure)</a:t>
            </a:r>
            <a:endParaRPr sz="2000" b="1" i="1">
              <a:solidFill>
                <a:schemeClr val="dk2"/>
              </a:solidFill>
            </a:endParaRPr>
          </a:p>
        </p:txBody>
      </p:sp>
      <p:pic>
        <p:nvPicPr>
          <p:cNvPr id="104" name="Google Shape;104;g2e12b04c68a_0_19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84155" y="3125150"/>
            <a:ext cx="3073345" cy="30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e12b04c68a_0_206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</p:txBody>
      </p:sp>
      <p:sp>
        <p:nvSpPr>
          <p:cNvPr id="112" name="Google Shape;112;g2e12b04c68a_0_206"/>
          <p:cNvSpPr txBox="1">
            <a:spLocks noGrp="1"/>
          </p:cNvSpPr>
          <p:nvPr>
            <p:ph type="body" idx="1"/>
          </p:nvPr>
        </p:nvSpPr>
        <p:spPr>
          <a:xfrm>
            <a:off x="457200" y="1026000"/>
            <a:ext cx="8229600" cy="51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Consider the american roulette game (38 squares):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A player bets $1.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If the player hits, he wins $35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US" sz="2000"/>
              <a:t>Otherwise, the player loses the bet.</a:t>
            </a:r>
            <a:br>
              <a:rPr lang="en-US" sz="2000"/>
            </a:br>
            <a:r>
              <a:rPr lang="en-US" sz="2000"/>
              <a:t>bet.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457200" lvl="0" indent="-302895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6633"/>
              </a:buClr>
              <a:buSzPts val="1170"/>
              <a:buChar char="■"/>
            </a:pPr>
            <a:r>
              <a:rPr lang="en-US" sz="2000" b="1" i="1">
                <a:solidFill>
                  <a:srgbClr val="006633"/>
                </a:solidFill>
              </a:rPr>
              <a:t>P(success) = </a:t>
            </a:r>
            <a:r>
              <a:rPr lang="en-US" sz="2600" b="1" i="1">
                <a:solidFill>
                  <a:srgbClr val="006633"/>
                </a:solidFill>
              </a:rPr>
              <a:t>1/38</a:t>
            </a:r>
            <a:r>
              <a:rPr lang="en-US" sz="2000" b="1" i="1">
                <a:solidFill>
                  <a:srgbClr val="006633"/>
                </a:solidFill>
              </a:rPr>
              <a:t>, U(success) = 35</a:t>
            </a:r>
            <a:endParaRPr sz="2000" b="1" i="1">
              <a:solidFill>
                <a:srgbClr val="006633"/>
              </a:solidFill>
            </a:endParaRPr>
          </a:p>
          <a:p>
            <a:pPr marL="457200" lvl="0" indent="-30289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1170"/>
              <a:buChar char="■"/>
            </a:pPr>
            <a:r>
              <a:rPr lang="en-US" sz="2000" b="1" i="1">
                <a:solidFill>
                  <a:srgbClr val="980000"/>
                </a:solidFill>
              </a:rPr>
              <a:t>P(failure) = </a:t>
            </a:r>
            <a:r>
              <a:rPr lang="en-US" sz="2600" b="1" i="1">
                <a:solidFill>
                  <a:srgbClr val="980000"/>
                </a:solidFill>
              </a:rPr>
              <a:t>37/38</a:t>
            </a:r>
            <a:r>
              <a:rPr lang="en-US" sz="2000" b="1" i="1">
                <a:solidFill>
                  <a:srgbClr val="980000"/>
                </a:solidFill>
              </a:rPr>
              <a:t>, U(failure)= -1</a:t>
            </a:r>
            <a:endParaRPr sz="2000" b="1" i="1">
              <a:solidFill>
                <a:srgbClr val="98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Expected profit: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 i="1"/>
              <a:t>E(U) = </a:t>
            </a:r>
            <a:r>
              <a:rPr lang="en-US" sz="2000" b="1" i="1">
                <a:solidFill>
                  <a:schemeClr val="dk2"/>
                </a:solidFill>
              </a:rPr>
              <a:t>1/38 </a:t>
            </a:r>
            <a:r>
              <a:rPr lang="en-US" sz="2000" b="1" i="1"/>
              <a:t>* </a:t>
            </a:r>
            <a:r>
              <a:rPr lang="en-US" sz="2000" b="1" i="1">
                <a:solidFill>
                  <a:schemeClr val="dk2"/>
                </a:solidFill>
              </a:rPr>
              <a:t>35 </a:t>
            </a:r>
            <a:r>
              <a:rPr lang="en-US" sz="2000" b="1" i="1"/>
              <a:t>+ </a:t>
            </a:r>
            <a:r>
              <a:rPr lang="en-US" sz="2000" b="1" i="1">
                <a:solidFill>
                  <a:srgbClr val="980000"/>
                </a:solidFill>
              </a:rPr>
              <a:t>37 / 38 </a:t>
            </a:r>
            <a:r>
              <a:rPr lang="en-US" sz="2000" b="1" i="1"/>
              <a:t>* </a:t>
            </a:r>
            <a:r>
              <a:rPr lang="en-US" sz="2000" b="1" i="1">
                <a:solidFill>
                  <a:srgbClr val="980000"/>
                </a:solidFill>
              </a:rPr>
              <a:t>(-1) </a:t>
            </a:r>
            <a:r>
              <a:rPr lang="en-US" sz="2000" b="1" i="1"/>
              <a:t>= -1/19</a:t>
            </a:r>
            <a:endParaRPr sz="2000" b="1" i="1"/>
          </a:p>
        </p:txBody>
      </p:sp>
      <p:pic>
        <p:nvPicPr>
          <p:cNvPr id="113" name="Google Shape;113;g2e12b04c68a_0_20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84155" y="3125150"/>
            <a:ext cx="3073345" cy="300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e12b04c68a_0_214"/>
          <p:cNvSpPr txBox="1">
            <a:spLocks noGrp="1"/>
          </p:cNvSpPr>
          <p:nvPr>
            <p:ph type="title"/>
          </p:nvPr>
        </p:nvSpPr>
        <p:spPr>
          <a:xfrm>
            <a:off x="457200" y="277804"/>
            <a:ext cx="8229600" cy="7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</p:txBody>
      </p:sp>
      <p:sp>
        <p:nvSpPr>
          <p:cNvPr id="121" name="Google Shape;121;g2e12b04c68a_0_214"/>
          <p:cNvSpPr txBox="1">
            <a:spLocks noGrp="1"/>
          </p:cNvSpPr>
          <p:nvPr>
            <p:ph type="body" idx="1"/>
          </p:nvPr>
        </p:nvSpPr>
        <p:spPr>
          <a:xfrm>
            <a:off x="457200" y="1026000"/>
            <a:ext cx="8229600" cy="51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 b="1"/>
              <a:t>Expected value:</a:t>
            </a:r>
            <a:endParaRPr sz="2000" b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In general, the expected value of a random variable </a:t>
            </a:r>
            <a:r>
              <a:rPr lang="en-US" sz="2000" i="1"/>
              <a:t>X</a:t>
            </a:r>
            <a:r>
              <a:rPr lang="en-US" sz="2000"/>
              <a:t>, is defined as: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</p:txBody>
      </p:sp>
      <p:pic>
        <p:nvPicPr>
          <p:cNvPr id="122" name="Google Shape;122;g2e12b04c68a_0_214"/>
          <p:cNvPicPr preferRelativeResize="0"/>
          <p:nvPr/>
        </p:nvPicPr>
        <p:blipFill rotWithShape="1">
          <a:blip r:embed="rId3">
            <a:alphaModFix/>
          </a:blip>
          <a:srcRect t="27879" b="30462"/>
          <a:stretch/>
        </p:blipFill>
        <p:spPr>
          <a:xfrm>
            <a:off x="2581275" y="2312625"/>
            <a:ext cx="3981450" cy="124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e12b04c68a_0_418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g2e12b04c68a_0_418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8229600" cy="17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As a </a:t>
            </a:r>
            <a:r>
              <a:rPr lang="en-US" sz="2000" i="1"/>
              <a:t>self-interested </a:t>
            </a:r>
            <a:r>
              <a:rPr lang="en-US" sz="2000"/>
              <a:t>agent I am interested in acting for profit.</a:t>
            </a:r>
            <a:endParaRPr sz="2000"/>
          </a:p>
          <a:p>
            <a:pPr marL="45720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 i="1"/>
          </a:p>
        </p:txBody>
      </p:sp>
      <p:pic>
        <p:nvPicPr>
          <p:cNvPr id="131" name="Google Shape;131;g2e12b04c68a_0_418"/>
          <p:cNvPicPr preferRelativeResize="0"/>
          <p:nvPr/>
        </p:nvPicPr>
        <p:blipFill rotWithShape="1">
          <a:blip r:embed="rId3">
            <a:alphaModFix/>
          </a:blip>
          <a:srcRect l="24630" t="24545"/>
          <a:stretch/>
        </p:blipFill>
        <p:spPr>
          <a:xfrm>
            <a:off x="6801550" y="3097000"/>
            <a:ext cx="1885250" cy="183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2e12b04c68a_0_4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3084" y="3729762"/>
            <a:ext cx="586926" cy="57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g2e12b04c68a_0_418"/>
          <p:cNvSpPr/>
          <p:nvPr/>
        </p:nvSpPr>
        <p:spPr>
          <a:xfrm>
            <a:off x="7571741" y="3838047"/>
            <a:ext cx="345000" cy="354600"/>
          </a:xfrm>
          <a:prstGeom prst="ellipse">
            <a:avLst/>
          </a:prstGeom>
          <a:solidFill>
            <a:srgbClr val="CC3300"/>
          </a:solidFill>
          <a:ln w="9525" cap="flat" cmpd="sng">
            <a:solidFill>
              <a:srgbClr val="0066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f5fdc1cbb4_0_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g2f5fdc1cbb4_0_0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8229600" cy="17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As a </a:t>
            </a:r>
            <a:r>
              <a:rPr lang="en-US" sz="2000" i="1"/>
              <a:t>self-interested </a:t>
            </a:r>
            <a:r>
              <a:rPr lang="en-US" sz="2000"/>
              <a:t>agent I am interested in acting for profit.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There may be uncertainty as to the results of an action </a:t>
            </a:r>
            <a:r>
              <a:rPr lang="en-US" sz="2000" i="1"/>
              <a:t>a</a:t>
            </a:r>
            <a:r>
              <a:rPr lang="en-US" sz="2000"/>
              <a:t>: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sz="2000" i="1"/>
              <a:t>P</a:t>
            </a:r>
            <a:r>
              <a:rPr lang="en-US" sz="2000" b="1" i="1"/>
              <a:t>(</a:t>
            </a:r>
            <a:r>
              <a:rPr lang="en-US" sz="2000" i="1"/>
              <a:t>←) = .25</a:t>
            </a:r>
            <a:endParaRPr sz="2000" i="1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sz="2000" i="1"/>
              <a:t>P(</a:t>
            </a:r>
            <a:r>
              <a:rPr lang="en-US" sz="2000" b="1" i="1"/>
              <a:t>→</a:t>
            </a:r>
            <a:r>
              <a:rPr lang="en-US" sz="2000" i="1"/>
              <a:t>) = .25</a:t>
            </a:r>
            <a:endParaRPr sz="2000" i="1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sz="2000" i="1"/>
              <a:t>P</a:t>
            </a:r>
            <a:r>
              <a:rPr lang="en-US" sz="2000" b="1" i="1"/>
              <a:t>(</a:t>
            </a:r>
            <a:r>
              <a:rPr lang="en-US" sz="2000" i="1"/>
              <a:t>↑) = .25</a:t>
            </a:r>
            <a:endParaRPr sz="2000" i="1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sz="2000" i="1"/>
              <a:t>P</a:t>
            </a:r>
            <a:r>
              <a:rPr lang="en-US" sz="2000" b="1" i="1"/>
              <a:t>(</a:t>
            </a:r>
            <a:r>
              <a:rPr lang="en-US" sz="2000" i="1"/>
              <a:t>↓) = .25</a:t>
            </a:r>
            <a:endParaRPr sz="2000" i="1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The utility will depend on the position </a:t>
            </a:r>
            <a:r>
              <a:rPr lang="en-US" sz="2000" i="1"/>
              <a:t>(state)</a:t>
            </a:r>
            <a:r>
              <a:rPr lang="en-US" sz="2000"/>
              <a:t>: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sz="2000"/>
              <a:t>U((0,0), </a:t>
            </a:r>
            <a:r>
              <a:rPr lang="en-US" sz="2000" b="1" i="1"/>
              <a:t>→</a:t>
            </a:r>
            <a:r>
              <a:rPr lang="en-US" sz="2000"/>
              <a:t>) = 0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 i="1"/>
              <a:t>      </a:t>
            </a:r>
            <a:endParaRPr sz="2000" i="1"/>
          </a:p>
        </p:txBody>
      </p:sp>
      <p:pic>
        <p:nvPicPr>
          <p:cNvPr id="142" name="Google Shape;142;g2f5fdc1cbb4_0_0"/>
          <p:cNvPicPr preferRelativeResize="0"/>
          <p:nvPr/>
        </p:nvPicPr>
        <p:blipFill rotWithShape="1">
          <a:blip r:embed="rId3">
            <a:alphaModFix/>
          </a:blip>
          <a:srcRect l="24630" t="24545"/>
          <a:stretch/>
        </p:blipFill>
        <p:spPr>
          <a:xfrm>
            <a:off x="6801550" y="3097000"/>
            <a:ext cx="1885250" cy="183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2f5fdc1cbb4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3084" y="3729762"/>
            <a:ext cx="586926" cy="57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2f5fdc1cbb4_0_0"/>
          <p:cNvSpPr/>
          <p:nvPr/>
        </p:nvSpPr>
        <p:spPr>
          <a:xfrm>
            <a:off x="7571741" y="3838047"/>
            <a:ext cx="345000" cy="354600"/>
          </a:xfrm>
          <a:prstGeom prst="ellipse">
            <a:avLst/>
          </a:prstGeom>
          <a:solidFill>
            <a:srgbClr val="CC3300"/>
          </a:solidFill>
          <a:ln w="9525" cap="flat" cmpd="sng">
            <a:solidFill>
              <a:srgbClr val="0066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f5fdc1cbb4_0_13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g2f5fdc1cbb4_0_13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8229600" cy="17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As a </a:t>
            </a:r>
            <a:r>
              <a:rPr lang="en-US" sz="2000" i="1"/>
              <a:t>self-interested </a:t>
            </a:r>
            <a:r>
              <a:rPr lang="en-US" sz="2000"/>
              <a:t>agent I am interested in acting for profit.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There may be uncertainty as to the results of an action </a:t>
            </a:r>
            <a:r>
              <a:rPr lang="en-US" sz="2000" i="1"/>
              <a:t>a</a:t>
            </a:r>
            <a:r>
              <a:rPr lang="en-US" sz="2000"/>
              <a:t>: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sz="2000" i="1"/>
              <a:t>P</a:t>
            </a:r>
            <a:r>
              <a:rPr lang="en-US" sz="2000" b="1" i="1"/>
              <a:t>(</a:t>
            </a:r>
            <a:r>
              <a:rPr lang="en-US" sz="2000" i="1"/>
              <a:t>←) = .25</a:t>
            </a:r>
            <a:endParaRPr sz="2000" i="1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sz="2000" i="1"/>
              <a:t>P(</a:t>
            </a:r>
            <a:r>
              <a:rPr lang="en-US" sz="2000" b="1" i="1"/>
              <a:t>→</a:t>
            </a:r>
            <a:r>
              <a:rPr lang="en-US" sz="2000" i="1"/>
              <a:t>) = .25</a:t>
            </a:r>
            <a:endParaRPr sz="2000" i="1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sz="2000" i="1"/>
              <a:t>P</a:t>
            </a:r>
            <a:r>
              <a:rPr lang="en-US" sz="2000" b="1" i="1"/>
              <a:t>(</a:t>
            </a:r>
            <a:r>
              <a:rPr lang="en-US" sz="2000" i="1"/>
              <a:t>↑) = .25</a:t>
            </a:r>
            <a:endParaRPr sz="2000" i="1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sz="2000" i="1"/>
              <a:t>P</a:t>
            </a:r>
            <a:r>
              <a:rPr lang="en-US" sz="2000" b="1" i="1"/>
              <a:t>(</a:t>
            </a:r>
            <a:r>
              <a:rPr lang="en-US" sz="2000" i="1"/>
              <a:t>↓) = .25</a:t>
            </a:r>
            <a:endParaRPr sz="2000" i="1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The utility will depend on the position </a:t>
            </a:r>
            <a:r>
              <a:rPr lang="en-US" sz="2000" i="1"/>
              <a:t>(state)</a:t>
            </a:r>
            <a:r>
              <a:rPr lang="en-US" sz="2000"/>
              <a:t>: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sz="2000"/>
              <a:t>U((0,0), </a:t>
            </a:r>
            <a:r>
              <a:rPr lang="en-US" sz="2000" b="1" i="1"/>
              <a:t>→</a:t>
            </a:r>
            <a:r>
              <a:rPr lang="en-US" sz="2000"/>
              <a:t>) = 0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❑"/>
            </a:pPr>
            <a:r>
              <a:rPr lang="en-US" sz="2000"/>
              <a:t>U((1,1), </a:t>
            </a:r>
            <a:r>
              <a:rPr lang="en-US" sz="2000" b="1" i="1"/>
              <a:t>→</a:t>
            </a:r>
            <a:r>
              <a:rPr lang="en-US" sz="2000"/>
              <a:t>) = 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 i="1"/>
              <a:t>      </a:t>
            </a:r>
            <a:endParaRPr sz="2000" i="1"/>
          </a:p>
        </p:txBody>
      </p:sp>
      <p:pic>
        <p:nvPicPr>
          <p:cNvPr id="153" name="Google Shape;153;g2f5fdc1cbb4_0_13"/>
          <p:cNvPicPr preferRelativeResize="0"/>
          <p:nvPr/>
        </p:nvPicPr>
        <p:blipFill rotWithShape="1">
          <a:blip r:embed="rId3">
            <a:alphaModFix/>
          </a:blip>
          <a:srcRect l="24630" t="24545"/>
          <a:stretch/>
        </p:blipFill>
        <p:spPr>
          <a:xfrm>
            <a:off x="6801550" y="3097000"/>
            <a:ext cx="1885250" cy="183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g2f5fdc1cbb4_0_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3084" y="3729762"/>
            <a:ext cx="586926" cy="57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2f5fdc1cbb4_0_13"/>
          <p:cNvSpPr/>
          <p:nvPr/>
        </p:nvSpPr>
        <p:spPr>
          <a:xfrm>
            <a:off x="7571741" y="3838047"/>
            <a:ext cx="345000" cy="354600"/>
          </a:xfrm>
          <a:prstGeom prst="ellipse">
            <a:avLst/>
          </a:prstGeom>
          <a:solidFill>
            <a:srgbClr val="CC3300"/>
          </a:solidFill>
          <a:ln w="9525" cap="flat" cmpd="sng">
            <a:solidFill>
              <a:srgbClr val="0066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2f5fdc1cbb4_0_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64204" y="3660399"/>
            <a:ext cx="345000" cy="3357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e12b04c68a_0_431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g2e12b04c68a_0_431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5502000" cy="17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Considering this same situation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❑"/>
            </a:pPr>
            <a:r>
              <a:rPr lang="en-US" sz="2000" i="1"/>
              <a:t>P</a:t>
            </a:r>
            <a:r>
              <a:rPr lang="en-US" sz="2000" b="1" i="1"/>
              <a:t>(</a:t>
            </a:r>
            <a:r>
              <a:rPr lang="en-US" sz="2000" i="1"/>
              <a:t>←) = .25</a:t>
            </a:r>
            <a:endParaRPr sz="2000" i="1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❑"/>
            </a:pPr>
            <a:r>
              <a:rPr lang="en-US" sz="2000" i="1"/>
              <a:t>P(</a:t>
            </a:r>
            <a:r>
              <a:rPr lang="en-US" sz="2000" b="1" i="1"/>
              <a:t>→</a:t>
            </a:r>
            <a:r>
              <a:rPr lang="en-US" sz="2000" i="1"/>
              <a:t>) = .25</a:t>
            </a: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With the following effects: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One movement: -$1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Reach target: +$10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What would be the expected utility?</a:t>
            </a:r>
            <a:endParaRPr sz="2000"/>
          </a:p>
        </p:txBody>
      </p:sp>
      <p:pic>
        <p:nvPicPr>
          <p:cNvPr id="165" name="Google Shape;165;g2e12b04c68a_0_431"/>
          <p:cNvPicPr preferRelativeResize="0"/>
          <p:nvPr/>
        </p:nvPicPr>
        <p:blipFill rotWithShape="1">
          <a:blip r:embed="rId3">
            <a:alphaModFix/>
          </a:blip>
          <a:srcRect l="24630" t="24545"/>
          <a:stretch/>
        </p:blipFill>
        <p:spPr>
          <a:xfrm>
            <a:off x="6801550" y="3097000"/>
            <a:ext cx="1885250" cy="183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g2e12b04c68a_0_43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3084" y="3729762"/>
            <a:ext cx="586926" cy="57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g2e12b04c68a_0_431"/>
          <p:cNvSpPr/>
          <p:nvPr/>
        </p:nvSpPr>
        <p:spPr>
          <a:xfrm>
            <a:off x="7571741" y="3838047"/>
            <a:ext cx="345000" cy="354600"/>
          </a:xfrm>
          <a:prstGeom prst="ellipse">
            <a:avLst/>
          </a:prstGeom>
          <a:solidFill>
            <a:srgbClr val="CC3300"/>
          </a:solidFill>
          <a:ln w="9525" cap="flat" cmpd="sng">
            <a:solidFill>
              <a:srgbClr val="0066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g2e12b04c68a_0_431"/>
          <p:cNvSpPr txBox="1"/>
          <p:nvPr/>
        </p:nvSpPr>
        <p:spPr>
          <a:xfrm>
            <a:off x="4207800" y="1503475"/>
            <a:ext cx="3028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1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↑) = .25</a:t>
            </a:r>
            <a:endParaRPr sz="20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↓) = .25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12b04c68a_0_446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6" name="Google Shape;176;g2e12b04c68a_0_446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5502000" cy="17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Considering this same situation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❑"/>
            </a:pPr>
            <a:r>
              <a:rPr lang="en-US" sz="2000" i="1"/>
              <a:t>P</a:t>
            </a:r>
            <a:r>
              <a:rPr lang="en-US" sz="2000" b="1" i="1"/>
              <a:t>(</a:t>
            </a:r>
            <a:r>
              <a:rPr lang="en-US" sz="2000" i="1"/>
              <a:t>←) = .25</a:t>
            </a:r>
            <a:endParaRPr sz="2000" i="1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❑"/>
            </a:pPr>
            <a:r>
              <a:rPr lang="en-US" sz="2000" i="1"/>
              <a:t>P(</a:t>
            </a:r>
            <a:r>
              <a:rPr lang="en-US" sz="2000" b="1" i="1"/>
              <a:t>→</a:t>
            </a:r>
            <a:r>
              <a:rPr lang="en-US" sz="2000" i="1"/>
              <a:t>) = .25</a:t>
            </a: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With the following effects: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One movement: -$1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Reach target: +$10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What would be the expected utility </a:t>
            </a:r>
            <a:r>
              <a:rPr lang="en-US" sz="2000" i="1"/>
              <a:t>E(U)</a:t>
            </a:r>
            <a:r>
              <a:rPr lang="en-US" sz="2000"/>
              <a:t>?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 b="1" i="1">
                <a:solidFill>
                  <a:schemeClr val="lt1"/>
                </a:solidFill>
              </a:rPr>
              <a:t>E(U) </a:t>
            </a:r>
            <a:r>
              <a:rPr lang="en-US" sz="2000" i="1">
                <a:solidFill>
                  <a:schemeClr val="lt1"/>
                </a:solidFill>
              </a:rPr>
              <a:t>= .75 * (-1) + .25 * 10 = 1.75</a:t>
            </a:r>
            <a:endParaRPr sz="2000" i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</p:txBody>
      </p:sp>
      <p:pic>
        <p:nvPicPr>
          <p:cNvPr id="177" name="Google Shape;177;g2e12b04c68a_0_446"/>
          <p:cNvPicPr preferRelativeResize="0"/>
          <p:nvPr/>
        </p:nvPicPr>
        <p:blipFill rotWithShape="1">
          <a:blip r:embed="rId3">
            <a:alphaModFix/>
          </a:blip>
          <a:srcRect l="24630" t="24545"/>
          <a:stretch/>
        </p:blipFill>
        <p:spPr>
          <a:xfrm>
            <a:off x="6801550" y="3097000"/>
            <a:ext cx="1885250" cy="183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g2e12b04c68a_0_44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3084" y="3729762"/>
            <a:ext cx="586926" cy="57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g2e12b04c68a_0_446"/>
          <p:cNvSpPr/>
          <p:nvPr/>
        </p:nvSpPr>
        <p:spPr>
          <a:xfrm>
            <a:off x="7571741" y="3838047"/>
            <a:ext cx="345000" cy="354600"/>
          </a:xfrm>
          <a:prstGeom prst="ellipse">
            <a:avLst/>
          </a:prstGeom>
          <a:solidFill>
            <a:srgbClr val="CC3300"/>
          </a:solidFill>
          <a:ln w="9525" cap="flat" cmpd="sng">
            <a:solidFill>
              <a:srgbClr val="0066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2e12b04c68a_0_446"/>
          <p:cNvSpPr txBox="1"/>
          <p:nvPr/>
        </p:nvSpPr>
        <p:spPr>
          <a:xfrm>
            <a:off x="457200" y="4258250"/>
            <a:ext cx="2373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1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←) = -1</a:t>
            </a:r>
            <a:endParaRPr sz="20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U(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 9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2e12b04c68a_0_446"/>
          <p:cNvSpPr txBox="1"/>
          <p:nvPr/>
        </p:nvSpPr>
        <p:spPr>
          <a:xfrm>
            <a:off x="2743200" y="4258250"/>
            <a:ext cx="2373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1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↑) = -1</a:t>
            </a:r>
            <a:endParaRPr sz="20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↓) = -1</a:t>
            </a:r>
            <a:endParaRPr sz="20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2e12b04c68a_0_446"/>
          <p:cNvSpPr txBox="1"/>
          <p:nvPr/>
        </p:nvSpPr>
        <p:spPr>
          <a:xfrm>
            <a:off x="4207800" y="1503475"/>
            <a:ext cx="3028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1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↑) = .25</a:t>
            </a:r>
            <a:endParaRPr sz="20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↓) = .25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e12b04c68a_0_505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0" name="Google Shape;190;g2e12b04c68a_0_505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6344400" cy="17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Considering this same situation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❑"/>
            </a:pPr>
            <a:r>
              <a:rPr lang="en-US" sz="2000" i="1"/>
              <a:t>P</a:t>
            </a:r>
            <a:r>
              <a:rPr lang="en-US" sz="2000" b="1" i="1"/>
              <a:t>(</a:t>
            </a:r>
            <a:r>
              <a:rPr lang="en-US" sz="2000" i="1"/>
              <a:t>←) = .25</a:t>
            </a:r>
            <a:endParaRPr sz="2000" i="1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❑"/>
            </a:pPr>
            <a:r>
              <a:rPr lang="en-US" sz="2000" i="1"/>
              <a:t>P(</a:t>
            </a:r>
            <a:r>
              <a:rPr lang="en-US" sz="2000" b="1" i="1"/>
              <a:t>→</a:t>
            </a:r>
            <a:r>
              <a:rPr lang="en-US" sz="2000" i="1"/>
              <a:t>) = .25</a:t>
            </a: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With the following effects: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One movement: -$1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Reach target: +$10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 b="1">
                <a:solidFill>
                  <a:srgbClr val="CC3300"/>
                </a:solidFill>
              </a:rPr>
              <a:t>What would be the expected utility if you can make up to two step moves?</a:t>
            </a:r>
            <a:endParaRPr sz="2000" b="1">
              <a:solidFill>
                <a:srgbClr val="CC33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 b="1" i="1">
                <a:solidFill>
                  <a:schemeClr val="lt1"/>
                </a:solidFill>
              </a:rPr>
              <a:t>E(U) </a:t>
            </a:r>
            <a:r>
              <a:rPr lang="en-US" sz="2000" i="1">
                <a:solidFill>
                  <a:schemeClr val="lt1"/>
                </a:solidFill>
              </a:rPr>
              <a:t>= .75 * (-1) + .25 * 10 = 1.75</a:t>
            </a:r>
            <a:endParaRPr sz="2000" i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</p:txBody>
      </p:sp>
      <p:pic>
        <p:nvPicPr>
          <p:cNvPr id="191" name="Google Shape;191;g2e12b04c68a_0_505"/>
          <p:cNvPicPr preferRelativeResize="0"/>
          <p:nvPr/>
        </p:nvPicPr>
        <p:blipFill rotWithShape="1">
          <a:blip r:embed="rId3">
            <a:alphaModFix/>
          </a:blip>
          <a:srcRect l="24630" t="24545"/>
          <a:stretch/>
        </p:blipFill>
        <p:spPr>
          <a:xfrm>
            <a:off x="6801550" y="3097000"/>
            <a:ext cx="1885250" cy="183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g2e12b04c68a_0_50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13084" y="3729762"/>
            <a:ext cx="586926" cy="571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g2e12b04c68a_0_505"/>
          <p:cNvSpPr/>
          <p:nvPr/>
        </p:nvSpPr>
        <p:spPr>
          <a:xfrm>
            <a:off x="7571741" y="3838047"/>
            <a:ext cx="345000" cy="354600"/>
          </a:xfrm>
          <a:prstGeom prst="ellipse">
            <a:avLst/>
          </a:prstGeom>
          <a:solidFill>
            <a:srgbClr val="CC3300"/>
          </a:solidFill>
          <a:ln w="9525" cap="flat" cmpd="sng">
            <a:solidFill>
              <a:srgbClr val="0066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g2e12b04c68a_0_505"/>
          <p:cNvSpPr txBox="1"/>
          <p:nvPr/>
        </p:nvSpPr>
        <p:spPr>
          <a:xfrm>
            <a:off x="4207800" y="1503475"/>
            <a:ext cx="3028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1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↑) = .25</a:t>
            </a:r>
            <a:endParaRPr sz="20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↓) = .25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2e12b04c68a_0_518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Maximum Expected Profit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2" name="Google Shape;202;g2e12b04c68a_0_518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6344400" cy="174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■"/>
            </a:pPr>
            <a:r>
              <a:rPr lang="en-US" sz="2000"/>
              <a:t>Considering this same situation</a:t>
            </a:r>
            <a:endParaRPr sz="2000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❑"/>
            </a:pPr>
            <a:r>
              <a:rPr lang="en-US" sz="2000" i="1"/>
              <a:t>P</a:t>
            </a:r>
            <a:r>
              <a:rPr lang="en-US" sz="2000" b="1" i="1"/>
              <a:t>(</a:t>
            </a:r>
            <a:r>
              <a:rPr lang="en-US" sz="2000" i="1"/>
              <a:t>←) = .25</a:t>
            </a:r>
            <a:endParaRPr sz="2000" i="1"/>
          </a:p>
          <a:p>
            <a:pPr marL="91440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Char char="❑"/>
            </a:pPr>
            <a:r>
              <a:rPr lang="en-US" sz="2000" i="1"/>
              <a:t>P(</a:t>
            </a:r>
            <a:r>
              <a:rPr lang="en-US" sz="2000" b="1" i="1"/>
              <a:t>→</a:t>
            </a:r>
            <a:r>
              <a:rPr lang="en-US" sz="2000" i="1"/>
              <a:t>) = .25</a:t>
            </a: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/>
              <a:t>With the following effects: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One movement: -$1</a:t>
            </a:r>
            <a:endParaRPr sz="2000"/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en-US" sz="2000"/>
              <a:t>Reach target: +$10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 b="1">
                <a:solidFill>
                  <a:srgbClr val="CC3300"/>
                </a:solidFill>
              </a:rPr>
              <a:t>What would be the expected utility if you can make up to two step moves?</a:t>
            </a:r>
            <a:endParaRPr sz="2000" b="1">
              <a:solidFill>
                <a:srgbClr val="CC33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2000" b="1" i="1">
                <a:solidFill>
                  <a:schemeClr val="lt1"/>
                </a:solidFill>
              </a:rPr>
              <a:t>E(U) </a:t>
            </a:r>
            <a:r>
              <a:rPr lang="en-US" sz="2000" i="1">
                <a:solidFill>
                  <a:schemeClr val="lt1"/>
                </a:solidFill>
              </a:rPr>
              <a:t>= .75 * (-1) + .25 * 10 = 1.75</a:t>
            </a:r>
            <a:endParaRPr sz="2000" i="1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2000"/>
          </a:p>
        </p:txBody>
      </p:sp>
      <p:sp>
        <p:nvSpPr>
          <p:cNvPr id="203" name="Google Shape;203;g2e12b04c68a_0_518"/>
          <p:cNvSpPr txBox="1"/>
          <p:nvPr/>
        </p:nvSpPr>
        <p:spPr>
          <a:xfrm>
            <a:off x="4207800" y="1503475"/>
            <a:ext cx="30282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1" indent="-355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↑) = .25</a:t>
            </a:r>
            <a:endParaRPr sz="20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❑"/>
            </a:pP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</a:t>
            </a:r>
            <a:r>
              <a:rPr lang="en-US" sz="20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↓) = .25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g2e12b04c68a_0_518"/>
          <p:cNvPicPr preferRelativeResize="0"/>
          <p:nvPr/>
        </p:nvPicPr>
        <p:blipFill rotWithShape="1">
          <a:blip r:embed="rId3">
            <a:alphaModFix/>
          </a:blip>
          <a:srcRect l="24630" b="24545"/>
          <a:stretch/>
        </p:blipFill>
        <p:spPr>
          <a:xfrm>
            <a:off x="6801550" y="3097000"/>
            <a:ext cx="1885250" cy="183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g2e12b04c68a_0_5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31759" y="4299387"/>
            <a:ext cx="586926" cy="57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g2e12b04c68a_0_518"/>
          <p:cNvSpPr/>
          <p:nvPr/>
        </p:nvSpPr>
        <p:spPr>
          <a:xfrm>
            <a:off x="7571741" y="3838047"/>
            <a:ext cx="345000" cy="354600"/>
          </a:xfrm>
          <a:prstGeom prst="ellipse">
            <a:avLst/>
          </a:prstGeom>
          <a:solidFill>
            <a:srgbClr val="CC3300"/>
          </a:solidFill>
          <a:ln w="9525" cap="flat" cmpd="sng">
            <a:solidFill>
              <a:srgbClr val="0066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2e12b04c68a_0_473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Markov chains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g2e12b04c68a_0_473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8182200" cy="246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/>
              <a:t>A mathematical model used to describe a system that transits between </a:t>
            </a:r>
            <a:r>
              <a:rPr lang="en-US" sz="1800" b="1" i="1"/>
              <a:t>states</a:t>
            </a:r>
            <a:r>
              <a:rPr lang="en-US" sz="1800"/>
              <a:t>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/>
              <a:t>States: </a:t>
            </a:r>
            <a:r>
              <a:rPr lang="en-US" sz="1800"/>
              <a:t>these are the set of possible situations in which the system may find itself.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/>
              <a:t>Transitions</a:t>
            </a:r>
            <a:r>
              <a:rPr lang="en-US" sz="1800"/>
              <a:t>: Possible movements from one state to another.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/>
              <a:t>Markov property: </a:t>
            </a:r>
            <a:r>
              <a:rPr lang="en-US" sz="1800"/>
              <a:t>The probability of transition from one state to another depends only on the current state.</a:t>
            </a:r>
            <a:endParaRPr sz="1800"/>
          </a:p>
        </p:txBody>
      </p:sp>
      <p:pic>
        <p:nvPicPr>
          <p:cNvPr id="215" name="Google Shape;215;g2e12b04c68a_0_47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900" y="3584125"/>
            <a:ext cx="8182201" cy="4688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e12b04c68a_0_537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Markov chains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3" name="Google Shape;223;g2e12b04c68a_0_537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5600100" cy="1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Example: </a:t>
            </a:r>
            <a:r>
              <a:rPr lang="en-US" sz="1800"/>
              <a:t>Consider 3 weather states: Sunny (S), Cloudy (C), Rainy (R) and the transitions matrix </a:t>
            </a:r>
            <a:r>
              <a:rPr lang="en-US" sz="1800" b="1"/>
              <a:t>P = (</a:t>
            </a:r>
            <a:r>
              <a:rPr lang="en-US" sz="1800" b="1" i="1"/>
              <a:t>p</a:t>
            </a:r>
            <a:r>
              <a:rPr lang="en-US" sz="1800" b="1" i="1" baseline="-25000"/>
              <a:t>ij</a:t>
            </a:r>
            <a:r>
              <a:rPr lang="en-US" sz="1800"/>
              <a:t> ) shown on the left.</a:t>
            </a:r>
            <a:br>
              <a:rPr lang="en-US" sz="1800"/>
            </a:b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Each element p</a:t>
            </a:r>
            <a:r>
              <a:rPr lang="en-US" sz="1800" baseline="-25000"/>
              <a:t>ij</a:t>
            </a:r>
            <a:r>
              <a:rPr lang="en-US" sz="1800"/>
              <a:t> represents the transition probability.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total sum of each row must be 1.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Then </a:t>
            </a:r>
            <a:r>
              <a:rPr lang="en-US" sz="1800" b="1" i="1"/>
              <a:t>P(C | S) = p</a:t>
            </a:r>
            <a:r>
              <a:rPr lang="en-US" sz="1800" b="1" i="1" baseline="-25000"/>
              <a:t>SC</a:t>
            </a:r>
            <a:r>
              <a:rPr lang="en-US" sz="1800" b="1" i="1"/>
              <a:t> = 0.3.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  <p:graphicFrame>
        <p:nvGraphicFramePr>
          <p:cNvPr id="224" name="Google Shape;224;g2e12b04c68a_0_537"/>
          <p:cNvGraphicFramePr/>
          <p:nvPr/>
        </p:nvGraphicFramePr>
        <p:xfrm>
          <a:off x="6680300" y="120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2f5fdc1cbb4_0_25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Markov chains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g2f5fdc1cbb4_0_25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5600100" cy="1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Example: </a:t>
            </a:r>
            <a:r>
              <a:rPr lang="en-US" sz="1800"/>
              <a:t>Consider 3 weather states: Sunny (S), Cloudy (C), Rainy (R) and the transitions matrix </a:t>
            </a:r>
            <a:r>
              <a:rPr lang="en-US" sz="1800" b="1"/>
              <a:t>P = (</a:t>
            </a:r>
            <a:r>
              <a:rPr lang="en-US" sz="1800" b="1" i="1"/>
              <a:t>p</a:t>
            </a:r>
            <a:r>
              <a:rPr lang="en-US" sz="1800" b="1" i="1" baseline="-25000"/>
              <a:t>ij</a:t>
            </a:r>
            <a:r>
              <a:rPr lang="en-US" sz="1800"/>
              <a:t> ) shown on the left.</a:t>
            </a:r>
            <a:br>
              <a:rPr lang="en-US" sz="1800"/>
            </a:b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Each element p</a:t>
            </a:r>
            <a:r>
              <a:rPr lang="en-US" sz="1800" baseline="-25000"/>
              <a:t>ij</a:t>
            </a:r>
            <a:r>
              <a:rPr lang="en-US" sz="1800"/>
              <a:t> represents the transition probability.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total sum of each row must be 1.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Then </a:t>
            </a:r>
            <a:r>
              <a:rPr lang="en-US" sz="1800" b="1" i="1"/>
              <a:t>P(C | S) = p</a:t>
            </a:r>
            <a:r>
              <a:rPr lang="en-US" sz="1800" b="1" i="1" baseline="-25000"/>
              <a:t>SC</a:t>
            </a:r>
            <a:r>
              <a:rPr lang="en-US" sz="1800" b="1" i="1"/>
              <a:t> = 0.3. 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  <p:graphicFrame>
        <p:nvGraphicFramePr>
          <p:cNvPr id="233" name="Google Shape;233;g2f5fdc1cbb4_0_25"/>
          <p:cNvGraphicFramePr/>
          <p:nvPr/>
        </p:nvGraphicFramePr>
        <p:xfrm>
          <a:off x="6680300" y="120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f5fdc1cbb4_0_33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Markov chains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1" name="Google Shape;241;g2f5fdc1cbb4_0_33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5600100" cy="1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Example: </a:t>
            </a:r>
            <a:r>
              <a:rPr lang="en-US" sz="1800"/>
              <a:t>Consider 3 weather states: Sunny (S), Cloudy (C), Rainy (R) and the transitions matrix </a:t>
            </a:r>
            <a:r>
              <a:rPr lang="en-US" sz="1800" b="1"/>
              <a:t>P = (</a:t>
            </a:r>
            <a:r>
              <a:rPr lang="en-US" sz="1800" b="1" i="1"/>
              <a:t>p</a:t>
            </a:r>
            <a:r>
              <a:rPr lang="en-US" sz="1800" b="1" i="1" baseline="-25000"/>
              <a:t>ij</a:t>
            </a:r>
            <a:r>
              <a:rPr lang="en-US" sz="1800"/>
              <a:t> ) shown on the left.</a:t>
            </a:r>
            <a:br>
              <a:rPr lang="en-US" sz="1800"/>
            </a:b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Each element p</a:t>
            </a:r>
            <a:r>
              <a:rPr lang="en-US" sz="1800" baseline="-25000"/>
              <a:t>ij</a:t>
            </a:r>
            <a:r>
              <a:rPr lang="en-US" sz="1800"/>
              <a:t> represents the transition probability.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total sum of each row must be 1.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Then </a:t>
            </a:r>
            <a:r>
              <a:rPr lang="en-US" sz="1800" b="1" i="1"/>
              <a:t>P(C | S) = p</a:t>
            </a:r>
            <a:r>
              <a:rPr lang="en-US" sz="1800" b="1" i="1" baseline="-25000"/>
              <a:t>SC</a:t>
            </a:r>
            <a:r>
              <a:rPr lang="en-US" sz="1800" b="1" i="1"/>
              <a:t> = 0.3. </a:t>
            </a: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  <p:graphicFrame>
        <p:nvGraphicFramePr>
          <p:cNvPr id="242" name="Google Shape;242;g2f5fdc1cbb4_0_33"/>
          <p:cNvGraphicFramePr/>
          <p:nvPr/>
        </p:nvGraphicFramePr>
        <p:xfrm>
          <a:off x="6680300" y="120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43" name="Google Shape;243;g2f5fdc1cbb4_0_33"/>
          <p:cNvSpPr txBox="1"/>
          <p:nvPr/>
        </p:nvSpPr>
        <p:spPr>
          <a:xfrm>
            <a:off x="457200" y="3716750"/>
            <a:ext cx="82296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transitions: 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Probability that the day after tomorrow will be sunny (S) given that today is sunny (S).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f5fdc1cbb4_0_42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Markov chains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g2f5fdc1cbb4_0_42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5600100" cy="1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Example: </a:t>
            </a:r>
            <a:r>
              <a:rPr lang="en-US" sz="1800"/>
              <a:t>Consider 3 weather states: Sunny (S), Cloudy (C), Rainy (R) and the transitions matrix </a:t>
            </a:r>
            <a:r>
              <a:rPr lang="en-US" sz="1800" b="1"/>
              <a:t>P = (</a:t>
            </a:r>
            <a:r>
              <a:rPr lang="en-US" sz="1800" b="1" i="1"/>
              <a:t>p</a:t>
            </a:r>
            <a:r>
              <a:rPr lang="en-US" sz="1800" b="1" i="1" baseline="-25000"/>
              <a:t>ij</a:t>
            </a:r>
            <a:r>
              <a:rPr lang="en-US" sz="1800"/>
              <a:t> ) shown on the left.</a:t>
            </a:r>
            <a:br>
              <a:rPr lang="en-US" sz="1800"/>
            </a:b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Each element p</a:t>
            </a:r>
            <a:r>
              <a:rPr lang="en-US" sz="1800" baseline="-25000"/>
              <a:t>ij</a:t>
            </a:r>
            <a:r>
              <a:rPr lang="en-US" sz="1800"/>
              <a:t> represents the transition probability.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total sum of each row must be 1.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Then </a:t>
            </a:r>
            <a:r>
              <a:rPr lang="en-US" sz="1800" b="1" i="1"/>
              <a:t>P(C | S) = p</a:t>
            </a:r>
            <a:r>
              <a:rPr lang="en-US" sz="1800" b="1" i="1" baseline="-25000"/>
              <a:t>SC</a:t>
            </a:r>
            <a:r>
              <a:rPr lang="en-US" sz="1800" b="1" i="1"/>
              <a:t> = 0.3. </a:t>
            </a: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  <p:graphicFrame>
        <p:nvGraphicFramePr>
          <p:cNvPr id="252" name="Google Shape;252;g2f5fdc1cbb4_0_42"/>
          <p:cNvGraphicFramePr/>
          <p:nvPr/>
        </p:nvGraphicFramePr>
        <p:xfrm>
          <a:off x="6680300" y="120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3" name="Google Shape;253;g2f5fdc1cbb4_0_42"/>
          <p:cNvSpPr txBox="1"/>
          <p:nvPr/>
        </p:nvSpPr>
        <p:spPr>
          <a:xfrm>
            <a:off x="457200" y="3716750"/>
            <a:ext cx="82296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transitions: 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Probability that the day after tomorrow will be sunny (S) given that today is sunny (S).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4" name="Google Shape;254;g2f5fdc1cbb4_0_42"/>
          <p:cNvGraphicFramePr/>
          <p:nvPr/>
        </p:nvGraphicFramePr>
        <p:xfrm>
          <a:off x="1625225" y="47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69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X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55" name="Google Shape;255;g2f5fdc1cbb4_0_42"/>
          <p:cNvCxnSpPr/>
          <p:nvPr/>
        </p:nvCxnSpPr>
        <p:spPr>
          <a:xfrm>
            <a:off x="1953625" y="5470650"/>
            <a:ext cx="420300" cy="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56" name="Google Shape;256;g2f5fdc1cbb4_0_42"/>
          <p:cNvCxnSpPr/>
          <p:nvPr/>
        </p:nvCxnSpPr>
        <p:spPr>
          <a:xfrm>
            <a:off x="2644650" y="5470650"/>
            <a:ext cx="411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2f5fdc1cbb4_0_51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Markov chains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g2f5fdc1cbb4_0_51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5600100" cy="1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Example: </a:t>
            </a:r>
            <a:r>
              <a:rPr lang="en-US" sz="1800"/>
              <a:t>Consider 3 weather states: Sunny (S), Cloudy (C), Rainy (R) and the transitions matrix </a:t>
            </a:r>
            <a:r>
              <a:rPr lang="en-US" sz="1800" b="1"/>
              <a:t>P = (</a:t>
            </a:r>
            <a:r>
              <a:rPr lang="en-US" sz="1800" b="1" i="1"/>
              <a:t>p</a:t>
            </a:r>
            <a:r>
              <a:rPr lang="en-US" sz="1800" b="1" i="1" baseline="-25000"/>
              <a:t>ij</a:t>
            </a:r>
            <a:r>
              <a:rPr lang="en-US" sz="1800"/>
              <a:t> ) shown on the left.</a:t>
            </a:r>
            <a:br>
              <a:rPr lang="en-US" sz="1800"/>
            </a:b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Each element p</a:t>
            </a:r>
            <a:r>
              <a:rPr lang="en-US" sz="1800" baseline="-25000"/>
              <a:t>ij</a:t>
            </a:r>
            <a:r>
              <a:rPr lang="en-US" sz="1800"/>
              <a:t> represents the transition probability.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total sum of each row must be 1.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Then </a:t>
            </a:r>
            <a:r>
              <a:rPr lang="en-US" sz="1800" b="1" i="1"/>
              <a:t>P(C | S) = p</a:t>
            </a:r>
            <a:r>
              <a:rPr lang="en-US" sz="1800" b="1" i="1" baseline="-25000"/>
              <a:t>SC</a:t>
            </a:r>
            <a:r>
              <a:rPr lang="en-US" sz="1800" b="1" i="1"/>
              <a:t> = 0.3. </a:t>
            </a: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  <p:graphicFrame>
        <p:nvGraphicFramePr>
          <p:cNvPr id="265" name="Google Shape;265;g2f5fdc1cbb4_0_51"/>
          <p:cNvGraphicFramePr/>
          <p:nvPr/>
        </p:nvGraphicFramePr>
        <p:xfrm>
          <a:off x="6680300" y="120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6" name="Google Shape;266;g2f5fdc1cbb4_0_51"/>
          <p:cNvSpPr txBox="1"/>
          <p:nvPr/>
        </p:nvSpPr>
        <p:spPr>
          <a:xfrm>
            <a:off x="457200" y="3716750"/>
            <a:ext cx="82296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transitions: 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Probability that the day after tomorrow will be sunny (S) given that today is sunny (S).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7" name="Google Shape;267;g2f5fdc1cbb4_0_51"/>
          <p:cNvGraphicFramePr/>
          <p:nvPr/>
        </p:nvGraphicFramePr>
        <p:xfrm>
          <a:off x="1625225" y="47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69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C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R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68" name="Google Shape;268;g2f5fdc1cbb4_0_51"/>
          <p:cNvCxnSpPr/>
          <p:nvPr/>
        </p:nvCxnSpPr>
        <p:spPr>
          <a:xfrm rot="10800000" flipH="1">
            <a:off x="1916275" y="5022400"/>
            <a:ext cx="401400" cy="36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69" name="Google Shape;269;g2f5fdc1cbb4_0_51"/>
          <p:cNvCxnSpPr/>
          <p:nvPr/>
        </p:nvCxnSpPr>
        <p:spPr>
          <a:xfrm>
            <a:off x="1953625" y="5470650"/>
            <a:ext cx="420300" cy="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0" name="Google Shape;270;g2f5fdc1cbb4_0_51"/>
          <p:cNvCxnSpPr/>
          <p:nvPr/>
        </p:nvCxnSpPr>
        <p:spPr>
          <a:xfrm>
            <a:off x="1934950" y="5582700"/>
            <a:ext cx="438900" cy="38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1" name="Google Shape;271;g2f5fdc1cbb4_0_51"/>
          <p:cNvCxnSpPr/>
          <p:nvPr/>
        </p:nvCxnSpPr>
        <p:spPr>
          <a:xfrm>
            <a:off x="2607300" y="5059775"/>
            <a:ext cx="504300" cy="32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2" name="Google Shape;272;g2f5fdc1cbb4_0_51"/>
          <p:cNvCxnSpPr/>
          <p:nvPr/>
        </p:nvCxnSpPr>
        <p:spPr>
          <a:xfrm>
            <a:off x="2644650" y="5470650"/>
            <a:ext cx="411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73" name="Google Shape;273;g2f5fdc1cbb4_0_51"/>
          <p:cNvCxnSpPr/>
          <p:nvPr/>
        </p:nvCxnSpPr>
        <p:spPr>
          <a:xfrm rot="10800000" flipH="1">
            <a:off x="2635300" y="5620025"/>
            <a:ext cx="420300" cy="35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2f5fdc1cbb4_0_7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Markov chains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1" name="Google Shape;281;g2f5fdc1cbb4_0_70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5600100" cy="1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Example: </a:t>
            </a:r>
            <a:r>
              <a:rPr lang="en-US" sz="1800"/>
              <a:t>Consider 3 weather states: Sunny (S), Cloudy (C), Rainy (R) and the transitions matrix </a:t>
            </a:r>
            <a:r>
              <a:rPr lang="en-US" sz="1800" b="1"/>
              <a:t>P = (</a:t>
            </a:r>
            <a:r>
              <a:rPr lang="en-US" sz="1800" b="1" i="1"/>
              <a:t>p</a:t>
            </a:r>
            <a:r>
              <a:rPr lang="en-US" sz="1800" b="1" i="1" baseline="-25000"/>
              <a:t>ij</a:t>
            </a:r>
            <a:r>
              <a:rPr lang="en-US" sz="1800"/>
              <a:t> ) shown on the left.</a:t>
            </a:r>
            <a:br>
              <a:rPr lang="en-US" sz="1800"/>
            </a:b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Each element p</a:t>
            </a:r>
            <a:r>
              <a:rPr lang="en-US" sz="1800" baseline="-25000"/>
              <a:t>ij</a:t>
            </a:r>
            <a:r>
              <a:rPr lang="en-US" sz="1800"/>
              <a:t> represents the transition probability.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total sum of each row must be 1.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Then </a:t>
            </a:r>
            <a:r>
              <a:rPr lang="en-US" sz="1800" b="1" i="1"/>
              <a:t>P(C | S) = p</a:t>
            </a:r>
            <a:r>
              <a:rPr lang="en-US" sz="1800" b="1" i="1" baseline="-25000"/>
              <a:t>SC</a:t>
            </a:r>
            <a:r>
              <a:rPr lang="en-US" sz="1800" b="1" i="1"/>
              <a:t> = 0.3. </a:t>
            </a: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  <p:graphicFrame>
        <p:nvGraphicFramePr>
          <p:cNvPr id="282" name="Google Shape;282;g2f5fdc1cbb4_0_70"/>
          <p:cNvGraphicFramePr/>
          <p:nvPr/>
        </p:nvGraphicFramePr>
        <p:xfrm>
          <a:off x="6680300" y="120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3" name="Google Shape;283;g2f5fdc1cbb4_0_70"/>
          <p:cNvSpPr txBox="1"/>
          <p:nvPr/>
        </p:nvSpPr>
        <p:spPr>
          <a:xfrm>
            <a:off x="457200" y="3716750"/>
            <a:ext cx="82296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transitions: 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Probability that the day after tomorrow will be sunny (S) given that today is sunny (S).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84" name="Google Shape;284;g2f5fdc1cbb4_0_70"/>
          <p:cNvGraphicFramePr/>
          <p:nvPr/>
        </p:nvGraphicFramePr>
        <p:xfrm>
          <a:off x="1625225" y="47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69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C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R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285" name="Google Shape;285;g2f5fdc1cbb4_0_70"/>
          <p:cNvCxnSpPr/>
          <p:nvPr/>
        </p:nvCxnSpPr>
        <p:spPr>
          <a:xfrm rot="10800000" flipH="1">
            <a:off x="1916275" y="5022400"/>
            <a:ext cx="401400" cy="36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6" name="Google Shape;286;g2f5fdc1cbb4_0_70"/>
          <p:cNvCxnSpPr/>
          <p:nvPr/>
        </p:nvCxnSpPr>
        <p:spPr>
          <a:xfrm>
            <a:off x="1953625" y="5470650"/>
            <a:ext cx="420300" cy="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7" name="Google Shape;287;g2f5fdc1cbb4_0_70"/>
          <p:cNvCxnSpPr/>
          <p:nvPr/>
        </p:nvCxnSpPr>
        <p:spPr>
          <a:xfrm>
            <a:off x="1934950" y="5582700"/>
            <a:ext cx="438900" cy="38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8" name="Google Shape;288;g2f5fdc1cbb4_0_70"/>
          <p:cNvCxnSpPr/>
          <p:nvPr/>
        </p:nvCxnSpPr>
        <p:spPr>
          <a:xfrm>
            <a:off x="2607300" y="5059775"/>
            <a:ext cx="504300" cy="32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89" name="Google Shape;289;g2f5fdc1cbb4_0_70"/>
          <p:cNvCxnSpPr/>
          <p:nvPr/>
        </p:nvCxnSpPr>
        <p:spPr>
          <a:xfrm>
            <a:off x="2644650" y="5470650"/>
            <a:ext cx="411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90" name="Google Shape;290;g2f5fdc1cbb4_0_70"/>
          <p:cNvCxnSpPr/>
          <p:nvPr/>
        </p:nvCxnSpPr>
        <p:spPr>
          <a:xfrm rot="10800000" flipH="1">
            <a:off x="2635300" y="5620025"/>
            <a:ext cx="420300" cy="35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291" name="Google Shape;291;g2f5fdc1cbb4_0_70"/>
          <p:cNvPicPr preferRelativeResize="0"/>
          <p:nvPr/>
        </p:nvPicPr>
        <p:blipFill rotWithShape="1">
          <a:blip r:embed="rId3">
            <a:alphaModFix/>
          </a:blip>
          <a:srcRect l="24134" r="43628"/>
          <a:stretch/>
        </p:blipFill>
        <p:spPr>
          <a:xfrm>
            <a:off x="3938158" y="5074650"/>
            <a:ext cx="2027615" cy="890851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g2f5fdc1cbb4_0_70"/>
          <p:cNvSpPr/>
          <p:nvPr/>
        </p:nvSpPr>
        <p:spPr>
          <a:xfrm>
            <a:off x="3869075" y="5022400"/>
            <a:ext cx="2096700" cy="935100"/>
          </a:xfrm>
          <a:prstGeom prst="rect">
            <a:avLst/>
          </a:prstGeom>
          <a:noFill/>
          <a:ln w="3810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2f5fdc1cbb4_0_9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Markov chains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0" name="Google Shape;300;g2f5fdc1cbb4_0_90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5600100" cy="1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Example: </a:t>
            </a:r>
            <a:r>
              <a:rPr lang="en-US" sz="1800"/>
              <a:t>Consider 3 weather states: Sunny (S), Cloudy (C), Rainy (R) and the transitions matrix </a:t>
            </a:r>
            <a:r>
              <a:rPr lang="en-US" sz="1800" b="1"/>
              <a:t>P = (</a:t>
            </a:r>
            <a:r>
              <a:rPr lang="en-US" sz="1800" b="1" i="1"/>
              <a:t>p</a:t>
            </a:r>
            <a:r>
              <a:rPr lang="en-US" sz="1800" b="1" i="1" baseline="-25000"/>
              <a:t>ij</a:t>
            </a:r>
            <a:r>
              <a:rPr lang="en-US" sz="1800"/>
              <a:t> ) shown on the left.</a:t>
            </a:r>
            <a:br>
              <a:rPr lang="en-US" sz="1800"/>
            </a:b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Each element p</a:t>
            </a:r>
            <a:r>
              <a:rPr lang="en-US" sz="1800" baseline="-25000"/>
              <a:t>ij</a:t>
            </a:r>
            <a:r>
              <a:rPr lang="en-US" sz="1800"/>
              <a:t> represents the transition probability.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total sum of each row must be 1.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Then </a:t>
            </a:r>
            <a:r>
              <a:rPr lang="en-US" sz="1800" b="1" i="1"/>
              <a:t>P(C | S) = p</a:t>
            </a:r>
            <a:r>
              <a:rPr lang="en-US" sz="1800" b="1" i="1" baseline="-25000"/>
              <a:t>SC</a:t>
            </a:r>
            <a:r>
              <a:rPr lang="en-US" sz="1800" b="1" i="1"/>
              <a:t> = 0.3. </a:t>
            </a: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  <p:graphicFrame>
        <p:nvGraphicFramePr>
          <p:cNvPr id="301" name="Google Shape;301;g2f5fdc1cbb4_0_90"/>
          <p:cNvGraphicFramePr/>
          <p:nvPr/>
        </p:nvGraphicFramePr>
        <p:xfrm>
          <a:off x="6680300" y="120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2" name="Google Shape;302;g2f5fdc1cbb4_0_90"/>
          <p:cNvSpPr txBox="1"/>
          <p:nvPr/>
        </p:nvSpPr>
        <p:spPr>
          <a:xfrm>
            <a:off x="457200" y="3716750"/>
            <a:ext cx="82296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transitions: 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Probability that the day after tomorrow will be sunny (S) given that today is sunny (S).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3" name="Google Shape;303;g2f5fdc1cbb4_0_90"/>
          <p:cNvGraphicFramePr/>
          <p:nvPr/>
        </p:nvGraphicFramePr>
        <p:xfrm>
          <a:off x="1625225" y="47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69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C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R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04" name="Google Shape;304;g2f5fdc1cbb4_0_90"/>
          <p:cNvCxnSpPr/>
          <p:nvPr/>
        </p:nvCxnSpPr>
        <p:spPr>
          <a:xfrm rot="10800000" flipH="1">
            <a:off x="1916275" y="5022400"/>
            <a:ext cx="401400" cy="36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5" name="Google Shape;305;g2f5fdc1cbb4_0_90"/>
          <p:cNvCxnSpPr/>
          <p:nvPr/>
        </p:nvCxnSpPr>
        <p:spPr>
          <a:xfrm>
            <a:off x="1953625" y="5470650"/>
            <a:ext cx="420300" cy="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6" name="Google Shape;306;g2f5fdc1cbb4_0_90"/>
          <p:cNvCxnSpPr/>
          <p:nvPr/>
        </p:nvCxnSpPr>
        <p:spPr>
          <a:xfrm>
            <a:off x="1934950" y="5582700"/>
            <a:ext cx="438900" cy="38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7" name="Google Shape;307;g2f5fdc1cbb4_0_90"/>
          <p:cNvCxnSpPr/>
          <p:nvPr/>
        </p:nvCxnSpPr>
        <p:spPr>
          <a:xfrm>
            <a:off x="2607300" y="5059775"/>
            <a:ext cx="504300" cy="32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8" name="Google Shape;308;g2f5fdc1cbb4_0_90"/>
          <p:cNvCxnSpPr/>
          <p:nvPr/>
        </p:nvCxnSpPr>
        <p:spPr>
          <a:xfrm>
            <a:off x="2644650" y="5470650"/>
            <a:ext cx="411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09" name="Google Shape;309;g2f5fdc1cbb4_0_90"/>
          <p:cNvCxnSpPr/>
          <p:nvPr/>
        </p:nvCxnSpPr>
        <p:spPr>
          <a:xfrm rot="10800000" flipH="1">
            <a:off x="2635300" y="5620025"/>
            <a:ext cx="420300" cy="35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10" name="Google Shape;310;g2f5fdc1cbb4_0_90"/>
          <p:cNvPicPr preferRelativeResize="0"/>
          <p:nvPr/>
        </p:nvPicPr>
        <p:blipFill rotWithShape="1">
          <a:blip r:embed="rId3">
            <a:alphaModFix/>
          </a:blip>
          <a:srcRect l="24133"/>
          <a:stretch/>
        </p:blipFill>
        <p:spPr>
          <a:xfrm>
            <a:off x="3938139" y="5074650"/>
            <a:ext cx="4772001" cy="8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g2f5fdc1cbb4_0_90"/>
          <p:cNvSpPr/>
          <p:nvPr/>
        </p:nvSpPr>
        <p:spPr>
          <a:xfrm>
            <a:off x="3869075" y="5022400"/>
            <a:ext cx="2096700" cy="935100"/>
          </a:xfrm>
          <a:prstGeom prst="rect">
            <a:avLst/>
          </a:prstGeom>
          <a:noFill/>
          <a:ln w="3810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g2f5fdc1cbb4_0_90"/>
          <p:cNvSpPr/>
          <p:nvPr/>
        </p:nvSpPr>
        <p:spPr>
          <a:xfrm>
            <a:off x="5965775" y="5007750"/>
            <a:ext cx="2804400" cy="9351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2f5fdc1cbb4_0_111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Markov chains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0" name="Google Shape;320;g2f5fdc1cbb4_0_111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5600100" cy="1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Example: </a:t>
            </a:r>
            <a:r>
              <a:rPr lang="en-US" sz="1800"/>
              <a:t>Consider 3 weather states: Sunny (S), Cloudy (C), Rainy (R) and the transitions matrix </a:t>
            </a:r>
            <a:r>
              <a:rPr lang="en-US" sz="1800" b="1"/>
              <a:t>P = (</a:t>
            </a:r>
            <a:r>
              <a:rPr lang="en-US" sz="1800" b="1" i="1"/>
              <a:t>p</a:t>
            </a:r>
            <a:r>
              <a:rPr lang="en-US" sz="1800" b="1" i="1" baseline="-25000"/>
              <a:t>ij</a:t>
            </a:r>
            <a:r>
              <a:rPr lang="en-US" sz="1800"/>
              <a:t> ) shown on the left.</a:t>
            </a:r>
            <a:br>
              <a:rPr lang="en-US" sz="1800"/>
            </a:b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Each element p</a:t>
            </a:r>
            <a:r>
              <a:rPr lang="en-US" sz="1800" baseline="-25000"/>
              <a:t>ij</a:t>
            </a:r>
            <a:r>
              <a:rPr lang="en-US" sz="1800"/>
              <a:t> represents the transition probability.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total sum of each row must be 1.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Then </a:t>
            </a:r>
            <a:r>
              <a:rPr lang="en-US" sz="1800" b="1" i="1"/>
              <a:t>P(C | S) = p</a:t>
            </a:r>
            <a:r>
              <a:rPr lang="en-US" sz="1800" b="1" i="1" baseline="-25000"/>
              <a:t>SC</a:t>
            </a:r>
            <a:r>
              <a:rPr lang="en-US" sz="1800" b="1" i="1"/>
              <a:t> = 0.3. </a:t>
            </a: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  <p:graphicFrame>
        <p:nvGraphicFramePr>
          <p:cNvPr id="321" name="Google Shape;321;g2f5fdc1cbb4_0_111"/>
          <p:cNvGraphicFramePr/>
          <p:nvPr/>
        </p:nvGraphicFramePr>
        <p:xfrm>
          <a:off x="6680300" y="120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22" name="Google Shape;322;g2f5fdc1cbb4_0_111"/>
          <p:cNvSpPr txBox="1"/>
          <p:nvPr/>
        </p:nvSpPr>
        <p:spPr>
          <a:xfrm>
            <a:off x="457200" y="3716750"/>
            <a:ext cx="82296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transitions: 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Probability that the day after tomorrow will be sunny (S) given that today is sunny (S).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23" name="Google Shape;323;g2f5fdc1cbb4_0_111"/>
          <p:cNvGraphicFramePr/>
          <p:nvPr/>
        </p:nvGraphicFramePr>
        <p:xfrm>
          <a:off x="1625225" y="47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69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C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R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24" name="Google Shape;324;g2f5fdc1cbb4_0_111"/>
          <p:cNvCxnSpPr/>
          <p:nvPr/>
        </p:nvCxnSpPr>
        <p:spPr>
          <a:xfrm rot="10800000" flipH="1">
            <a:off x="1916275" y="5022400"/>
            <a:ext cx="401400" cy="36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5" name="Google Shape;325;g2f5fdc1cbb4_0_111"/>
          <p:cNvCxnSpPr/>
          <p:nvPr/>
        </p:nvCxnSpPr>
        <p:spPr>
          <a:xfrm>
            <a:off x="1953625" y="5470650"/>
            <a:ext cx="420300" cy="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6" name="Google Shape;326;g2f5fdc1cbb4_0_111"/>
          <p:cNvCxnSpPr/>
          <p:nvPr/>
        </p:nvCxnSpPr>
        <p:spPr>
          <a:xfrm>
            <a:off x="1934950" y="5582700"/>
            <a:ext cx="438900" cy="38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7" name="Google Shape;327;g2f5fdc1cbb4_0_111"/>
          <p:cNvCxnSpPr/>
          <p:nvPr/>
        </p:nvCxnSpPr>
        <p:spPr>
          <a:xfrm>
            <a:off x="2607300" y="5059775"/>
            <a:ext cx="504300" cy="32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8" name="Google Shape;328;g2f5fdc1cbb4_0_111"/>
          <p:cNvCxnSpPr/>
          <p:nvPr/>
        </p:nvCxnSpPr>
        <p:spPr>
          <a:xfrm>
            <a:off x="2644650" y="5470650"/>
            <a:ext cx="411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29" name="Google Shape;329;g2f5fdc1cbb4_0_111"/>
          <p:cNvCxnSpPr/>
          <p:nvPr/>
        </p:nvCxnSpPr>
        <p:spPr>
          <a:xfrm rot="10800000" flipH="1">
            <a:off x="2635300" y="5620025"/>
            <a:ext cx="420300" cy="35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pic>
        <p:nvPicPr>
          <p:cNvPr id="330" name="Google Shape;330;g2f5fdc1cbb4_0_111"/>
          <p:cNvPicPr preferRelativeResize="0"/>
          <p:nvPr/>
        </p:nvPicPr>
        <p:blipFill rotWithShape="1">
          <a:blip r:embed="rId3">
            <a:alphaModFix/>
          </a:blip>
          <a:srcRect l="24133"/>
          <a:stretch/>
        </p:blipFill>
        <p:spPr>
          <a:xfrm>
            <a:off x="3938139" y="5074650"/>
            <a:ext cx="4772001" cy="890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g2f5fdc1cbb4_0_111"/>
          <p:cNvSpPr/>
          <p:nvPr/>
        </p:nvSpPr>
        <p:spPr>
          <a:xfrm>
            <a:off x="3869075" y="5022400"/>
            <a:ext cx="2096700" cy="935100"/>
          </a:xfrm>
          <a:prstGeom prst="rect">
            <a:avLst/>
          </a:prstGeom>
          <a:noFill/>
          <a:ln w="38100" cap="flat" cmpd="sng">
            <a:solidFill>
              <a:srgbClr val="98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g2f5fdc1cbb4_0_111"/>
          <p:cNvSpPr/>
          <p:nvPr/>
        </p:nvSpPr>
        <p:spPr>
          <a:xfrm>
            <a:off x="5965775" y="5007750"/>
            <a:ext cx="2804400" cy="935100"/>
          </a:xfrm>
          <a:prstGeom prst="rect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2f5fdc1cbb4_0_13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Markov chains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0" name="Google Shape;340;g2f5fdc1cbb4_0_130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5600100" cy="17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Example: </a:t>
            </a:r>
            <a:r>
              <a:rPr lang="en-US" sz="1800"/>
              <a:t>Consider 3 weather states: Sunny (S), Cloudy (C), Rainy (R) and the transitions matrix </a:t>
            </a:r>
            <a:r>
              <a:rPr lang="en-US" sz="1800" b="1"/>
              <a:t>P = (</a:t>
            </a:r>
            <a:r>
              <a:rPr lang="en-US" sz="1800" b="1" i="1"/>
              <a:t>p</a:t>
            </a:r>
            <a:r>
              <a:rPr lang="en-US" sz="1800" b="1" i="1" baseline="-25000"/>
              <a:t>ij</a:t>
            </a:r>
            <a:r>
              <a:rPr lang="en-US" sz="1800"/>
              <a:t> ) shown on the left.</a:t>
            </a:r>
            <a:br>
              <a:rPr lang="en-US" sz="1800"/>
            </a:b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Each element p</a:t>
            </a:r>
            <a:r>
              <a:rPr lang="en-US" sz="1800" baseline="-25000"/>
              <a:t>ij</a:t>
            </a:r>
            <a:r>
              <a:rPr lang="en-US" sz="1800"/>
              <a:t> represents the transition probability.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The total sum of each row must be 1.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Then </a:t>
            </a:r>
            <a:r>
              <a:rPr lang="en-US" sz="1800" b="1" i="1"/>
              <a:t>P(C | S) = p</a:t>
            </a:r>
            <a:r>
              <a:rPr lang="en-US" sz="1800" b="1" i="1" baseline="-25000"/>
              <a:t>SC</a:t>
            </a:r>
            <a:r>
              <a:rPr lang="en-US" sz="1800" b="1" i="1"/>
              <a:t> = 0.3. </a:t>
            </a: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 b="1" i="1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  <p:graphicFrame>
        <p:nvGraphicFramePr>
          <p:cNvPr id="341" name="Google Shape;341;g2f5fdc1cbb4_0_130"/>
          <p:cNvGraphicFramePr/>
          <p:nvPr/>
        </p:nvGraphicFramePr>
        <p:xfrm>
          <a:off x="6680300" y="120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42" name="Google Shape;342;g2f5fdc1cbb4_0_130"/>
          <p:cNvSpPr txBox="1"/>
          <p:nvPr/>
        </p:nvSpPr>
        <p:spPr>
          <a:xfrm>
            <a:off x="457200" y="3716750"/>
            <a:ext cx="8229600" cy="170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transitions: </a:t>
            </a:r>
            <a:endParaRPr sz="18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Probability that the day after tomorrow will be sunny (S) given that today is sunny (S).</a:t>
            </a: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43" name="Google Shape;343;g2f5fdc1cbb4_0_130"/>
          <p:cNvGraphicFramePr/>
          <p:nvPr/>
        </p:nvGraphicFramePr>
        <p:xfrm>
          <a:off x="1625225" y="4734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69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29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C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S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2000" u="none" strike="noStrike" cap="none"/>
                        <a:t>R</a:t>
                      </a: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endParaRPr sz="20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cxnSp>
        <p:nvCxnSpPr>
          <p:cNvPr id="344" name="Google Shape;344;g2f5fdc1cbb4_0_130"/>
          <p:cNvCxnSpPr/>
          <p:nvPr/>
        </p:nvCxnSpPr>
        <p:spPr>
          <a:xfrm rot="10800000" flipH="1">
            <a:off x="1916275" y="5022400"/>
            <a:ext cx="401400" cy="3642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5" name="Google Shape;345;g2f5fdc1cbb4_0_130"/>
          <p:cNvCxnSpPr/>
          <p:nvPr/>
        </p:nvCxnSpPr>
        <p:spPr>
          <a:xfrm>
            <a:off x="1953625" y="5470650"/>
            <a:ext cx="420300" cy="9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6" name="Google Shape;346;g2f5fdc1cbb4_0_130"/>
          <p:cNvCxnSpPr/>
          <p:nvPr/>
        </p:nvCxnSpPr>
        <p:spPr>
          <a:xfrm>
            <a:off x="1934950" y="5582700"/>
            <a:ext cx="438900" cy="3828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7" name="Google Shape;347;g2f5fdc1cbb4_0_130"/>
          <p:cNvCxnSpPr/>
          <p:nvPr/>
        </p:nvCxnSpPr>
        <p:spPr>
          <a:xfrm>
            <a:off x="2607300" y="5059775"/>
            <a:ext cx="504300" cy="3270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8" name="Google Shape;348;g2f5fdc1cbb4_0_130"/>
          <p:cNvCxnSpPr/>
          <p:nvPr/>
        </p:nvCxnSpPr>
        <p:spPr>
          <a:xfrm>
            <a:off x="2644650" y="5470650"/>
            <a:ext cx="4110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349" name="Google Shape;349;g2f5fdc1cbb4_0_130"/>
          <p:cNvCxnSpPr/>
          <p:nvPr/>
        </p:nvCxnSpPr>
        <p:spPr>
          <a:xfrm rot="10800000" flipH="1">
            <a:off x="2635300" y="5620025"/>
            <a:ext cx="420300" cy="3549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50" name="Google Shape;350;g2f5fdc1cbb4_0_130"/>
          <p:cNvSpPr txBox="1"/>
          <p:nvPr/>
        </p:nvSpPr>
        <p:spPr>
          <a:xfrm>
            <a:off x="3782225" y="5262850"/>
            <a:ext cx="5285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914400" marR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0.</a:t>
            </a:r>
            <a:r>
              <a:rPr lang="en-US" sz="1800" b="1" i="0" u="none" strike="noStrike" cap="non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6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0.6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1800" b="1" i="0" u="none" strike="noStrike" cap="non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0.3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0.4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lang="en-US" sz="1800" b="1" i="0" u="none" strike="noStrike" cap="none">
                <a:solidFill>
                  <a:srgbClr val="980000"/>
                </a:solidFill>
                <a:latin typeface="Arial"/>
                <a:ea typeface="Arial"/>
                <a:cs typeface="Arial"/>
                <a:sym typeface="Arial"/>
              </a:rPr>
              <a:t>0.1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1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0.2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0.5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2e12b04c68a_0_855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</p:txBody>
      </p:sp>
      <p:sp>
        <p:nvSpPr>
          <p:cNvPr id="358" name="Google Shape;358;g2e12b04c68a_0_855"/>
          <p:cNvSpPr txBox="1">
            <a:spLocks noGrp="1"/>
          </p:cNvSpPr>
          <p:nvPr>
            <p:ph type="body" idx="1"/>
          </p:nvPr>
        </p:nvSpPr>
        <p:spPr>
          <a:xfrm>
            <a:off x="457200" y="1067350"/>
            <a:ext cx="8229600" cy="50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It is an extension of a Markov chain that includes decisions and rewards:</a:t>
            </a:r>
            <a:endParaRPr sz="1800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b="1"/>
              <a:t>States (S)</a:t>
            </a:r>
            <a:r>
              <a:rPr lang="en-US" sz="1600"/>
              <a:t>: Set of possible states of the system.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b="1"/>
              <a:t>Actions (A)</a:t>
            </a:r>
            <a:r>
              <a:rPr lang="en-US" sz="1600"/>
              <a:t>: Set of possible actions that the agent can take.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b="1"/>
              <a:t>Transitions (P)</a:t>
            </a:r>
            <a:r>
              <a:rPr lang="en-US" sz="1600"/>
              <a:t>: Transition probabilities between states, given the actions.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b="1"/>
              <a:t>Rewards (R)</a:t>
            </a:r>
            <a:r>
              <a:rPr lang="en-US" sz="1600"/>
              <a:t>: Reward received after performing an action and transitioning to a new state.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e12b04c68a_0_873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</p:txBody>
      </p:sp>
      <p:sp>
        <p:nvSpPr>
          <p:cNvPr id="366" name="Google Shape;366;g2e12b04c68a_0_873"/>
          <p:cNvSpPr txBox="1">
            <a:spLocks noGrp="1"/>
          </p:cNvSpPr>
          <p:nvPr>
            <p:ph type="body" idx="1"/>
          </p:nvPr>
        </p:nvSpPr>
        <p:spPr>
          <a:xfrm>
            <a:off x="457200" y="1067350"/>
            <a:ext cx="8229600" cy="50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It is an extension of a Markov chain that includes decisions and rewards:</a:t>
            </a:r>
            <a:endParaRPr sz="1800"/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b="1"/>
              <a:t>States (S)</a:t>
            </a:r>
            <a:r>
              <a:rPr lang="en-US" sz="1600"/>
              <a:t>: Set of possible states of the system.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b="1"/>
              <a:t>Actions (A)</a:t>
            </a:r>
            <a:r>
              <a:rPr lang="en-US" sz="1600"/>
              <a:t>: Set of possible actions that the agent can take.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b="1"/>
              <a:t>Transitions (P)</a:t>
            </a:r>
            <a:r>
              <a:rPr lang="en-US" sz="1600"/>
              <a:t>: Transition probabilities between states, given the actions.</a:t>
            </a:r>
            <a:endParaRPr sz="1600"/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lang="en-US" sz="1600" b="1"/>
              <a:t>Rewards (R)</a:t>
            </a:r>
            <a:r>
              <a:rPr lang="en-US" sz="1600"/>
              <a:t>: Reward received after performing an action and transitioning to a new state.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Formally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b="1" i="1"/>
              <a:t>S</a:t>
            </a:r>
            <a:r>
              <a:rPr lang="en-US" sz="1800"/>
              <a:t>: Set of states.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 b="1" i="1"/>
              <a:t>A</a:t>
            </a:r>
            <a:r>
              <a:rPr lang="en-US" sz="1800"/>
              <a:t>: Set of actions.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/>
              <a:t>                  Probabilities of transition from </a:t>
            </a:r>
            <a:r>
              <a:rPr lang="en-US" sz="1800" i="1"/>
              <a:t>s </a:t>
            </a:r>
            <a:r>
              <a:rPr lang="en-US" sz="1800"/>
              <a:t>to </a:t>
            </a:r>
            <a:r>
              <a:rPr lang="en-US" sz="1800" i="1"/>
              <a:t>s' </a:t>
            </a:r>
            <a:r>
              <a:rPr lang="en-US" sz="1800"/>
              <a:t>by means of action </a:t>
            </a:r>
            <a:r>
              <a:rPr lang="en-US" sz="1800" i="1"/>
              <a:t>a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lang="en-US" sz="1800"/>
              <a:t>                 Reward for moving from </a:t>
            </a:r>
            <a:r>
              <a:rPr lang="en-US" sz="1800" i="1"/>
              <a:t>s </a:t>
            </a:r>
            <a:r>
              <a:rPr lang="en-US" sz="1800"/>
              <a:t>to </a:t>
            </a:r>
            <a:r>
              <a:rPr lang="en-US" sz="1800" i="1"/>
              <a:t>s' </a:t>
            </a:r>
            <a:r>
              <a:rPr lang="en-US" sz="1800"/>
              <a:t>by means of action </a:t>
            </a:r>
            <a:r>
              <a:rPr lang="en-US" sz="1800" i="1"/>
              <a:t>a</a:t>
            </a:r>
            <a:r>
              <a:rPr lang="en-US" sz="1800"/>
              <a:t>.</a:t>
            </a:r>
            <a:endParaRPr sz="16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  <p:pic>
        <p:nvPicPr>
          <p:cNvPr id="367" name="Google Shape;367;g2e12b04c68a_0_873"/>
          <p:cNvPicPr preferRelativeResize="0"/>
          <p:nvPr/>
        </p:nvPicPr>
        <p:blipFill rotWithShape="1">
          <a:blip r:embed="rId3">
            <a:alphaModFix/>
          </a:blip>
          <a:srcRect b="62239"/>
          <a:stretch/>
        </p:blipFill>
        <p:spPr>
          <a:xfrm>
            <a:off x="894600" y="4953075"/>
            <a:ext cx="1168150" cy="32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g2e12b04c68a_0_873"/>
          <p:cNvPicPr preferRelativeResize="0"/>
          <p:nvPr/>
        </p:nvPicPr>
        <p:blipFill rotWithShape="1">
          <a:blip r:embed="rId3">
            <a:alphaModFix/>
          </a:blip>
          <a:srcRect t="62238"/>
          <a:stretch/>
        </p:blipFill>
        <p:spPr>
          <a:xfrm>
            <a:off x="894600" y="5276725"/>
            <a:ext cx="1168150" cy="32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2e12b04c68a_0_863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</p:txBody>
      </p:sp>
      <p:sp>
        <p:nvSpPr>
          <p:cNvPr id="376" name="Google Shape;376;g2e12b04c68a_0_863"/>
          <p:cNvSpPr txBox="1">
            <a:spLocks noGrp="1"/>
          </p:cNvSpPr>
          <p:nvPr>
            <p:ph type="body" idx="1"/>
          </p:nvPr>
        </p:nvSpPr>
        <p:spPr>
          <a:xfrm>
            <a:off x="457200" y="1067350"/>
            <a:ext cx="8229600" cy="50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</a:t>
            </a:r>
            <a:r>
              <a:rPr lang="en-US" sz="1800"/>
              <a:t>: Considering the weather example seen above: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States: Sunny (S), Cloudy (C), and Rainy (R).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Actions: Go for a walk (W), Stay at home (H).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sz="1800"/>
              <a:t>Transitions:                               Rewards: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  <p:graphicFrame>
        <p:nvGraphicFramePr>
          <p:cNvPr id="377" name="Google Shape;377;g2e12b04c68a_0_863"/>
          <p:cNvGraphicFramePr/>
          <p:nvPr/>
        </p:nvGraphicFramePr>
        <p:xfrm>
          <a:off x="1076800" y="25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8" name="Google Shape;378;g2e12b04c68a_0_863"/>
          <p:cNvGraphicFramePr/>
          <p:nvPr/>
        </p:nvGraphicFramePr>
        <p:xfrm>
          <a:off x="4198125" y="25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W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-10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H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2e12b04c68a_0_932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</p:txBody>
      </p:sp>
      <p:sp>
        <p:nvSpPr>
          <p:cNvPr id="386" name="Google Shape;386;g2e12b04c68a_0_932"/>
          <p:cNvSpPr txBox="1">
            <a:spLocks noGrp="1"/>
          </p:cNvSpPr>
          <p:nvPr>
            <p:ph type="body" idx="1"/>
          </p:nvPr>
        </p:nvSpPr>
        <p:spPr>
          <a:xfrm>
            <a:off x="457200" y="1067350"/>
            <a:ext cx="8229600" cy="50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</a:t>
            </a:r>
            <a:r>
              <a:rPr lang="en-US" sz="1800"/>
              <a:t>: Considering the weather example seen above:</a:t>
            </a:r>
            <a:br>
              <a:rPr lang="en-US" sz="1800"/>
            </a:br>
            <a:r>
              <a:rPr lang="en-US" sz="1800"/>
              <a:t>Transitions:                                         Rewards: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i="1"/>
              <a:t>P</a:t>
            </a:r>
            <a:r>
              <a:rPr lang="en-US" sz="1400" b="1" i="1" baseline="-25000"/>
              <a:t>XY</a:t>
            </a:r>
            <a:r>
              <a:rPr lang="en-US" sz="1400"/>
              <a:t> : probability of transition from state X to Y.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i="1"/>
              <a:t>R</a:t>
            </a:r>
            <a:r>
              <a:rPr lang="en-US" sz="1400" b="1" i="1" baseline="-25000"/>
              <a:t>A</a:t>
            </a:r>
            <a:r>
              <a:rPr lang="en-US" sz="1400" b="1" i="1"/>
              <a:t> (X)</a:t>
            </a:r>
            <a:r>
              <a:rPr lang="en-US" sz="1400" b="1"/>
              <a:t>: </a:t>
            </a:r>
            <a:r>
              <a:rPr lang="en-US" sz="1400"/>
              <a:t>the reward of action </a:t>
            </a:r>
            <a:r>
              <a:rPr lang="en-US" sz="1400" i="1"/>
              <a:t>A </a:t>
            </a:r>
            <a:r>
              <a:rPr lang="en-US" sz="1400"/>
              <a:t>in state </a:t>
            </a:r>
            <a:r>
              <a:rPr lang="en-US" sz="1400" i="1"/>
              <a:t>X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70"/>
              <a:buNone/>
            </a:pPr>
            <a:r>
              <a:rPr lang="en-US" sz="1800"/>
              <a:t>Today is cloudy (C). What action should the agent plan for tomorrow to maximize his expected reward?</a:t>
            </a:r>
            <a:endParaRPr sz="1800"/>
          </a:p>
        </p:txBody>
      </p:sp>
      <p:graphicFrame>
        <p:nvGraphicFramePr>
          <p:cNvPr id="387" name="Google Shape;387;g2e12b04c68a_0_932"/>
          <p:cNvGraphicFramePr/>
          <p:nvPr/>
        </p:nvGraphicFramePr>
        <p:xfrm>
          <a:off x="1979150" y="149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8" name="Google Shape;388;g2e12b04c68a_0_932"/>
          <p:cNvGraphicFramePr/>
          <p:nvPr/>
        </p:nvGraphicFramePr>
        <p:xfrm>
          <a:off x="6103125" y="148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W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-10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H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2f5fdc1cbb4_0_151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</p:txBody>
      </p:sp>
      <p:sp>
        <p:nvSpPr>
          <p:cNvPr id="396" name="Google Shape;396;g2f5fdc1cbb4_0_151"/>
          <p:cNvSpPr txBox="1">
            <a:spLocks noGrp="1"/>
          </p:cNvSpPr>
          <p:nvPr>
            <p:ph type="body" idx="1"/>
          </p:nvPr>
        </p:nvSpPr>
        <p:spPr>
          <a:xfrm>
            <a:off x="457200" y="1067350"/>
            <a:ext cx="8229600" cy="50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</a:t>
            </a:r>
            <a:r>
              <a:rPr lang="en-US" sz="1800"/>
              <a:t>: Considering the weather example seen above:</a:t>
            </a:r>
            <a:br>
              <a:rPr lang="en-US" sz="1800"/>
            </a:br>
            <a:r>
              <a:rPr lang="en-US" sz="1800"/>
              <a:t>Transitions:                                         Rewards: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i="1"/>
              <a:t>P</a:t>
            </a:r>
            <a:r>
              <a:rPr lang="en-US" sz="1400" b="1" i="1" baseline="-25000"/>
              <a:t>XY</a:t>
            </a:r>
            <a:r>
              <a:rPr lang="en-US" sz="1400"/>
              <a:t> : probability of transition from state X to Y.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i="1"/>
              <a:t>U</a:t>
            </a:r>
            <a:r>
              <a:rPr lang="en-US" sz="1400" b="1" i="1" baseline="-25000"/>
              <a:t>A</a:t>
            </a:r>
            <a:r>
              <a:rPr lang="en-US" sz="1400" b="1" i="1"/>
              <a:t> (X)</a:t>
            </a:r>
            <a:r>
              <a:rPr lang="en-US" sz="1400" b="1"/>
              <a:t>: </a:t>
            </a:r>
            <a:r>
              <a:rPr lang="en-US" sz="1400"/>
              <a:t>the reward of action </a:t>
            </a:r>
            <a:r>
              <a:rPr lang="en-US" sz="1400" i="1"/>
              <a:t>A </a:t>
            </a:r>
            <a:r>
              <a:rPr lang="en-US" sz="1400"/>
              <a:t>in state </a:t>
            </a:r>
            <a:r>
              <a:rPr lang="en-US" sz="1400" i="1"/>
              <a:t>X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Today is cloudy (C). What action should the agent plan for tomorrow to maximize his expected reward?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None/>
            </a:pPr>
            <a:r>
              <a:rPr lang="en-US" sz="1800"/>
              <a:t>The expected reward of action W would be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</a:pPr>
            <a:r>
              <a:rPr lang="en-US" sz="1800" i="1"/>
              <a:t>E(U</a:t>
            </a:r>
            <a:r>
              <a:rPr lang="en-US" sz="1800" i="1" baseline="-25000"/>
              <a:t>W</a:t>
            </a:r>
            <a:r>
              <a:rPr lang="en-US" sz="1800" i="1"/>
              <a:t> ) = P</a:t>
            </a:r>
            <a:r>
              <a:rPr lang="en-US" sz="1800" i="1" baseline="-25000"/>
              <a:t>CS</a:t>
            </a:r>
            <a:r>
              <a:rPr lang="en-US" sz="1800" i="1"/>
              <a:t> * U</a:t>
            </a:r>
            <a:r>
              <a:rPr lang="en-US" sz="1800" i="1" baseline="-25000"/>
              <a:t>W</a:t>
            </a:r>
            <a:r>
              <a:rPr lang="en-US" sz="1800" i="1"/>
              <a:t> (S) + P</a:t>
            </a:r>
            <a:r>
              <a:rPr lang="en-US" sz="1800" i="1" baseline="-25000"/>
              <a:t>CC</a:t>
            </a:r>
            <a:r>
              <a:rPr lang="en-US" sz="1800" i="1"/>
              <a:t> * U</a:t>
            </a:r>
            <a:r>
              <a:rPr lang="en-US" sz="1800" i="1" baseline="-25000"/>
              <a:t>W</a:t>
            </a:r>
            <a:r>
              <a:rPr lang="en-US" sz="1800" i="1"/>
              <a:t> (C) + P</a:t>
            </a:r>
            <a:r>
              <a:rPr lang="en-US" sz="1700" i="1" baseline="-25000"/>
              <a:t>CR</a:t>
            </a:r>
            <a:r>
              <a:rPr lang="en-US" sz="1800" i="1"/>
              <a:t>* U</a:t>
            </a:r>
            <a:r>
              <a:rPr lang="en-US" sz="1800" i="1" baseline="-25000"/>
              <a:t>W</a:t>
            </a:r>
            <a:r>
              <a:rPr lang="en-US" sz="1800" i="1"/>
              <a:t> (R)</a:t>
            </a:r>
            <a:endParaRPr sz="1800"/>
          </a:p>
        </p:txBody>
      </p:sp>
      <p:graphicFrame>
        <p:nvGraphicFramePr>
          <p:cNvPr id="397" name="Google Shape;397;g2f5fdc1cbb4_0_151"/>
          <p:cNvGraphicFramePr/>
          <p:nvPr/>
        </p:nvGraphicFramePr>
        <p:xfrm>
          <a:off x="1979150" y="149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98" name="Google Shape;398;g2f5fdc1cbb4_0_151"/>
          <p:cNvGraphicFramePr/>
          <p:nvPr/>
        </p:nvGraphicFramePr>
        <p:xfrm>
          <a:off x="6103125" y="148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W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-10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H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2f5fdc1cbb4_1_0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</p:txBody>
      </p:sp>
      <p:sp>
        <p:nvSpPr>
          <p:cNvPr id="406" name="Google Shape;406;g2f5fdc1cbb4_1_0"/>
          <p:cNvSpPr txBox="1">
            <a:spLocks noGrp="1"/>
          </p:cNvSpPr>
          <p:nvPr>
            <p:ph type="body" idx="1"/>
          </p:nvPr>
        </p:nvSpPr>
        <p:spPr>
          <a:xfrm>
            <a:off x="457200" y="1067350"/>
            <a:ext cx="8229600" cy="50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</a:t>
            </a:r>
            <a:r>
              <a:rPr lang="en-US" sz="1800"/>
              <a:t>: Considering the weather example seen above:</a:t>
            </a:r>
            <a:br>
              <a:rPr lang="en-US" sz="1800"/>
            </a:br>
            <a:r>
              <a:rPr lang="en-US" sz="1800"/>
              <a:t>Transitions:                                         Rewards: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i="1"/>
              <a:t>P</a:t>
            </a:r>
            <a:r>
              <a:rPr lang="en-US" sz="1400" b="1" i="1" baseline="-25000"/>
              <a:t>XY</a:t>
            </a:r>
            <a:r>
              <a:rPr lang="en-US" sz="1400"/>
              <a:t> : probability of transition from state X to Y.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i="1"/>
              <a:t>U</a:t>
            </a:r>
            <a:r>
              <a:rPr lang="en-US" sz="1400" b="1" i="1" baseline="-25000"/>
              <a:t>A</a:t>
            </a:r>
            <a:r>
              <a:rPr lang="en-US" sz="1400" b="1" i="1"/>
              <a:t> (X)</a:t>
            </a:r>
            <a:r>
              <a:rPr lang="en-US" sz="1400" b="1"/>
              <a:t>: </a:t>
            </a:r>
            <a:r>
              <a:rPr lang="en-US" sz="1400"/>
              <a:t>the reward of action </a:t>
            </a:r>
            <a:r>
              <a:rPr lang="en-US" sz="1400" i="1"/>
              <a:t>A </a:t>
            </a:r>
            <a:r>
              <a:rPr lang="en-US" sz="1400"/>
              <a:t>in state </a:t>
            </a:r>
            <a:r>
              <a:rPr lang="en-US" sz="1400" i="1"/>
              <a:t>X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Today is cloudy (C). What action should the agent plan for tomorrow to maximize his expected reward?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None/>
            </a:pPr>
            <a:r>
              <a:rPr lang="en-US" sz="1800"/>
              <a:t>The expected reward of action W would be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</a:pPr>
            <a:r>
              <a:rPr lang="en-US" sz="1800" i="1"/>
              <a:t>E(U</a:t>
            </a:r>
            <a:r>
              <a:rPr lang="en-US" sz="1800" i="1" baseline="-25000"/>
              <a:t>W</a:t>
            </a:r>
            <a:r>
              <a:rPr lang="en-US" sz="1800" i="1"/>
              <a:t> ) = P</a:t>
            </a:r>
            <a:r>
              <a:rPr lang="en-US" sz="1800" i="1" baseline="-25000"/>
              <a:t>CS</a:t>
            </a:r>
            <a:r>
              <a:rPr lang="en-US" sz="1800" i="1"/>
              <a:t> * U</a:t>
            </a:r>
            <a:r>
              <a:rPr lang="en-US" sz="1800" i="1" baseline="-25000"/>
              <a:t>W</a:t>
            </a:r>
            <a:r>
              <a:rPr lang="en-US" sz="1800" i="1"/>
              <a:t> (S) + P</a:t>
            </a:r>
            <a:r>
              <a:rPr lang="en-US" sz="1800" i="1" baseline="-25000"/>
              <a:t>CC</a:t>
            </a:r>
            <a:r>
              <a:rPr lang="en-US" sz="1800" i="1"/>
              <a:t> * U</a:t>
            </a:r>
            <a:r>
              <a:rPr lang="en-US" sz="1800" i="1" baseline="-25000"/>
              <a:t>W</a:t>
            </a:r>
            <a:r>
              <a:rPr lang="en-US" sz="1800" i="1"/>
              <a:t> (C) + P</a:t>
            </a:r>
            <a:r>
              <a:rPr lang="en-US" sz="1700" i="1" baseline="-25000"/>
              <a:t>CR</a:t>
            </a:r>
            <a:r>
              <a:rPr lang="en-US" sz="1800" i="1"/>
              <a:t>* U</a:t>
            </a:r>
            <a:r>
              <a:rPr lang="en-US" sz="1800" i="1" baseline="-25000"/>
              <a:t>W</a:t>
            </a:r>
            <a:r>
              <a:rPr lang="en-US" sz="1800" i="1"/>
              <a:t> (R)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i="1"/>
              <a:t>E(U</a:t>
            </a:r>
            <a:r>
              <a:rPr lang="en-US" sz="1800" i="1" baseline="-25000"/>
              <a:t>W</a:t>
            </a:r>
            <a:r>
              <a:rPr lang="en-US" sz="1800" i="1"/>
              <a:t> ) = .4 * 10 + .4 * 5 + .2 * -10 = 4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 i="1"/>
              <a:t>E(U</a:t>
            </a:r>
            <a:r>
              <a:rPr lang="en-US" sz="1800" b="1" i="1" baseline="-25000"/>
              <a:t>H</a:t>
            </a:r>
            <a:r>
              <a:rPr lang="en-US" sz="1800" b="1" i="1"/>
              <a:t> ) = ?</a:t>
            </a:r>
            <a:endParaRPr sz="1800" b="1" i="1"/>
          </a:p>
        </p:txBody>
      </p:sp>
      <p:graphicFrame>
        <p:nvGraphicFramePr>
          <p:cNvPr id="407" name="Google Shape;407;g2f5fdc1cbb4_1_0"/>
          <p:cNvGraphicFramePr/>
          <p:nvPr/>
        </p:nvGraphicFramePr>
        <p:xfrm>
          <a:off x="1979150" y="149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08" name="Google Shape;408;g2f5fdc1cbb4_1_0"/>
          <p:cNvGraphicFramePr/>
          <p:nvPr/>
        </p:nvGraphicFramePr>
        <p:xfrm>
          <a:off x="6103125" y="148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W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-10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H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2f5fdc1cbb4_1_9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</p:txBody>
      </p:sp>
      <p:sp>
        <p:nvSpPr>
          <p:cNvPr id="416" name="Google Shape;416;g2f5fdc1cbb4_1_9"/>
          <p:cNvSpPr txBox="1">
            <a:spLocks noGrp="1"/>
          </p:cNvSpPr>
          <p:nvPr>
            <p:ph type="body" idx="1"/>
          </p:nvPr>
        </p:nvSpPr>
        <p:spPr>
          <a:xfrm>
            <a:off x="457200" y="1067350"/>
            <a:ext cx="8229600" cy="50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</a:t>
            </a:r>
            <a:r>
              <a:rPr lang="en-US" sz="1800"/>
              <a:t>: Considering the weather example seen above:</a:t>
            </a:r>
            <a:br>
              <a:rPr lang="en-US" sz="1800"/>
            </a:br>
            <a:r>
              <a:rPr lang="en-US" sz="1800"/>
              <a:t>Transitions:                                         Rewards: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i="1"/>
              <a:t>P</a:t>
            </a:r>
            <a:r>
              <a:rPr lang="en-US" sz="1400" b="1" i="1" baseline="-25000"/>
              <a:t>XY</a:t>
            </a:r>
            <a:r>
              <a:rPr lang="en-US" sz="1400"/>
              <a:t> : probability of transition from state X to Y.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i="1"/>
              <a:t>U</a:t>
            </a:r>
            <a:r>
              <a:rPr lang="en-US" sz="1400" b="1" i="1" baseline="-25000"/>
              <a:t>A</a:t>
            </a:r>
            <a:r>
              <a:rPr lang="en-US" sz="1400" b="1" i="1"/>
              <a:t> (X)</a:t>
            </a:r>
            <a:r>
              <a:rPr lang="en-US" sz="1400" b="1"/>
              <a:t>: </a:t>
            </a:r>
            <a:r>
              <a:rPr lang="en-US" sz="1400"/>
              <a:t>the reward of action </a:t>
            </a:r>
            <a:r>
              <a:rPr lang="en-US" sz="1400" i="1"/>
              <a:t>A </a:t>
            </a:r>
            <a:r>
              <a:rPr lang="en-US" sz="1400"/>
              <a:t>in state </a:t>
            </a:r>
            <a:r>
              <a:rPr lang="en-US" sz="1400" i="1"/>
              <a:t>X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Today is cloudy (C). What action should the agent plan for tomorrow to maximize his expected reward?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None/>
            </a:pPr>
            <a:r>
              <a:rPr lang="en-US" sz="1800"/>
              <a:t>The expected reward of action W would be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</a:pPr>
            <a:r>
              <a:rPr lang="en-US" sz="1800" i="1"/>
              <a:t>E(U</a:t>
            </a:r>
            <a:r>
              <a:rPr lang="en-US" sz="1800" i="1" baseline="-25000"/>
              <a:t>W</a:t>
            </a:r>
            <a:r>
              <a:rPr lang="en-US" sz="1800" i="1"/>
              <a:t> ) = P</a:t>
            </a:r>
            <a:r>
              <a:rPr lang="en-US" sz="1800" i="1" baseline="-25000"/>
              <a:t>CS</a:t>
            </a:r>
            <a:r>
              <a:rPr lang="en-US" sz="1800" i="1"/>
              <a:t> * U</a:t>
            </a:r>
            <a:r>
              <a:rPr lang="en-US" sz="1800" i="1" baseline="-25000"/>
              <a:t>W</a:t>
            </a:r>
            <a:r>
              <a:rPr lang="en-US" sz="1800" i="1"/>
              <a:t> (S) + P</a:t>
            </a:r>
            <a:r>
              <a:rPr lang="en-US" sz="1800" i="1" baseline="-25000"/>
              <a:t>CC</a:t>
            </a:r>
            <a:r>
              <a:rPr lang="en-US" sz="1800" i="1"/>
              <a:t> * U</a:t>
            </a:r>
            <a:r>
              <a:rPr lang="en-US" sz="1800" i="1" baseline="-25000"/>
              <a:t>W</a:t>
            </a:r>
            <a:r>
              <a:rPr lang="en-US" sz="1800" i="1"/>
              <a:t> (C) + P</a:t>
            </a:r>
            <a:r>
              <a:rPr lang="en-US" sz="1700" i="1" baseline="-25000"/>
              <a:t>CR</a:t>
            </a:r>
            <a:r>
              <a:rPr lang="en-US" sz="1800" i="1"/>
              <a:t>* U</a:t>
            </a:r>
            <a:r>
              <a:rPr lang="en-US" sz="1800" i="1" baseline="-25000"/>
              <a:t>W</a:t>
            </a:r>
            <a:r>
              <a:rPr lang="en-US" sz="1800" i="1"/>
              <a:t> (R)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i="1"/>
              <a:t>E(U</a:t>
            </a:r>
            <a:r>
              <a:rPr lang="en-US" sz="1800" i="1" baseline="-25000"/>
              <a:t>W</a:t>
            </a:r>
            <a:r>
              <a:rPr lang="en-US" sz="1800" i="1"/>
              <a:t> ) = .4 * 10 + .4 * 5 + .2 * -10 = 4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i="1"/>
              <a:t>E(U</a:t>
            </a:r>
            <a:r>
              <a:rPr lang="en-US" sz="1800" i="1" baseline="-25000"/>
              <a:t>H</a:t>
            </a:r>
            <a:r>
              <a:rPr lang="en-US" sz="1800" i="1"/>
              <a:t> ) = .4 * 2 + .4 * 3 + .2 * 1 = 2.2</a:t>
            </a:r>
            <a:endParaRPr sz="1800" i="1"/>
          </a:p>
        </p:txBody>
      </p:sp>
      <p:graphicFrame>
        <p:nvGraphicFramePr>
          <p:cNvPr id="417" name="Google Shape;417;g2f5fdc1cbb4_1_9"/>
          <p:cNvGraphicFramePr/>
          <p:nvPr/>
        </p:nvGraphicFramePr>
        <p:xfrm>
          <a:off x="1979150" y="149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18" name="Google Shape;418;g2f5fdc1cbb4_1_9"/>
          <p:cNvGraphicFramePr/>
          <p:nvPr/>
        </p:nvGraphicFramePr>
        <p:xfrm>
          <a:off x="6103125" y="148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W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-10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H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2f5fdc1cbb4_1_18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</p:txBody>
      </p:sp>
      <p:sp>
        <p:nvSpPr>
          <p:cNvPr id="426" name="Google Shape;426;g2f5fdc1cbb4_1_18"/>
          <p:cNvSpPr txBox="1">
            <a:spLocks noGrp="1"/>
          </p:cNvSpPr>
          <p:nvPr>
            <p:ph type="body" idx="1"/>
          </p:nvPr>
        </p:nvSpPr>
        <p:spPr>
          <a:xfrm>
            <a:off x="457200" y="1067350"/>
            <a:ext cx="8229600" cy="50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</a:t>
            </a:r>
            <a:r>
              <a:rPr lang="en-US" sz="1800"/>
              <a:t>: Considering the weather example seen above:</a:t>
            </a:r>
            <a:br>
              <a:rPr lang="en-US" sz="1800"/>
            </a:br>
            <a:r>
              <a:rPr lang="en-US" sz="1800"/>
              <a:t>Transitions:                                         Rewards: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i="1"/>
              <a:t>P</a:t>
            </a:r>
            <a:r>
              <a:rPr lang="en-US" sz="1400" b="1" i="1" baseline="-25000"/>
              <a:t>XY</a:t>
            </a:r>
            <a:r>
              <a:rPr lang="en-US" sz="1400"/>
              <a:t> : probability of transition from state X to Y.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i="1"/>
              <a:t>U</a:t>
            </a:r>
            <a:r>
              <a:rPr lang="en-US" sz="1400" b="1" i="1" baseline="-25000"/>
              <a:t>A</a:t>
            </a:r>
            <a:r>
              <a:rPr lang="en-US" sz="1400" b="1" i="1"/>
              <a:t> (X)</a:t>
            </a:r>
            <a:r>
              <a:rPr lang="en-US" sz="1400" b="1"/>
              <a:t>: </a:t>
            </a:r>
            <a:r>
              <a:rPr lang="en-US" sz="1400"/>
              <a:t>the reward of action </a:t>
            </a:r>
            <a:r>
              <a:rPr lang="en-US" sz="1400" i="1"/>
              <a:t>A </a:t>
            </a:r>
            <a:r>
              <a:rPr lang="en-US" sz="1400"/>
              <a:t>in state </a:t>
            </a:r>
            <a:r>
              <a:rPr lang="en-US" sz="1400" i="1"/>
              <a:t>X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Today is cloudy (C). What action should the agent plan for tomorrow to maximize his expected reward?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70"/>
              <a:buFont typeface="Arial"/>
              <a:buNone/>
            </a:pPr>
            <a:r>
              <a:rPr lang="en-US" sz="1800"/>
              <a:t>The expected reward of action W would be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</a:pPr>
            <a:r>
              <a:rPr lang="en-US" sz="1800" i="1"/>
              <a:t>E(U</a:t>
            </a:r>
            <a:r>
              <a:rPr lang="en-US" sz="1800" i="1" baseline="-25000"/>
              <a:t>W</a:t>
            </a:r>
            <a:r>
              <a:rPr lang="en-US" sz="1800" i="1"/>
              <a:t> ) = P</a:t>
            </a:r>
            <a:r>
              <a:rPr lang="en-US" sz="1800" i="1" baseline="-25000"/>
              <a:t>CS</a:t>
            </a:r>
            <a:r>
              <a:rPr lang="en-US" sz="1800" i="1"/>
              <a:t> * U</a:t>
            </a:r>
            <a:r>
              <a:rPr lang="en-US" sz="1800" i="1" baseline="-25000"/>
              <a:t>W</a:t>
            </a:r>
            <a:r>
              <a:rPr lang="en-US" sz="1800" i="1"/>
              <a:t> (S) + P</a:t>
            </a:r>
            <a:r>
              <a:rPr lang="en-US" sz="1800" i="1" baseline="-25000"/>
              <a:t>CC</a:t>
            </a:r>
            <a:r>
              <a:rPr lang="en-US" sz="1800" i="1"/>
              <a:t> * U</a:t>
            </a:r>
            <a:r>
              <a:rPr lang="en-US" sz="1800" i="1" baseline="-25000"/>
              <a:t>W</a:t>
            </a:r>
            <a:r>
              <a:rPr lang="en-US" sz="1800" i="1"/>
              <a:t> (C) + P</a:t>
            </a:r>
            <a:r>
              <a:rPr lang="en-US" sz="1700" i="1" baseline="-25000"/>
              <a:t>CR</a:t>
            </a:r>
            <a:r>
              <a:rPr lang="en-US" sz="1800" i="1"/>
              <a:t>* U</a:t>
            </a:r>
            <a:r>
              <a:rPr lang="en-US" sz="1800" i="1" baseline="-25000"/>
              <a:t>W</a:t>
            </a:r>
            <a:r>
              <a:rPr lang="en-US" sz="1800" i="1"/>
              <a:t> (R)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</a:pPr>
            <a:r>
              <a:rPr lang="en-US" sz="1800" b="1" i="1">
                <a:solidFill>
                  <a:schemeClr val="dk2"/>
                </a:solidFill>
              </a:rPr>
              <a:t>E(U</a:t>
            </a:r>
            <a:r>
              <a:rPr lang="en-US" sz="1800" b="1" i="1" baseline="-25000">
                <a:solidFill>
                  <a:schemeClr val="dk2"/>
                </a:solidFill>
              </a:rPr>
              <a:t>W</a:t>
            </a:r>
            <a:r>
              <a:rPr lang="en-US" sz="1800" b="1" i="1">
                <a:solidFill>
                  <a:schemeClr val="dk2"/>
                </a:solidFill>
              </a:rPr>
              <a:t> ) = .4 * 10 + .4 * 5 + .2 * -10 = 4</a:t>
            </a:r>
            <a:endParaRPr sz="1800" b="1" i="1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i="1"/>
              <a:t>E(U</a:t>
            </a:r>
            <a:r>
              <a:rPr lang="en-US" sz="1800" i="1" baseline="-25000"/>
              <a:t>H</a:t>
            </a:r>
            <a:r>
              <a:rPr lang="en-US" sz="1800" i="1"/>
              <a:t> ) = .4 * 2 + .4 * 3 + .2 * 1 = 2.2</a:t>
            </a:r>
            <a:endParaRPr sz="1800" i="1"/>
          </a:p>
        </p:txBody>
      </p:sp>
      <p:graphicFrame>
        <p:nvGraphicFramePr>
          <p:cNvPr id="427" name="Google Shape;427;g2f5fdc1cbb4_1_18"/>
          <p:cNvGraphicFramePr/>
          <p:nvPr/>
        </p:nvGraphicFramePr>
        <p:xfrm>
          <a:off x="1979150" y="149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28" name="Google Shape;428;g2f5fdc1cbb4_1_18"/>
          <p:cNvGraphicFramePr/>
          <p:nvPr/>
        </p:nvGraphicFramePr>
        <p:xfrm>
          <a:off x="6103125" y="148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W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-10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H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f5fdc1cbb4_1_27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</p:txBody>
      </p:sp>
      <p:sp>
        <p:nvSpPr>
          <p:cNvPr id="436" name="Google Shape;436;g2f5fdc1cbb4_1_27"/>
          <p:cNvSpPr txBox="1">
            <a:spLocks noGrp="1"/>
          </p:cNvSpPr>
          <p:nvPr>
            <p:ph type="body" idx="1"/>
          </p:nvPr>
        </p:nvSpPr>
        <p:spPr>
          <a:xfrm>
            <a:off x="457200" y="1067350"/>
            <a:ext cx="8229600" cy="50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</a:t>
            </a:r>
            <a:r>
              <a:rPr lang="en-US" sz="1800"/>
              <a:t>: Considering the weather example seen above:</a:t>
            </a:r>
            <a:br>
              <a:rPr lang="en-US" sz="1800"/>
            </a:br>
            <a:r>
              <a:rPr lang="en-US" sz="1800"/>
              <a:t>Transitions:                                         Rewards: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i="1"/>
              <a:t>P</a:t>
            </a:r>
            <a:r>
              <a:rPr lang="en-US" sz="1400" b="1" i="1" baseline="-25000"/>
              <a:t>XY</a:t>
            </a:r>
            <a:r>
              <a:rPr lang="en-US" sz="1400"/>
              <a:t> : probability of transition from state X to Y.</a:t>
            </a:r>
            <a:endParaRPr sz="1400"/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-US" sz="1400" b="1" i="1"/>
              <a:t>U</a:t>
            </a:r>
            <a:r>
              <a:rPr lang="en-US" sz="1400" b="1" i="1" baseline="-25000"/>
              <a:t>A</a:t>
            </a:r>
            <a:r>
              <a:rPr lang="en-US" sz="1400" b="1" i="1"/>
              <a:t> (X)</a:t>
            </a:r>
            <a:r>
              <a:rPr lang="en-US" sz="1400" b="1"/>
              <a:t>: </a:t>
            </a:r>
            <a:r>
              <a:rPr lang="en-US" sz="1400"/>
              <a:t>the reward of action </a:t>
            </a:r>
            <a:r>
              <a:rPr lang="en-US" sz="1400" i="1"/>
              <a:t>A </a:t>
            </a:r>
            <a:r>
              <a:rPr lang="en-US" sz="1400"/>
              <a:t>in state </a:t>
            </a:r>
            <a:r>
              <a:rPr lang="en-US" sz="1400" i="1"/>
              <a:t>X</a:t>
            </a:r>
            <a:endParaRPr sz="14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Today is cloudy (C). </a:t>
            </a:r>
            <a:r>
              <a:rPr lang="en-US" sz="1800">
                <a:solidFill>
                  <a:srgbClr val="980000"/>
                </a:solidFill>
              </a:rPr>
              <a:t>What action should the agent plan for the </a:t>
            </a:r>
            <a:r>
              <a:rPr lang="en-US" sz="1800" b="1">
                <a:solidFill>
                  <a:srgbClr val="980000"/>
                </a:solidFill>
              </a:rPr>
              <a:t>day after tomorrow </a:t>
            </a:r>
            <a:r>
              <a:rPr lang="en-US" sz="1800">
                <a:solidFill>
                  <a:srgbClr val="980000"/>
                </a:solidFill>
              </a:rPr>
              <a:t>to maximize his expected reward?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■"/>
            </a:pPr>
            <a:r>
              <a:rPr lang="en-US" sz="1800" i="1"/>
              <a:t>E(U</a:t>
            </a:r>
            <a:r>
              <a:rPr lang="en-US" sz="1800" i="1" baseline="-25000"/>
              <a:t>W</a:t>
            </a:r>
            <a:r>
              <a:rPr lang="en-US" sz="1800" i="1"/>
              <a:t> ) = P</a:t>
            </a:r>
            <a:r>
              <a:rPr lang="en-US" sz="1800" i="1" baseline="-25000"/>
              <a:t>CS</a:t>
            </a:r>
            <a:r>
              <a:rPr lang="en-US" sz="1800" i="1"/>
              <a:t> * U</a:t>
            </a:r>
            <a:r>
              <a:rPr lang="en-US" sz="1800" i="1" baseline="-25000"/>
              <a:t>W</a:t>
            </a:r>
            <a:r>
              <a:rPr lang="en-US" sz="1800" i="1"/>
              <a:t> (S) + P</a:t>
            </a:r>
            <a:r>
              <a:rPr lang="en-US" sz="1800" i="1" baseline="-25000"/>
              <a:t>CC</a:t>
            </a:r>
            <a:r>
              <a:rPr lang="en-US" sz="1800" i="1"/>
              <a:t> * U</a:t>
            </a:r>
            <a:r>
              <a:rPr lang="en-US" sz="1800" i="1" baseline="-25000"/>
              <a:t>W</a:t>
            </a:r>
            <a:r>
              <a:rPr lang="en-US" sz="1800" i="1"/>
              <a:t> (C) + P</a:t>
            </a:r>
            <a:r>
              <a:rPr lang="en-US" sz="1700" i="1" baseline="-25000"/>
              <a:t>CR</a:t>
            </a:r>
            <a:r>
              <a:rPr lang="en-US" sz="1800" i="1"/>
              <a:t>* U</a:t>
            </a:r>
            <a:r>
              <a:rPr lang="en-US" sz="1800" i="1" baseline="-25000"/>
              <a:t>W</a:t>
            </a:r>
            <a:r>
              <a:rPr lang="en-US" sz="1800" i="1"/>
              <a:t> (R)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</a:pPr>
            <a:r>
              <a:rPr lang="en-US" sz="1800" b="1" i="1">
                <a:solidFill>
                  <a:schemeClr val="dk2"/>
                </a:solidFill>
              </a:rPr>
              <a:t>E(U</a:t>
            </a:r>
            <a:r>
              <a:rPr lang="en-US" sz="1800" b="1" i="1" baseline="-25000">
                <a:solidFill>
                  <a:schemeClr val="dk2"/>
                </a:solidFill>
              </a:rPr>
              <a:t>W</a:t>
            </a:r>
            <a:r>
              <a:rPr lang="en-US" sz="1800" b="1" i="1">
                <a:solidFill>
                  <a:schemeClr val="dk2"/>
                </a:solidFill>
              </a:rPr>
              <a:t> ) = .4 * 10 + .4 * 5 + .2 * -10 = 4</a:t>
            </a:r>
            <a:endParaRPr sz="1800" b="1" i="1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i="1"/>
              <a:t>E(U</a:t>
            </a:r>
            <a:r>
              <a:rPr lang="en-US" sz="1800" i="1" baseline="-25000"/>
              <a:t>H</a:t>
            </a:r>
            <a:r>
              <a:rPr lang="en-US" sz="1800" i="1"/>
              <a:t> ) = .4 * 2 + .4 * 3 + .2 * 1 = 2.2</a:t>
            </a:r>
            <a:endParaRPr sz="1800" i="1"/>
          </a:p>
        </p:txBody>
      </p:sp>
      <p:graphicFrame>
        <p:nvGraphicFramePr>
          <p:cNvPr id="437" name="Google Shape;437;g2f5fdc1cbb4_1_27"/>
          <p:cNvGraphicFramePr/>
          <p:nvPr/>
        </p:nvGraphicFramePr>
        <p:xfrm>
          <a:off x="1979150" y="1493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38" name="Google Shape;438;g2f5fdc1cbb4_1_27"/>
          <p:cNvGraphicFramePr/>
          <p:nvPr/>
        </p:nvGraphicFramePr>
        <p:xfrm>
          <a:off x="6103125" y="1485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C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R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W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-10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H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2e12b04c68a_0_959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</p:txBody>
      </p:sp>
      <p:sp>
        <p:nvSpPr>
          <p:cNvPr id="446" name="Google Shape;446;g2e12b04c68a_0_959"/>
          <p:cNvSpPr txBox="1">
            <a:spLocks noGrp="1"/>
          </p:cNvSpPr>
          <p:nvPr>
            <p:ph type="body" idx="1"/>
          </p:nvPr>
        </p:nvSpPr>
        <p:spPr>
          <a:xfrm>
            <a:off x="457200" y="1067350"/>
            <a:ext cx="8229600" cy="50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</a:t>
            </a:r>
            <a:r>
              <a:rPr lang="en-US" sz="1800"/>
              <a:t>: Considering the weather example seen above: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Transitions:                               Rewards: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Today is cloudy (C). </a:t>
            </a:r>
            <a:r>
              <a:rPr lang="en-US" sz="1800">
                <a:solidFill>
                  <a:srgbClr val="980000"/>
                </a:solidFill>
              </a:rPr>
              <a:t>What actions should the agent plan for the </a:t>
            </a:r>
            <a:r>
              <a:rPr lang="en-US" sz="1800" b="1">
                <a:solidFill>
                  <a:srgbClr val="980000"/>
                </a:solidFill>
              </a:rPr>
              <a:t>next two days </a:t>
            </a:r>
            <a:r>
              <a:rPr lang="en-US" sz="1800">
                <a:solidFill>
                  <a:srgbClr val="980000"/>
                </a:solidFill>
              </a:rPr>
              <a:t>to maximize his expected reward?</a:t>
            </a:r>
            <a:endParaRPr sz="1800">
              <a:solidFill>
                <a:srgbClr val="98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  <p:graphicFrame>
        <p:nvGraphicFramePr>
          <p:cNvPr id="447" name="Google Shape;447;g2e12b04c68a_0_959"/>
          <p:cNvGraphicFramePr/>
          <p:nvPr/>
        </p:nvGraphicFramePr>
        <p:xfrm>
          <a:off x="1076800" y="194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N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L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N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L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48" name="Google Shape;448;g2e12b04c68a_0_959"/>
          <p:cNvGraphicFramePr/>
          <p:nvPr/>
        </p:nvGraphicFramePr>
        <p:xfrm>
          <a:off x="4198125" y="194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N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L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W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-10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H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2f5fdc1cbb4_1_36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</p:txBody>
      </p:sp>
      <p:sp>
        <p:nvSpPr>
          <p:cNvPr id="456" name="Google Shape;456;g2f5fdc1cbb4_1_36"/>
          <p:cNvSpPr txBox="1">
            <a:spLocks noGrp="1"/>
          </p:cNvSpPr>
          <p:nvPr>
            <p:ph type="body" idx="1"/>
          </p:nvPr>
        </p:nvSpPr>
        <p:spPr>
          <a:xfrm>
            <a:off x="457200" y="1067350"/>
            <a:ext cx="8229600" cy="50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 b="1"/>
              <a:t>Example</a:t>
            </a:r>
            <a:r>
              <a:rPr lang="en-US" sz="1800"/>
              <a:t>: Considering the weather example seen above: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Transitions:                               Rewards: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Today is cloudy (C). </a:t>
            </a:r>
            <a:r>
              <a:rPr lang="en-US" sz="1800">
                <a:solidFill>
                  <a:srgbClr val="980000"/>
                </a:solidFill>
              </a:rPr>
              <a:t>What actions should the agent plan for the </a:t>
            </a:r>
            <a:r>
              <a:rPr lang="en-US" sz="1800" b="1">
                <a:solidFill>
                  <a:srgbClr val="980000"/>
                </a:solidFill>
              </a:rPr>
              <a:t>next two days </a:t>
            </a:r>
            <a:r>
              <a:rPr lang="en-US" sz="1800">
                <a:solidFill>
                  <a:srgbClr val="980000"/>
                </a:solidFill>
              </a:rPr>
              <a:t>to maximize his expected reward?</a:t>
            </a:r>
            <a:endParaRPr sz="1800">
              <a:solidFill>
                <a:srgbClr val="980000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>
                <a:solidFill>
                  <a:srgbClr val="980000"/>
                </a:solidFill>
              </a:rPr>
              <a:t>What about the following week?</a:t>
            </a:r>
            <a:endParaRPr sz="1800">
              <a:solidFill>
                <a:srgbClr val="98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endParaRPr sz="1800"/>
          </a:p>
        </p:txBody>
      </p:sp>
      <p:graphicFrame>
        <p:nvGraphicFramePr>
          <p:cNvPr id="457" name="Google Shape;457;g2f5fdc1cbb4_1_36"/>
          <p:cNvGraphicFramePr/>
          <p:nvPr/>
        </p:nvGraphicFramePr>
        <p:xfrm>
          <a:off x="1076800" y="194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N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L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0.6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N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0.4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L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0.5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58" name="Google Shape;458;g2f5fdc1cbb4_1_36"/>
          <p:cNvGraphicFramePr/>
          <p:nvPr/>
        </p:nvGraphicFramePr>
        <p:xfrm>
          <a:off x="4198125" y="1942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501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S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N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L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W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5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-10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b="1" u="none" strike="noStrike" cap="none"/>
                        <a:t>H</a:t>
                      </a:r>
                      <a:endParaRPr sz="1400" b="1" u="none" strike="noStrike" cap="none"/>
                    </a:p>
                  </a:txBody>
                  <a:tcPr marL="91425" marR="91425" marT="91425" marB="91425"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2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3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n-US" sz="1400" u="none" strike="noStrike" cap="none"/>
                        <a:t>1</a:t>
                      </a:r>
                      <a:endParaRPr sz="1400" u="none" strike="noStrike" cap="none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2f5fdc1cbb4_1_45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Beast-Search </a:t>
            </a:r>
            <a:endParaRPr sz="4000"/>
          </a:p>
        </p:txBody>
      </p:sp>
      <p:graphicFrame>
        <p:nvGraphicFramePr>
          <p:cNvPr id="466" name="Google Shape;466;g2f5fdc1cbb4_1_45"/>
          <p:cNvGraphicFramePr/>
          <p:nvPr/>
        </p:nvGraphicFramePr>
        <p:xfrm>
          <a:off x="457188" y="106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164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      </a:t>
                      </a:r>
                      <a:endParaRPr sz="21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      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b="1" u="none" strike="noStrike" cap="none"/>
                        <a:t>W</a:t>
                      </a:r>
                      <a:endParaRPr sz="2900" b="1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E(U)=4</a:t>
                      </a:r>
                      <a:endParaRPr sz="15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b="1" u="none" strike="noStrike" cap="none"/>
                        <a:t>H</a:t>
                      </a:r>
                      <a:br>
                        <a:rPr lang="en-US" sz="3000" b="1" u="none" strike="noStrike" cap="none"/>
                      </a:br>
                      <a:r>
                        <a:rPr lang="en-US" sz="1500" u="none" strike="noStrike" cap="none"/>
                        <a:t>E(U)=2.2</a:t>
                      </a:r>
                      <a:endParaRPr sz="15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2f5fdc1cbb4_1_119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Beast-Search </a:t>
            </a:r>
            <a:endParaRPr sz="4000"/>
          </a:p>
        </p:txBody>
      </p:sp>
      <p:graphicFrame>
        <p:nvGraphicFramePr>
          <p:cNvPr id="474" name="Google Shape;474;g2f5fdc1cbb4_1_119"/>
          <p:cNvGraphicFramePr/>
          <p:nvPr/>
        </p:nvGraphicFramePr>
        <p:xfrm>
          <a:off x="457188" y="106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164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      </a:t>
                      </a:r>
                      <a:endParaRPr sz="21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      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b="1" u="none" strike="noStrike" cap="none"/>
                        <a:t>W</a:t>
                      </a:r>
                      <a:endParaRPr sz="2900" b="1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E(U)=4</a:t>
                      </a:r>
                      <a:endParaRPr sz="15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b="1" u="none" strike="noStrike" cap="none"/>
                        <a:t>H</a:t>
                      </a:r>
                      <a:br>
                        <a:rPr lang="en-US" sz="3000" b="1" u="none" strike="noStrike" cap="none"/>
                      </a:br>
                      <a:r>
                        <a:rPr lang="en-US" sz="1500" u="none" strike="noStrike" cap="none"/>
                        <a:t>E(U)=2.2</a:t>
                      </a:r>
                      <a:endParaRPr sz="15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75" name="Google Shape;475;g2f5fdc1cbb4_1_119"/>
          <p:cNvSpPr/>
          <p:nvPr/>
        </p:nvSpPr>
        <p:spPr>
          <a:xfrm>
            <a:off x="5394975" y="969075"/>
            <a:ext cx="848400" cy="890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f5fdc1cbb4_1_128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Beast-Search </a:t>
            </a:r>
            <a:endParaRPr sz="4000"/>
          </a:p>
        </p:txBody>
      </p:sp>
      <p:graphicFrame>
        <p:nvGraphicFramePr>
          <p:cNvPr id="483" name="Google Shape;483;g2f5fdc1cbb4_1_128"/>
          <p:cNvGraphicFramePr/>
          <p:nvPr/>
        </p:nvGraphicFramePr>
        <p:xfrm>
          <a:off x="457188" y="1067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1645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45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63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      </a:t>
                      </a:r>
                      <a:endParaRPr sz="21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n-US" sz="2100" u="none" strike="noStrike" cap="none"/>
                        <a:t>      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b="1" u="none" strike="noStrike" cap="none"/>
                        <a:t>W</a:t>
                      </a:r>
                      <a:endParaRPr sz="2900" b="1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/>
                        <a:t>E(U)=4</a:t>
                      </a:r>
                      <a:endParaRPr sz="15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3000"/>
                        <a:buFont typeface="Arial"/>
                        <a:buNone/>
                      </a:pPr>
                      <a:r>
                        <a:rPr lang="en-US" sz="3000" b="1" u="none" strike="noStrike" cap="none"/>
                        <a:t>H</a:t>
                      </a:r>
                      <a:br>
                        <a:rPr lang="en-US" sz="3000" b="1" u="none" strike="noStrike" cap="none"/>
                      </a:br>
                      <a:r>
                        <a:rPr lang="en-US" sz="1500" u="none" strike="noStrike" cap="none"/>
                        <a:t>E(U)=2.2</a:t>
                      </a:r>
                      <a:endParaRPr sz="15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b="1" u="none" strike="noStrike" cap="none">
                          <a:solidFill>
                            <a:schemeClr val="dk1"/>
                          </a:solidFill>
                        </a:rPr>
                        <a:t>          W</a:t>
                      </a:r>
                      <a:endParaRPr sz="2900" b="1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500" u="none" strike="noStrike" cap="none">
                          <a:solidFill>
                            <a:schemeClr val="dk1"/>
                          </a:solidFill>
                        </a:rPr>
                        <a:t>           E(R)=7.35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b="1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2900" b="1" u="none" strike="noStrike" cap="none">
                          <a:solidFill>
                            <a:schemeClr val="dk1"/>
                          </a:solidFill>
                        </a:rPr>
                        <a:t>       H</a:t>
                      </a:r>
                      <a:endParaRPr sz="16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b="1" u="none" strike="noStrike" cap="none">
                          <a:solidFill>
                            <a:schemeClr val="dk1"/>
                          </a:solidFill>
                        </a:rPr>
                        <a:t>    </a:t>
                      </a:r>
                      <a:endParaRPr sz="2900" b="1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b="1" u="none" strike="noStrike" cap="none">
                          <a:solidFill>
                            <a:schemeClr val="dk1"/>
                          </a:solidFill>
                        </a:rPr>
                        <a:t>  W</a:t>
                      </a:r>
                      <a:endParaRPr sz="2900" b="1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-US" sz="1500" u="none" strike="noStrike" cap="none">
                          <a:solidFill>
                            <a:schemeClr val="dk1"/>
                          </a:solidFill>
                        </a:rPr>
                        <a:t>           </a:t>
                      </a:r>
                      <a:endParaRPr sz="28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b="1" u="none" strike="noStrike" cap="none">
                          <a:solidFill>
                            <a:schemeClr val="dk1"/>
                          </a:solidFill>
                        </a:rPr>
                        <a:t>  </a:t>
                      </a:r>
                      <a:endParaRPr sz="2900" b="1" u="none" strike="noStrike" cap="none">
                        <a:solidFill>
                          <a:schemeClr val="dk1"/>
                        </a:solidFill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900"/>
                        <a:buFont typeface="Arial"/>
                        <a:buNone/>
                      </a:pPr>
                      <a:r>
                        <a:rPr lang="en-US" sz="2900" b="1" u="none" strike="noStrike" cap="none">
                          <a:solidFill>
                            <a:schemeClr val="dk1"/>
                          </a:solidFill>
                        </a:rPr>
                        <a:t>H</a:t>
                      </a:r>
                      <a:endParaRPr sz="290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8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endParaRPr sz="14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endParaRPr sz="2100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84" name="Google Shape;484;g2f5fdc1cbb4_1_128"/>
          <p:cNvSpPr/>
          <p:nvPr/>
        </p:nvSpPr>
        <p:spPr>
          <a:xfrm>
            <a:off x="5394975" y="969075"/>
            <a:ext cx="848400" cy="890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5" name="Google Shape;485;g2f5fdc1cbb4_1_128"/>
          <p:cNvCxnSpPr/>
          <p:nvPr/>
        </p:nvCxnSpPr>
        <p:spPr>
          <a:xfrm>
            <a:off x="2633850" y="1902325"/>
            <a:ext cx="388500" cy="706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6" name="Google Shape;486;g2f5fdc1cbb4_1_128"/>
          <p:cNvCxnSpPr/>
          <p:nvPr/>
        </p:nvCxnSpPr>
        <p:spPr>
          <a:xfrm flipH="1">
            <a:off x="1790200" y="1831625"/>
            <a:ext cx="405300" cy="7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87" name="Google Shape;487;g2f5fdc1cbb4_1_128"/>
          <p:cNvSpPr/>
          <p:nvPr/>
        </p:nvSpPr>
        <p:spPr>
          <a:xfrm>
            <a:off x="2733475" y="2373325"/>
            <a:ext cx="848400" cy="890700"/>
          </a:xfrm>
          <a:prstGeom prst="mathMultiply">
            <a:avLst>
              <a:gd name="adj1" fmla="val 23520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g2f5fdc1cbb4_1_128"/>
          <p:cNvCxnSpPr/>
          <p:nvPr/>
        </p:nvCxnSpPr>
        <p:spPr>
          <a:xfrm>
            <a:off x="1909550" y="3334725"/>
            <a:ext cx="388500" cy="706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489" name="Google Shape;489;g2f5fdc1cbb4_1_128"/>
          <p:cNvCxnSpPr/>
          <p:nvPr/>
        </p:nvCxnSpPr>
        <p:spPr>
          <a:xfrm flipH="1">
            <a:off x="1065900" y="3264025"/>
            <a:ext cx="405300" cy="7572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0" name="Google Shape;490;g2f5fdc1cbb4_1_128"/>
          <p:cNvSpPr txBox="1"/>
          <p:nvPr/>
        </p:nvSpPr>
        <p:spPr>
          <a:xfrm>
            <a:off x="696650" y="4716225"/>
            <a:ext cx="7990200" cy="150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lang="en-US"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future utility (reward) here is considered as a very optimistic estimate, unregarding the uncertainty of the future</a:t>
            </a: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endParaRPr sz="21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en-US" sz="23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</a:t>
            </a:r>
            <a:r>
              <a:rPr lang="en-US" sz="23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3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= R</a:t>
            </a:r>
            <a:r>
              <a:rPr lang="en-US" sz="23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lang="en-US" sz="23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R</a:t>
            </a:r>
            <a:r>
              <a:rPr lang="en-US" sz="2300" b="0" i="1" u="none" strike="noStrike" cap="none" baseline="-2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T+1</a:t>
            </a:r>
            <a:r>
              <a:rPr lang="en-US" sz="23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+ …</a:t>
            </a:r>
            <a:endParaRPr sz="23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f5fdc1cbb4_1_146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42</a:t>
            </a:fld>
            <a:endParaRPr/>
          </a:p>
        </p:txBody>
      </p:sp>
      <p:sp>
        <p:nvSpPr>
          <p:cNvPr id="496" name="Google Shape;496;g2f5fdc1cbb4_1_146"/>
          <p:cNvSpPr txBox="1">
            <a:spLocks noGrp="1"/>
          </p:cNvSpPr>
          <p:nvPr>
            <p:ph type="title"/>
          </p:nvPr>
        </p:nvSpPr>
        <p:spPr>
          <a:xfrm>
            <a:off x="457200" y="277801"/>
            <a:ext cx="82296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/>
              <a:t> Q-Learning Algorithm</a:t>
            </a:r>
            <a:endParaRPr/>
          </a:p>
        </p:txBody>
      </p:sp>
      <p:sp>
        <p:nvSpPr>
          <p:cNvPr id="497" name="Google Shape;497;g2f5fdc1cbb4_1_146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 following elements should be considered: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Q(s,a)</a:t>
            </a:r>
            <a:r>
              <a:rPr lang="en-US" sz="1800"/>
              <a:t>: Current </a:t>
            </a:r>
            <a:r>
              <a:rPr lang="en-US" sz="1800" i="1"/>
              <a:t>Q-value </a:t>
            </a:r>
            <a:r>
              <a:rPr lang="en-US" sz="1800"/>
              <a:t>of action </a:t>
            </a:r>
            <a:r>
              <a:rPr lang="en-US" sz="1800" i="1"/>
              <a:t>a</a:t>
            </a:r>
            <a:r>
              <a:rPr lang="en-US" sz="1800"/>
              <a:t> at state </a:t>
            </a:r>
            <a:r>
              <a:rPr lang="en-US" sz="1800" i="1"/>
              <a:t>s</a:t>
            </a:r>
            <a:endParaRPr sz="1800" i="1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f5fdc1cbb4_1_15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43</a:t>
            </a:fld>
            <a:endParaRPr/>
          </a:p>
        </p:txBody>
      </p:sp>
      <p:sp>
        <p:nvSpPr>
          <p:cNvPr id="503" name="Google Shape;503;g2f5fdc1cbb4_1_152"/>
          <p:cNvSpPr txBox="1">
            <a:spLocks noGrp="1"/>
          </p:cNvSpPr>
          <p:nvPr>
            <p:ph type="title"/>
          </p:nvPr>
        </p:nvSpPr>
        <p:spPr>
          <a:xfrm>
            <a:off x="457200" y="277801"/>
            <a:ext cx="82296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/>
              <a:t> Q-Learning Algorithm</a:t>
            </a:r>
            <a:endParaRPr/>
          </a:p>
        </p:txBody>
      </p:sp>
      <p:sp>
        <p:nvSpPr>
          <p:cNvPr id="504" name="Google Shape;504;g2f5fdc1cbb4_1_152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 following elements should be considered: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Q(s,a)</a:t>
            </a:r>
            <a:r>
              <a:rPr lang="en-US" sz="1800"/>
              <a:t>: Current </a:t>
            </a:r>
            <a:r>
              <a:rPr lang="en-US" sz="1800" i="1"/>
              <a:t>Q-value </a:t>
            </a:r>
            <a:r>
              <a:rPr lang="en-US" sz="1800"/>
              <a:t>of action </a:t>
            </a:r>
            <a:r>
              <a:rPr lang="en-US" sz="1800" i="1"/>
              <a:t>a</a:t>
            </a:r>
            <a:r>
              <a:rPr lang="en-US" sz="1800"/>
              <a:t> at state 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r</a:t>
            </a:r>
            <a:r>
              <a:rPr lang="en-US" sz="1800"/>
              <a:t>: Reward received after performing action </a:t>
            </a:r>
            <a:r>
              <a:rPr lang="en-US" sz="1800" i="1"/>
              <a:t>a</a:t>
            </a:r>
            <a:r>
              <a:rPr lang="en-US" sz="1800"/>
              <a:t> in state </a:t>
            </a:r>
            <a:r>
              <a:rPr lang="en-US" sz="1800" i="1"/>
              <a:t>s</a:t>
            </a:r>
            <a:endParaRPr sz="1800" i="1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f5fdc1cbb4_1_158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44</a:t>
            </a:fld>
            <a:endParaRPr/>
          </a:p>
        </p:txBody>
      </p:sp>
      <p:sp>
        <p:nvSpPr>
          <p:cNvPr id="510" name="Google Shape;510;g2f5fdc1cbb4_1_158"/>
          <p:cNvSpPr txBox="1">
            <a:spLocks noGrp="1"/>
          </p:cNvSpPr>
          <p:nvPr>
            <p:ph type="title"/>
          </p:nvPr>
        </p:nvSpPr>
        <p:spPr>
          <a:xfrm>
            <a:off x="457200" y="277801"/>
            <a:ext cx="82296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/>
              <a:t> Q-Learning Algorithm</a:t>
            </a:r>
            <a:endParaRPr/>
          </a:p>
        </p:txBody>
      </p:sp>
      <p:sp>
        <p:nvSpPr>
          <p:cNvPr id="511" name="Google Shape;511;g2f5fdc1cbb4_1_158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 following elements should be considered: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Q(s,a)</a:t>
            </a:r>
            <a:r>
              <a:rPr lang="en-US" sz="1800"/>
              <a:t>: Current </a:t>
            </a:r>
            <a:r>
              <a:rPr lang="en-US" sz="1800" i="1"/>
              <a:t>Q-value </a:t>
            </a:r>
            <a:r>
              <a:rPr lang="en-US" sz="1800"/>
              <a:t>of action </a:t>
            </a:r>
            <a:r>
              <a:rPr lang="en-US" sz="1800" i="1"/>
              <a:t>a</a:t>
            </a:r>
            <a:r>
              <a:rPr lang="en-US" sz="1800"/>
              <a:t> at state 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r</a:t>
            </a:r>
            <a:r>
              <a:rPr lang="en-US" sz="1800"/>
              <a:t>: Reward received after performing action </a:t>
            </a:r>
            <a:r>
              <a:rPr lang="en-US" sz="1800" i="1"/>
              <a:t>a</a:t>
            </a:r>
            <a:r>
              <a:rPr lang="en-US" sz="1800"/>
              <a:t> in state </a:t>
            </a:r>
            <a:r>
              <a:rPr lang="en-US" sz="1800" i="1"/>
              <a:t>s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γ</a:t>
            </a:r>
            <a:r>
              <a:rPr lang="en-US" sz="1800"/>
              <a:t>: discount factor (how much future rewards are taken into account)</a:t>
            </a:r>
            <a:endParaRPr sz="1800" i="1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f5fdc1cbb4_1_164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 following elements should be considered: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Q(s,a)</a:t>
            </a:r>
            <a:r>
              <a:rPr lang="en-US" sz="1800"/>
              <a:t>: Current </a:t>
            </a:r>
            <a:r>
              <a:rPr lang="en-US" sz="1800" i="1"/>
              <a:t>Q-value </a:t>
            </a:r>
            <a:r>
              <a:rPr lang="en-US" sz="1800"/>
              <a:t>of action </a:t>
            </a:r>
            <a:r>
              <a:rPr lang="en-US" sz="1800" i="1"/>
              <a:t>a</a:t>
            </a:r>
            <a:r>
              <a:rPr lang="en-US" sz="1800"/>
              <a:t> at state 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r</a:t>
            </a:r>
            <a:r>
              <a:rPr lang="en-US" sz="1800"/>
              <a:t>: Reward received after performing action a in status </a:t>
            </a:r>
            <a:r>
              <a:rPr lang="en-US" sz="1800" i="1"/>
              <a:t>s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γ</a:t>
            </a:r>
            <a:r>
              <a:rPr lang="en-US" sz="1800"/>
              <a:t>: discount factor (how much future rewards are taken into account)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 i="1"/>
              <a:t>		G</a:t>
            </a:r>
            <a:r>
              <a:rPr lang="en-US" sz="1800" i="1" baseline="-25000"/>
              <a:t>T</a:t>
            </a:r>
            <a:r>
              <a:rPr lang="en-US" sz="1800" i="1"/>
              <a:t> = r</a:t>
            </a:r>
            <a:r>
              <a:rPr lang="en-US" sz="1800" i="1" baseline="-25000"/>
              <a:t>T</a:t>
            </a:r>
            <a:r>
              <a:rPr lang="en-US" sz="1800" i="1"/>
              <a:t> + γr</a:t>
            </a:r>
            <a:r>
              <a:rPr lang="en-US" sz="1800" i="1" baseline="-25000"/>
              <a:t>T+1</a:t>
            </a:r>
            <a:r>
              <a:rPr lang="en-US" sz="1800" i="1"/>
              <a:t> + γ r</a:t>
            </a:r>
            <a:r>
              <a:rPr lang="en-US" sz="1800" i="1" baseline="30000"/>
              <a:t>2</a:t>
            </a:r>
            <a:r>
              <a:rPr lang="en-US" sz="1800" i="1" baseline="-25000"/>
              <a:t>T+1</a:t>
            </a:r>
            <a:r>
              <a:rPr lang="en-US" sz="1800" i="1"/>
              <a:t> + ...</a:t>
            </a:r>
            <a:endParaRPr sz="1800"/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70"/>
              <a:buNone/>
            </a:pPr>
            <a:endParaRPr sz="1800"/>
          </a:p>
        </p:txBody>
      </p:sp>
      <p:sp>
        <p:nvSpPr>
          <p:cNvPr id="517" name="Google Shape;517;g2f5fdc1cbb4_1_164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45</a:t>
            </a:fld>
            <a:endParaRPr/>
          </a:p>
        </p:txBody>
      </p:sp>
      <p:sp>
        <p:nvSpPr>
          <p:cNvPr id="518" name="Google Shape;518;g2f5fdc1cbb4_1_164"/>
          <p:cNvSpPr txBox="1">
            <a:spLocks noGrp="1"/>
          </p:cNvSpPr>
          <p:nvPr>
            <p:ph type="title"/>
          </p:nvPr>
        </p:nvSpPr>
        <p:spPr>
          <a:xfrm>
            <a:off x="457200" y="277801"/>
            <a:ext cx="82296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/>
              <a:t> Q-Learning Algorithm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2f5fdc1cbb4_1_170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46</a:t>
            </a:fld>
            <a:endParaRPr/>
          </a:p>
        </p:txBody>
      </p:sp>
      <p:sp>
        <p:nvSpPr>
          <p:cNvPr id="524" name="Google Shape;524;g2f5fdc1cbb4_1_170"/>
          <p:cNvSpPr txBox="1">
            <a:spLocks noGrp="1"/>
          </p:cNvSpPr>
          <p:nvPr>
            <p:ph type="title"/>
          </p:nvPr>
        </p:nvSpPr>
        <p:spPr>
          <a:xfrm>
            <a:off x="457200" y="277801"/>
            <a:ext cx="82296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/>
              <a:t> Q-Learning Algorithm</a:t>
            </a:r>
            <a:endParaRPr/>
          </a:p>
        </p:txBody>
      </p:sp>
      <p:sp>
        <p:nvSpPr>
          <p:cNvPr id="525" name="Google Shape;525;g2f5fdc1cbb4_1_170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 following elements should be considered: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Q(s,a)</a:t>
            </a:r>
            <a:r>
              <a:rPr lang="en-US" sz="1800"/>
              <a:t>: Current </a:t>
            </a:r>
            <a:r>
              <a:rPr lang="en-US" sz="1800" i="1"/>
              <a:t>Q-value </a:t>
            </a:r>
            <a:r>
              <a:rPr lang="en-US" sz="1800"/>
              <a:t>of action </a:t>
            </a:r>
            <a:r>
              <a:rPr lang="en-US" sz="1800" i="1"/>
              <a:t>a</a:t>
            </a:r>
            <a:r>
              <a:rPr lang="en-US" sz="1800"/>
              <a:t> at state 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r</a:t>
            </a:r>
            <a:r>
              <a:rPr lang="en-US" sz="1800"/>
              <a:t>: Reward received after performing action a in status </a:t>
            </a:r>
            <a:r>
              <a:rPr lang="en-US" sz="1800" i="1"/>
              <a:t>s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γ</a:t>
            </a:r>
            <a:r>
              <a:rPr lang="en-US" sz="1800"/>
              <a:t>: discount factor (how much future rewards are taken into account)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α</a:t>
            </a:r>
            <a:r>
              <a:rPr lang="en-US" sz="1800"/>
              <a:t>: Learning rate. Designates the impact of new information in Table-Q.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❑"/>
            </a:pPr>
            <a:r>
              <a:rPr lang="en-US" sz="1800" i="1"/>
              <a:t>α = 1</a:t>
            </a:r>
            <a:r>
              <a:rPr lang="en-US" sz="1800"/>
              <a:t>: The agent considers only new information.</a:t>
            </a:r>
            <a:endParaRPr sz="1800"/>
          </a:p>
          <a:p>
            <a:pPr marL="91440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❑"/>
            </a:pPr>
            <a:r>
              <a:rPr lang="en-US" sz="1800" i="1"/>
              <a:t>α = 1</a:t>
            </a:r>
            <a:r>
              <a:rPr lang="en-US" sz="1800"/>
              <a:t>: The agent considers only prior information (no learning).</a:t>
            </a:r>
            <a:endParaRPr sz="1800" i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70"/>
              <a:buNone/>
            </a:pPr>
            <a:endParaRPr sz="18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2f5fdc1cbb4_1_176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47</a:t>
            </a:fld>
            <a:endParaRPr/>
          </a:p>
        </p:txBody>
      </p:sp>
      <p:sp>
        <p:nvSpPr>
          <p:cNvPr id="531" name="Google Shape;531;g2f5fdc1cbb4_1_176"/>
          <p:cNvSpPr txBox="1">
            <a:spLocks noGrp="1"/>
          </p:cNvSpPr>
          <p:nvPr>
            <p:ph type="title"/>
          </p:nvPr>
        </p:nvSpPr>
        <p:spPr>
          <a:xfrm>
            <a:off x="457200" y="277801"/>
            <a:ext cx="82296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/>
              <a:t> Q-Learning Algorithm</a:t>
            </a:r>
            <a:endParaRPr/>
          </a:p>
        </p:txBody>
      </p:sp>
      <p:sp>
        <p:nvSpPr>
          <p:cNvPr id="532" name="Google Shape;532;g2f5fdc1cbb4_1_176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 following elements should be considered: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Q(s,a)</a:t>
            </a:r>
            <a:r>
              <a:rPr lang="en-US" sz="1800"/>
              <a:t>: Current </a:t>
            </a:r>
            <a:r>
              <a:rPr lang="en-US" sz="1800" i="1"/>
              <a:t>Q-value </a:t>
            </a:r>
            <a:r>
              <a:rPr lang="en-US" sz="1800"/>
              <a:t>of action </a:t>
            </a:r>
            <a:r>
              <a:rPr lang="en-US" sz="1800" i="1"/>
              <a:t>a</a:t>
            </a:r>
            <a:r>
              <a:rPr lang="en-US" sz="1800"/>
              <a:t> at state 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r</a:t>
            </a:r>
            <a:r>
              <a:rPr lang="en-US" sz="1800"/>
              <a:t>: Reward received after performing action a in status </a:t>
            </a:r>
            <a:r>
              <a:rPr lang="en-US" sz="1800" i="1"/>
              <a:t>s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γ</a:t>
            </a:r>
            <a:r>
              <a:rPr lang="en-US" sz="1800"/>
              <a:t>: discount factor (how much future rewards are taken into account)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α</a:t>
            </a:r>
            <a:r>
              <a:rPr lang="en-US" sz="1800"/>
              <a:t>: Learning rate. Designates the impact of new information in Table-Q.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/>
              <a:t>ε (Epsilon-greedy): </a:t>
            </a:r>
            <a:r>
              <a:rPr lang="en-US" sz="1800"/>
              <a:t>With probability ϵ, a random action is chosen (exploration). With probability 1-ϵ, the action with the highest Q value is chosen (exploitation). </a:t>
            </a:r>
            <a:endParaRPr sz="1800" i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70"/>
              <a:buNone/>
            </a:pPr>
            <a:endParaRPr sz="180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g2f5fdc1cbb4_1_182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48</a:t>
            </a:fld>
            <a:endParaRPr/>
          </a:p>
        </p:txBody>
      </p:sp>
      <p:sp>
        <p:nvSpPr>
          <p:cNvPr id="538" name="Google Shape;538;g2f5fdc1cbb4_1_182"/>
          <p:cNvSpPr txBox="1">
            <a:spLocks noGrp="1"/>
          </p:cNvSpPr>
          <p:nvPr>
            <p:ph type="title"/>
          </p:nvPr>
        </p:nvSpPr>
        <p:spPr>
          <a:xfrm>
            <a:off x="457200" y="277801"/>
            <a:ext cx="82296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/>
              <a:t> Q-Learning Algorithm</a:t>
            </a:r>
            <a:endParaRPr/>
          </a:p>
        </p:txBody>
      </p:sp>
      <p:sp>
        <p:nvSpPr>
          <p:cNvPr id="539" name="Google Shape;539;g2f5fdc1cbb4_1_182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 following elements should be considered: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Q(s,a)</a:t>
            </a:r>
            <a:r>
              <a:rPr lang="en-US" sz="1800"/>
              <a:t>: Current </a:t>
            </a:r>
            <a:r>
              <a:rPr lang="en-US" sz="1800" i="1"/>
              <a:t>Q-value </a:t>
            </a:r>
            <a:r>
              <a:rPr lang="en-US" sz="1800"/>
              <a:t>of action </a:t>
            </a:r>
            <a:r>
              <a:rPr lang="en-US" sz="1800" i="1"/>
              <a:t>a</a:t>
            </a:r>
            <a:r>
              <a:rPr lang="en-US" sz="1800"/>
              <a:t> at state 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r</a:t>
            </a:r>
            <a:r>
              <a:rPr lang="en-US" sz="1800"/>
              <a:t>: Reward received after performing action a in status </a:t>
            </a:r>
            <a:r>
              <a:rPr lang="en-US" sz="1800" i="1"/>
              <a:t>s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γ</a:t>
            </a:r>
            <a:r>
              <a:rPr lang="en-US" sz="1800"/>
              <a:t>: discount factor (how much future rewards are taken into account)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α</a:t>
            </a:r>
            <a:r>
              <a:rPr lang="en-US" sz="1800"/>
              <a:t>: Learning rate. Designates the impact of new information in Table-Q.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/>
              <a:t>ε (Epsilon-greedy): </a:t>
            </a:r>
            <a:r>
              <a:rPr lang="en-US" sz="1800"/>
              <a:t>With probability ϵ, a random action is chosen (exploration). With probability 1-ϵ, the action with the highest Q value is chosen (exploitation). 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max</a:t>
            </a:r>
            <a:r>
              <a:rPr lang="en-US" sz="1800" b="1" i="1" baseline="-25000"/>
              <a:t>a′</a:t>
            </a:r>
            <a:r>
              <a:rPr lang="en-US" sz="1800" b="1" i="1"/>
              <a:t> Q(s′,a′)</a:t>
            </a:r>
            <a:r>
              <a:rPr lang="en-US" sz="1800"/>
              <a:t>: Maximum Q-value for the next state </a:t>
            </a:r>
            <a:r>
              <a:rPr lang="en-US" sz="1800" i="1"/>
              <a:t>s′.</a:t>
            </a:r>
            <a:endParaRPr sz="1800" i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70"/>
              <a:buNone/>
            </a:pPr>
            <a:endParaRPr sz="180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2f5fdc1cbb4_1_188"/>
          <p:cNvSpPr txBox="1">
            <a:spLocks noGrp="1"/>
          </p:cNvSpPr>
          <p:nvPr>
            <p:ph type="sldNum" idx="12"/>
          </p:nvPr>
        </p:nvSpPr>
        <p:spPr>
          <a:xfrm>
            <a:off x="6553200" y="6243637"/>
            <a:ext cx="2133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aramond"/>
              <a:buNone/>
            </a:pPr>
            <a:fld id="{00000000-1234-1234-1234-123412341234}" type="slidenum">
              <a:rPr lang="en-US"/>
              <a:t>49</a:t>
            </a:fld>
            <a:endParaRPr/>
          </a:p>
        </p:txBody>
      </p:sp>
      <p:sp>
        <p:nvSpPr>
          <p:cNvPr id="545" name="Google Shape;545;g2f5fdc1cbb4_1_188"/>
          <p:cNvSpPr txBox="1">
            <a:spLocks noGrp="1"/>
          </p:cNvSpPr>
          <p:nvPr>
            <p:ph type="title"/>
          </p:nvPr>
        </p:nvSpPr>
        <p:spPr>
          <a:xfrm>
            <a:off x="457200" y="277801"/>
            <a:ext cx="8229600" cy="101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lang="en-US"/>
              <a:t> Q-Learning Algorithm</a:t>
            </a:r>
            <a:endParaRPr/>
          </a:p>
        </p:txBody>
      </p:sp>
      <p:sp>
        <p:nvSpPr>
          <p:cNvPr id="546" name="Google Shape;546;g2f5fdc1cbb4_1_188"/>
          <p:cNvSpPr txBox="1">
            <a:spLocks noGrp="1"/>
          </p:cNvSpPr>
          <p:nvPr>
            <p:ph type="body" idx="1"/>
          </p:nvPr>
        </p:nvSpPr>
        <p:spPr>
          <a:xfrm>
            <a:off x="457200" y="1295400"/>
            <a:ext cx="8229600" cy="48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The following elements should be considered: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Q(s,a)</a:t>
            </a:r>
            <a:r>
              <a:rPr lang="en-US" sz="1800"/>
              <a:t>: Current </a:t>
            </a:r>
            <a:r>
              <a:rPr lang="en-US" sz="1800" i="1"/>
              <a:t>Q-value </a:t>
            </a:r>
            <a:r>
              <a:rPr lang="en-US" sz="1800"/>
              <a:t>of action </a:t>
            </a:r>
            <a:r>
              <a:rPr lang="en-US" sz="1800" i="1"/>
              <a:t>a</a:t>
            </a:r>
            <a:r>
              <a:rPr lang="en-US" sz="1800"/>
              <a:t> at state s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r</a:t>
            </a:r>
            <a:r>
              <a:rPr lang="en-US" sz="1800"/>
              <a:t>: Reward received after performing action a in status </a:t>
            </a:r>
            <a:r>
              <a:rPr lang="en-US" sz="1800" i="1"/>
              <a:t>s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γ</a:t>
            </a:r>
            <a:r>
              <a:rPr lang="en-US" sz="1800"/>
              <a:t>: discount factor (how much future rewards are taken into account)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α</a:t>
            </a:r>
            <a:r>
              <a:rPr lang="en-US" sz="1800"/>
              <a:t>: Learning rate. Designates the impact of new information in Table-Q.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/>
              <a:t>ε (Epsilon-greedy): </a:t>
            </a:r>
            <a:r>
              <a:rPr lang="en-US" sz="1800"/>
              <a:t>With probability ϵ, a random action is chosen (exploration). With probability 1-ϵ, the action with the highest Q value is chosen (exploitation). 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 b="1" i="1"/>
              <a:t>max</a:t>
            </a:r>
            <a:r>
              <a:rPr lang="en-US" sz="1800" b="1" i="1" baseline="-25000"/>
              <a:t>a′</a:t>
            </a:r>
            <a:r>
              <a:rPr lang="en-US" sz="1800" b="1" i="1"/>
              <a:t> Q(s′,a′)</a:t>
            </a:r>
            <a:r>
              <a:rPr lang="en-US" sz="1800"/>
              <a:t>: Maximum Q-value for the next state </a:t>
            </a:r>
            <a:r>
              <a:rPr lang="en-US" sz="1800" i="1"/>
              <a:t>s′.</a:t>
            </a:r>
            <a:endParaRPr sz="1800" i="1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lang="en-US" sz="1800"/>
              <a:t>The update rule in Q-learning is defined as: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70"/>
              <a:buNone/>
            </a:pPr>
            <a:endParaRPr sz="1800"/>
          </a:p>
        </p:txBody>
      </p:sp>
      <p:pic>
        <p:nvPicPr>
          <p:cNvPr id="547" name="Google Shape;547;g2f5fdc1cbb4_1_18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48738" y="5462400"/>
            <a:ext cx="644652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g2f5fdc1cbb4_1_195"/>
          <p:cNvSpPr txBox="1">
            <a:spLocks noGrp="1"/>
          </p:cNvSpPr>
          <p:nvPr>
            <p:ph type="title"/>
          </p:nvPr>
        </p:nvSpPr>
        <p:spPr>
          <a:xfrm>
            <a:off x="457200" y="277812"/>
            <a:ext cx="8229600" cy="11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Example</a:t>
            </a:r>
            <a:endParaRPr/>
          </a:p>
        </p:txBody>
      </p:sp>
      <p:sp>
        <p:nvSpPr>
          <p:cNvPr id="555" name="Google Shape;555;g2f5fdc1cbb4_1_195"/>
          <p:cNvSpPr txBox="1">
            <a:spLocks noGrp="1"/>
          </p:cNvSpPr>
          <p:nvPr>
            <p:ph type="body" idx="1"/>
          </p:nvPr>
        </p:nvSpPr>
        <p:spPr>
          <a:xfrm>
            <a:off x="457200" y="1237750"/>
            <a:ext cx="8229600" cy="489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/>
              <a:t>Let's review the implementation for the climate example: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/>
              <a:t>Initialization</a:t>
            </a:r>
            <a:r>
              <a:rPr lang="en-US" sz="1800"/>
              <a:t>: Table Q at 0 for all state-action pairs.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/>
              <a:t>Action Selection</a:t>
            </a:r>
            <a:r>
              <a:rPr lang="en-US" sz="1800"/>
              <a:t>: An epsilon-greedy policy is used to select an action. The value of ϵ determines the selection of exploration vs exploitation.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/>
              <a:t>Execution of the Action</a:t>
            </a:r>
            <a:r>
              <a:rPr lang="en-US" sz="1800"/>
              <a:t>: The agent executes the chosen action and observes the reward obtained.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/>
              <a:t>Updating Q</a:t>
            </a:r>
            <a:r>
              <a:rPr lang="en-US" sz="1800"/>
              <a:t>: The updating formula is used for the state-share pair based on the immediate reward and the estimate of the future reward.</a:t>
            </a:r>
            <a:endParaRPr sz="1800"/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-US" sz="1800" b="1"/>
              <a:t>Repetition: </a:t>
            </a:r>
            <a:r>
              <a:rPr lang="en-US" sz="1800"/>
              <a:t>This process is repeated for a number of episodes, gradually adjusting the value of ϵ to reduce scanning as the agent learns.</a:t>
            </a: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endParaRPr sz="1800"/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800" b="1">
                <a:solidFill>
                  <a:srgbClr val="980000"/>
                </a:solidFill>
              </a:rPr>
              <a:t>Exercise: Modify the values of the parameters to observe their influence on the model and draw conclusions.</a:t>
            </a:r>
            <a:endParaRPr sz="1800" b="1">
              <a:solidFill>
                <a:srgbClr val="980000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2e12b04c68a_0_979"/>
          <p:cNvSpPr txBox="1">
            <a:spLocks noGrp="1"/>
          </p:cNvSpPr>
          <p:nvPr>
            <p:ph type="title"/>
          </p:nvPr>
        </p:nvSpPr>
        <p:spPr>
          <a:xfrm>
            <a:off x="457200" y="277805"/>
            <a:ext cx="8229600" cy="7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563" name="Google Shape;563;g2e12b04c68a_0_979"/>
          <p:cNvPicPr preferRelativeResize="0"/>
          <p:nvPr/>
        </p:nvPicPr>
        <p:blipFill rotWithShape="1">
          <a:blip r:embed="rId3">
            <a:alphaModFix/>
          </a:blip>
          <a:srcRect l="24630" b="24545"/>
          <a:stretch/>
        </p:blipFill>
        <p:spPr>
          <a:xfrm>
            <a:off x="7315150" y="1205475"/>
            <a:ext cx="1230900" cy="120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g2e12b04c68a_0_97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8367" y="1993739"/>
            <a:ext cx="383210" cy="374469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g2e12b04c68a_0_979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6344400" cy="3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700"/>
              <a:t>For our original agent problem, we can pose it as follows: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An agent can be in any state </a:t>
            </a:r>
            <a:r>
              <a:rPr lang="en-US" sz="1700" i="1"/>
              <a:t>s</a:t>
            </a:r>
            <a:r>
              <a:rPr lang="en-US" sz="1700"/>
              <a:t> (position) in a room of size </a:t>
            </a:r>
            <a:r>
              <a:rPr lang="en-US" sz="1700" i="1"/>
              <a:t>MxN</a:t>
            </a:r>
            <a:r>
              <a:rPr lang="en-US" sz="1700"/>
              <a:t>.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The agent, chooses an action, according to its current state. The action changes its state to </a:t>
            </a:r>
            <a:r>
              <a:rPr lang="en-US" sz="1700" i="1"/>
              <a:t>s’</a:t>
            </a:r>
            <a:r>
              <a:rPr lang="en-US" sz="1700"/>
              <a:t>.</a:t>
            </a:r>
            <a:endParaRPr sz="1700"/>
          </a:p>
        </p:txBody>
      </p:sp>
      <p:graphicFrame>
        <p:nvGraphicFramePr>
          <p:cNvPr id="566" name="Google Shape;566;g2e12b04c68a_0_979"/>
          <p:cNvGraphicFramePr/>
          <p:nvPr/>
        </p:nvGraphicFramePr>
        <p:xfrm>
          <a:off x="5134938" y="293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.16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.16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567" name="Google Shape;567;g2e12b04c68a_0_979"/>
          <p:cNvGrpSpPr/>
          <p:nvPr/>
        </p:nvGrpSpPr>
        <p:grpSpPr>
          <a:xfrm>
            <a:off x="5386841" y="3207773"/>
            <a:ext cx="518057" cy="512095"/>
            <a:chOff x="1272075" y="3239850"/>
            <a:chExt cx="680400" cy="632450"/>
          </a:xfrm>
        </p:grpSpPr>
        <p:cxnSp>
          <p:nvCxnSpPr>
            <p:cNvPr id="568" name="Google Shape;568;g2e12b04c68a_0_979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69" name="Google Shape;569;g2e12b04c68a_0_979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0" name="Google Shape;570;g2e12b04c68a_0_979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1" name="Google Shape;571;g2e12b04c68a_0_979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572" name="Google Shape;572;g2e12b04c68a_0_979"/>
          <p:cNvGrpSpPr/>
          <p:nvPr/>
        </p:nvGrpSpPr>
        <p:grpSpPr>
          <a:xfrm>
            <a:off x="6598741" y="3207773"/>
            <a:ext cx="518057" cy="512095"/>
            <a:chOff x="1272075" y="3239850"/>
            <a:chExt cx="680400" cy="632450"/>
          </a:xfrm>
        </p:grpSpPr>
        <p:cxnSp>
          <p:nvCxnSpPr>
            <p:cNvPr id="573" name="Google Shape;573;g2e12b04c68a_0_979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4" name="Google Shape;574;g2e12b04c68a_0_979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5" name="Google Shape;575;g2e12b04c68a_0_979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6" name="Google Shape;576;g2e12b04c68a_0_979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577" name="Google Shape;577;g2e12b04c68a_0_979"/>
          <p:cNvGrpSpPr/>
          <p:nvPr/>
        </p:nvGrpSpPr>
        <p:grpSpPr>
          <a:xfrm>
            <a:off x="7679691" y="3207773"/>
            <a:ext cx="518057" cy="512095"/>
            <a:chOff x="1272075" y="3239850"/>
            <a:chExt cx="680400" cy="632450"/>
          </a:xfrm>
        </p:grpSpPr>
        <p:cxnSp>
          <p:nvCxnSpPr>
            <p:cNvPr id="578" name="Google Shape;578;g2e12b04c68a_0_979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79" name="Google Shape;579;g2e12b04c68a_0_979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0" name="Google Shape;580;g2e12b04c68a_0_979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1" name="Google Shape;581;g2e12b04c68a_0_979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582" name="Google Shape;582;g2e12b04c68a_0_979"/>
          <p:cNvGrpSpPr/>
          <p:nvPr/>
        </p:nvGrpSpPr>
        <p:grpSpPr>
          <a:xfrm>
            <a:off x="5386841" y="4254611"/>
            <a:ext cx="518057" cy="512095"/>
            <a:chOff x="1272075" y="3239850"/>
            <a:chExt cx="680400" cy="632450"/>
          </a:xfrm>
        </p:grpSpPr>
        <p:cxnSp>
          <p:nvCxnSpPr>
            <p:cNvPr id="583" name="Google Shape;583;g2e12b04c68a_0_979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4" name="Google Shape;584;g2e12b04c68a_0_979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5" name="Google Shape;585;g2e12b04c68a_0_979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6" name="Google Shape;586;g2e12b04c68a_0_979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587" name="Google Shape;587;g2e12b04c68a_0_979"/>
          <p:cNvGrpSpPr/>
          <p:nvPr/>
        </p:nvGrpSpPr>
        <p:grpSpPr>
          <a:xfrm>
            <a:off x="6598741" y="4254611"/>
            <a:ext cx="518057" cy="512095"/>
            <a:chOff x="1272075" y="3239850"/>
            <a:chExt cx="680400" cy="632450"/>
          </a:xfrm>
        </p:grpSpPr>
        <p:cxnSp>
          <p:nvCxnSpPr>
            <p:cNvPr id="588" name="Google Shape;588;g2e12b04c68a_0_979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89" name="Google Shape;589;g2e12b04c68a_0_979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90" name="Google Shape;590;g2e12b04c68a_0_979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91" name="Google Shape;591;g2e12b04c68a_0_979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592" name="Google Shape;592;g2e12b04c68a_0_979"/>
          <p:cNvGrpSpPr/>
          <p:nvPr/>
        </p:nvGrpSpPr>
        <p:grpSpPr>
          <a:xfrm>
            <a:off x="7679691" y="4254611"/>
            <a:ext cx="518057" cy="512095"/>
            <a:chOff x="1272075" y="3239850"/>
            <a:chExt cx="680400" cy="632450"/>
          </a:xfrm>
        </p:grpSpPr>
        <p:cxnSp>
          <p:nvCxnSpPr>
            <p:cNvPr id="593" name="Google Shape;593;g2e12b04c68a_0_979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94" name="Google Shape;594;g2e12b04c68a_0_979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95" name="Google Shape;595;g2e12b04c68a_0_979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96" name="Google Shape;596;g2e12b04c68a_0_979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597" name="Google Shape;597;g2e12b04c68a_0_979"/>
          <p:cNvGrpSpPr/>
          <p:nvPr/>
        </p:nvGrpSpPr>
        <p:grpSpPr>
          <a:xfrm>
            <a:off x="5386841" y="5275348"/>
            <a:ext cx="518057" cy="512095"/>
            <a:chOff x="1272075" y="3239850"/>
            <a:chExt cx="680400" cy="632450"/>
          </a:xfrm>
        </p:grpSpPr>
        <p:cxnSp>
          <p:nvCxnSpPr>
            <p:cNvPr id="598" name="Google Shape;598;g2e12b04c68a_0_979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599" name="Google Shape;599;g2e12b04c68a_0_979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00" name="Google Shape;600;g2e12b04c68a_0_979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01" name="Google Shape;601;g2e12b04c68a_0_979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02" name="Google Shape;602;g2e12b04c68a_0_979"/>
          <p:cNvGrpSpPr/>
          <p:nvPr/>
        </p:nvGrpSpPr>
        <p:grpSpPr>
          <a:xfrm>
            <a:off x="6598741" y="5275348"/>
            <a:ext cx="518057" cy="512095"/>
            <a:chOff x="1272075" y="3239850"/>
            <a:chExt cx="680400" cy="632450"/>
          </a:xfrm>
        </p:grpSpPr>
        <p:cxnSp>
          <p:nvCxnSpPr>
            <p:cNvPr id="603" name="Google Shape;603;g2e12b04c68a_0_979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04" name="Google Shape;604;g2e12b04c68a_0_979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05" name="Google Shape;605;g2e12b04c68a_0_979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06" name="Google Shape;606;g2e12b04c68a_0_979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07" name="Google Shape;607;g2e12b04c68a_0_979"/>
          <p:cNvGrpSpPr/>
          <p:nvPr/>
        </p:nvGrpSpPr>
        <p:grpSpPr>
          <a:xfrm>
            <a:off x="7679691" y="5275348"/>
            <a:ext cx="518057" cy="512095"/>
            <a:chOff x="1272075" y="3239850"/>
            <a:chExt cx="680400" cy="632450"/>
          </a:xfrm>
        </p:grpSpPr>
        <p:cxnSp>
          <p:nvCxnSpPr>
            <p:cNvPr id="608" name="Google Shape;608;g2e12b04c68a_0_979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09" name="Google Shape;609;g2e12b04c68a_0_979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10" name="Google Shape;610;g2e12b04c68a_0_979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11" name="Google Shape;611;g2e12b04c68a_0_979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g2f5fdc1cbb4_0_178"/>
          <p:cNvSpPr txBox="1">
            <a:spLocks noGrp="1"/>
          </p:cNvSpPr>
          <p:nvPr>
            <p:ph type="title"/>
          </p:nvPr>
        </p:nvSpPr>
        <p:spPr>
          <a:xfrm>
            <a:off x="457200" y="277805"/>
            <a:ext cx="8229600" cy="7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619" name="Google Shape;619;g2f5fdc1cbb4_0_178"/>
          <p:cNvPicPr preferRelativeResize="0"/>
          <p:nvPr/>
        </p:nvPicPr>
        <p:blipFill rotWithShape="1">
          <a:blip r:embed="rId3">
            <a:alphaModFix/>
          </a:blip>
          <a:srcRect l="24630" b="24545"/>
          <a:stretch/>
        </p:blipFill>
        <p:spPr>
          <a:xfrm>
            <a:off x="7315150" y="1205475"/>
            <a:ext cx="1230900" cy="120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g2f5fdc1cbb4_0_17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8367" y="1993739"/>
            <a:ext cx="383210" cy="374469"/>
          </a:xfrm>
          <a:prstGeom prst="rect">
            <a:avLst/>
          </a:prstGeom>
          <a:noFill/>
          <a:ln>
            <a:noFill/>
          </a:ln>
        </p:spPr>
      </p:pic>
      <p:sp>
        <p:nvSpPr>
          <p:cNvPr id="621" name="Google Shape;621;g2f5fdc1cbb4_0_178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6344400" cy="3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700"/>
              <a:t>For our original agent problem, we can pose it as follows: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An agent can be in any state </a:t>
            </a:r>
            <a:r>
              <a:rPr lang="en-US" sz="1700" i="1"/>
              <a:t>s</a:t>
            </a:r>
            <a:r>
              <a:rPr lang="en-US" sz="1700"/>
              <a:t> (position) in a room of size </a:t>
            </a:r>
            <a:r>
              <a:rPr lang="en-US" sz="1700" i="1"/>
              <a:t>MxN</a:t>
            </a:r>
            <a:r>
              <a:rPr lang="en-US" sz="1700"/>
              <a:t>.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The agent, chooses an action, according to its current state. The action changes its state to </a:t>
            </a:r>
            <a:r>
              <a:rPr lang="en-US" sz="1700" i="1"/>
              <a:t>s’</a:t>
            </a:r>
            <a:r>
              <a:rPr lang="en-US" sz="1700"/>
              <a:t>.</a:t>
            </a:r>
            <a:br>
              <a:rPr lang="en-US" sz="1700"/>
            </a:br>
            <a:r>
              <a:rPr lang="en-US" sz="1700" b="1"/>
              <a:t>D: </a:t>
            </a:r>
            <a:r>
              <a:rPr lang="en-US" sz="1700"/>
              <a:t>(0,0) -&gt; (1, 0)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00"/>
              <a:buChar char="●"/>
            </a:pPr>
            <a:endParaRPr sz="1700"/>
          </a:p>
        </p:txBody>
      </p:sp>
      <p:graphicFrame>
        <p:nvGraphicFramePr>
          <p:cNvPr id="622" name="Google Shape;622;g2f5fdc1cbb4_0_178"/>
          <p:cNvGraphicFramePr/>
          <p:nvPr/>
        </p:nvGraphicFramePr>
        <p:xfrm>
          <a:off x="5134938" y="293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.16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.16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23" name="Google Shape;623;g2f5fdc1cbb4_0_178"/>
          <p:cNvGrpSpPr/>
          <p:nvPr/>
        </p:nvGrpSpPr>
        <p:grpSpPr>
          <a:xfrm>
            <a:off x="5386840" y="3207772"/>
            <a:ext cx="518057" cy="512095"/>
            <a:chOff x="1272075" y="3239850"/>
            <a:chExt cx="680400" cy="632450"/>
          </a:xfrm>
        </p:grpSpPr>
        <p:cxnSp>
          <p:nvCxnSpPr>
            <p:cNvPr id="624" name="Google Shape;624;g2f5fdc1cbb4_0_178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25" name="Google Shape;625;g2f5fdc1cbb4_0_178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26" name="Google Shape;626;g2f5fdc1cbb4_0_178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27" name="Google Shape;627;g2f5fdc1cbb4_0_178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28" name="Google Shape;628;g2f5fdc1cbb4_0_178"/>
          <p:cNvGrpSpPr/>
          <p:nvPr/>
        </p:nvGrpSpPr>
        <p:grpSpPr>
          <a:xfrm>
            <a:off x="6598740" y="3207772"/>
            <a:ext cx="518057" cy="512095"/>
            <a:chOff x="1272075" y="3239850"/>
            <a:chExt cx="680400" cy="632450"/>
          </a:xfrm>
        </p:grpSpPr>
        <p:cxnSp>
          <p:nvCxnSpPr>
            <p:cNvPr id="629" name="Google Shape;629;g2f5fdc1cbb4_0_178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30" name="Google Shape;630;g2f5fdc1cbb4_0_178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31" name="Google Shape;631;g2f5fdc1cbb4_0_178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32" name="Google Shape;632;g2f5fdc1cbb4_0_178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33" name="Google Shape;633;g2f5fdc1cbb4_0_178"/>
          <p:cNvGrpSpPr/>
          <p:nvPr/>
        </p:nvGrpSpPr>
        <p:grpSpPr>
          <a:xfrm>
            <a:off x="7679690" y="3207772"/>
            <a:ext cx="518057" cy="512095"/>
            <a:chOff x="1272075" y="3239850"/>
            <a:chExt cx="680400" cy="632450"/>
          </a:xfrm>
        </p:grpSpPr>
        <p:cxnSp>
          <p:nvCxnSpPr>
            <p:cNvPr id="634" name="Google Shape;634;g2f5fdc1cbb4_0_178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35" name="Google Shape;635;g2f5fdc1cbb4_0_178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36" name="Google Shape;636;g2f5fdc1cbb4_0_178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37" name="Google Shape;637;g2f5fdc1cbb4_0_178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38" name="Google Shape;638;g2f5fdc1cbb4_0_178"/>
          <p:cNvGrpSpPr/>
          <p:nvPr/>
        </p:nvGrpSpPr>
        <p:grpSpPr>
          <a:xfrm>
            <a:off x="5386840" y="4254610"/>
            <a:ext cx="518057" cy="512095"/>
            <a:chOff x="1272075" y="3239850"/>
            <a:chExt cx="680400" cy="632450"/>
          </a:xfrm>
        </p:grpSpPr>
        <p:cxnSp>
          <p:nvCxnSpPr>
            <p:cNvPr id="639" name="Google Shape;639;g2f5fdc1cbb4_0_178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40" name="Google Shape;640;g2f5fdc1cbb4_0_178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41" name="Google Shape;641;g2f5fdc1cbb4_0_178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42" name="Google Shape;642;g2f5fdc1cbb4_0_178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43" name="Google Shape;643;g2f5fdc1cbb4_0_178"/>
          <p:cNvGrpSpPr/>
          <p:nvPr/>
        </p:nvGrpSpPr>
        <p:grpSpPr>
          <a:xfrm>
            <a:off x="6598740" y="4254610"/>
            <a:ext cx="518057" cy="512095"/>
            <a:chOff x="1272075" y="3239850"/>
            <a:chExt cx="680400" cy="632450"/>
          </a:xfrm>
        </p:grpSpPr>
        <p:cxnSp>
          <p:nvCxnSpPr>
            <p:cNvPr id="644" name="Google Shape;644;g2f5fdc1cbb4_0_178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45" name="Google Shape;645;g2f5fdc1cbb4_0_178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46" name="Google Shape;646;g2f5fdc1cbb4_0_178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47" name="Google Shape;647;g2f5fdc1cbb4_0_178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48" name="Google Shape;648;g2f5fdc1cbb4_0_178"/>
          <p:cNvGrpSpPr/>
          <p:nvPr/>
        </p:nvGrpSpPr>
        <p:grpSpPr>
          <a:xfrm>
            <a:off x="7679690" y="4254610"/>
            <a:ext cx="518057" cy="512095"/>
            <a:chOff x="1272075" y="3239850"/>
            <a:chExt cx="680400" cy="632450"/>
          </a:xfrm>
        </p:grpSpPr>
        <p:cxnSp>
          <p:nvCxnSpPr>
            <p:cNvPr id="649" name="Google Shape;649;g2f5fdc1cbb4_0_178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50" name="Google Shape;650;g2f5fdc1cbb4_0_178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51" name="Google Shape;651;g2f5fdc1cbb4_0_178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52" name="Google Shape;652;g2f5fdc1cbb4_0_178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53" name="Google Shape;653;g2f5fdc1cbb4_0_178"/>
          <p:cNvGrpSpPr/>
          <p:nvPr/>
        </p:nvGrpSpPr>
        <p:grpSpPr>
          <a:xfrm>
            <a:off x="5386840" y="5275347"/>
            <a:ext cx="518057" cy="512095"/>
            <a:chOff x="1272075" y="3239850"/>
            <a:chExt cx="680400" cy="632450"/>
          </a:xfrm>
        </p:grpSpPr>
        <p:cxnSp>
          <p:nvCxnSpPr>
            <p:cNvPr id="654" name="Google Shape;654;g2f5fdc1cbb4_0_178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55" name="Google Shape;655;g2f5fdc1cbb4_0_178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56" name="Google Shape;656;g2f5fdc1cbb4_0_178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57" name="Google Shape;657;g2f5fdc1cbb4_0_178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58" name="Google Shape;658;g2f5fdc1cbb4_0_178"/>
          <p:cNvGrpSpPr/>
          <p:nvPr/>
        </p:nvGrpSpPr>
        <p:grpSpPr>
          <a:xfrm>
            <a:off x="6598740" y="5275347"/>
            <a:ext cx="518057" cy="512095"/>
            <a:chOff x="1272075" y="3239850"/>
            <a:chExt cx="680400" cy="632450"/>
          </a:xfrm>
        </p:grpSpPr>
        <p:cxnSp>
          <p:nvCxnSpPr>
            <p:cNvPr id="659" name="Google Shape;659;g2f5fdc1cbb4_0_178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60" name="Google Shape;660;g2f5fdc1cbb4_0_178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61" name="Google Shape;661;g2f5fdc1cbb4_0_178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62" name="Google Shape;662;g2f5fdc1cbb4_0_178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63" name="Google Shape;663;g2f5fdc1cbb4_0_178"/>
          <p:cNvGrpSpPr/>
          <p:nvPr/>
        </p:nvGrpSpPr>
        <p:grpSpPr>
          <a:xfrm>
            <a:off x="7679690" y="5275347"/>
            <a:ext cx="518057" cy="512095"/>
            <a:chOff x="1272075" y="3239850"/>
            <a:chExt cx="680400" cy="632450"/>
          </a:xfrm>
        </p:grpSpPr>
        <p:cxnSp>
          <p:nvCxnSpPr>
            <p:cNvPr id="664" name="Google Shape;664;g2f5fdc1cbb4_0_178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65" name="Google Shape;665;g2f5fdc1cbb4_0_178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66" name="Google Shape;666;g2f5fdc1cbb4_0_178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67" name="Google Shape;667;g2f5fdc1cbb4_0_178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f5fdc1cbb4_0_233"/>
          <p:cNvSpPr txBox="1">
            <a:spLocks noGrp="1"/>
          </p:cNvSpPr>
          <p:nvPr>
            <p:ph type="title"/>
          </p:nvPr>
        </p:nvSpPr>
        <p:spPr>
          <a:xfrm>
            <a:off x="457200" y="277805"/>
            <a:ext cx="8229600" cy="7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000"/>
              <a:t>Markov Decision Processes (MDP)</a:t>
            </a:r>
            <a:endParaRPr sz="4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675" name="Google Shape;675;g2f5fdc1cbb4_0_233"/>
          <p:cNvPicPr preferRelativeResize="0"/>
          <p:nvPr/>
        </p:nvPicPr>
        <p:blipFill rotWithShape="1">
          <a:blip r:embed="rId3">
            <a:alphaModFix/>
          </a:blip>
          <a:srcRect l="24630" b="24545"/>
          <a:stretch/>
        </p:blipFill>
        <p:spPr>
          <a:xfrm>
            <a:off x="7315150" y="1205475"/>
            <a:ext cx="1230900" cy="120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g2f5fdc1cbb4_0_2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18367" y="1993739"/>
            <a:ext cx="383210" cy="374469"/>
          </a:xfrm>
          <a:prstGeom prst="rect">
            <a:avLst/>
          </a:prstGeom>
          <a:noFill/>
          <a:ln>
            <a:noFill/>
          </a:ln>
        </p:spPr>
      </p:pic>
      <p:sp>
        <p:nvSpPr>
          <p:cNvPr id="677" name="Google Shape;677;g2f5fdc1cbb4_0_233"/>
          <p:cNvSpPr txBox="1">
            <a:spLocks noGrp="1"/>
          </p:cNvSpPr>
          <p:nvPr>
            <p:ph type="body" idx="1"/>
          </p:nvPr>
        </p:nvSpPr>
        <p:spPr>
          <a:xfrm>
            <a:off x="457200" y="1205475"/>
            <a:ext cx="6344400" cy="392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170"/>
              <a:buNone/>
            </a:pPr>
            <a:r>
              <a:rPr lang="en-US" sz="1700"/>
              <a:t>For our original agent problem, we can pose it as follows: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An agent can be in any state </a:t>
            </a:r>
            <a:r>
              <a:rPr lang="en-US" sz="1700" b="1" i="1"/>
              <a:t>s</a:t>
            </a:r>
            <a:r>
              <a:rPr lang="en-US" sz="1700"/>
              <a:t> (position) in a room of size </a:t>
            </a:r>
            <a:r>
              <a:rPr lang="en-US" sz="1700" i="1"/>
              <a:t>MxN</a:t>
            </a:r>
            <a:r>
              <a:rPr lang="en-US" sz="1700"/>
              <a:t>.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The agent, chooses an action </a:t>
            </a:r>
            <a:r>
              <a:rPr lang="en-US" sz="1700" b="1" i="1"/>
              <a:t>a</a:t>
            </a:r>
            <a:r>
              <a:rPr lang="en-US" sz="1700"/>
              <a:t>, according to its current state. The action changes its state to </a:t>
            </a:r>
            <a:r>
              <a:rPr lang="en-US" sz="1700" b="1" i="1"/>
              <a:t>s’</a:t>
            </a:r>
            <a:r>
              <a:rPr lang="en-US" sz="1700"/>
              <a:t>.</a:t>
            </a:r>
            <a:br>
              <a:rPr lang="en-US" sz="1700"/>
            </a:br>
            <a:r>
              <a:rPr lang="en-US" sz="1700" b="1"/>
              <a:t>D: </a:t>
            </a:r>
            <a:r>
              <a:rPr lang="en-US" sz="1700"/>
              <a:t>(0,0) -&gt; (1, 0)</a:t>
            </a:r>
            <a:endParaRPr sz="1700"/>
          </a:p>
          <a:p>
            <a:pPr marL="457200" lvl="0" indent="-33655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Each pair </a:t>
            </a:r>
            <a:r>
              <a:rPr lang="en-US" sz="1700" i="1"/>
              <a:t>(a,s) </a:t>
            </a:r>
            <a:r>
              <a:rPr lang="en-US" sz="1700"/>
              <a:t>will have an associated</a:t>
            </a:r>
            <a:br>
              <a:rPr lang="en-US" sz="1700"/>
            </a:br>
            <a:r>
              <a:rPr lang="en-US" sz="1700"/>
              <a:t>utility:</a:t>
            </a:r>
            <a:br>
              <a:rPr lang="en-US" sz="1700"/>
            </a:br>
            <a:r>
              <a:rPr lang="en-US" sz="1700" b="1" i="1"/>
              <a:t>U</a:t>
            </a:r>
            <a:r>
              <a:rPr lang="en-US" sz="1700" i="1"/>
              <a:t>( D, (1, 2) ) = 9   </a:t>
            </a:r>
            <a:r>
              <a:rPr lang="en-US" sz="1500" i="1"/>
              <a:t>(Considering move cost)</a:t>
            </a:r>
            <a:endParaRPr sz="1500" i="1"/>
          </a:p>
        </p:txBody>
      </p:sp>
      <p:graphicFrame>
        <p:nvGraphicFramePr>
          <p:cNvPr id="678" name="Google Shape;678;g2f5fdc1cbb4_0_233"/>
          <p:cNvGraphicFramePr/>
          <p:nvPr/>
        </p:nvGraphicFramePr>
        <p:xfrm>
          <a:off x="5134938" y="293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{7152C63E-CBAC-40B8-B033-407424A864AB}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.25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</a:rPr>
                        <a:t>.25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</a:rPr>
                        <a:t>.25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</a:rPr>
                        <a:t>.25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.25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</a:rPr>
                        <a:t>.25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.25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.25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>
                          <a:solidFill>
                            <a:schemeClr val="dk1"/>
                          </a:solidFill>
                        </a:rPr>
                        <a:t>.25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.25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.25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.16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.16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.33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.5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6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b="1" u="none" strike="noStrike" cap="none"/>
                        <a:t>0</a:t>
                      </a: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sz="1100" b="1" u="none" strike="noStrike" cap="none"/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679" name="Google Shape;679;g2f5fdc1cbb4_0_233"/>
          <p:cNvGrpSpPr/>
          <p:nvPr/>
        </p:nvGrpSpPr>
        <p:grpSpPr>
          <a:xfrm>
            <a:off x="5463040" y="3207772"/>
            <a:ext cx="518057" cy="512095"/>
            <a:chOff x="1272075" y="3239850"/>
            <a:chExt cx="680400" cy="632450"/>
          </a:xfrm>
        </p:grpSpPr>
        <p:cxnSp>
          <p:nvCxnSpPr>
            <p:cNvPr id="680" name="Google Shape;680;g2f5fdc1cbb4_0_233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81" name="Google Shape;681;g2f5fdc1cbb4_0_233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82" name="Google Shape;682;g2f5fdc1cbb4_0_233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83" name="Google Shape;683;g2f5fdc1cbb4_0_233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84" name="Google Shape;684;g2f5fdc1cbb4_0_233"/>
          <p:cNvGrpSpPr/>
          <p:nvPr/>
        </p:nvGrpSpPr>
        <p:grpSpPr>
          <a:xfrm>
            <a:off x="6598740" y="3207772"/>
            <a:ext cx="518057" cy="512095"/>
            <a:chOff x="1272075" y="3239850"/>
            <a:chExt cx="680400" cy="632450"/>
          </a:xfrm>
        </p:grpSpPr>
        <p:cxnSp>
          <p:nvCxnSpPr>
            <p:cNvPr id="685" name="Google Shape;685;g2f5fdc1cbb4_0_233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86" name="Google Shape;686;g2f5fdc1cbb4_0_233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87" name="Google Shape;687;g2f5fdc1cbb4_0_233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88" name="Google Shape;688;g2f5fdc1cbb4_0_233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89" name="Google Shape;689;g2f5fdc1cbb4_0_233"/>
          <p:cNvGrpSpPr/>
          <p:nvPr/>
        </p:nvGrpSpPr>
        <p:grpSpPr>
          <a:xfrm>
            <a:off x="7755890" y="3207772"/>
            <a:ext cx="518057" cy="512095"/>
            <a:chOff x="1272075" y="3239850"/>
            <a:chExt cx="680400" cy="632450"/>
          </a:xfrm>
        </p:grpSpPr>
        <p:cxnSp>
          <p:nvCxnSpPr>
            <p:cNvPr id="690" name="Google Shape;690;g2f5fdc1cbb4_0_233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91" name="Google Shape;691;g2f5fdc1cbb4_0_233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92" name="Google Shape;692;g2f5fdc1cbb4_0_233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93" name="Google Shape;693;g2f5fdc1cbb4_0_233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94" name="Google Shape;694;g2f5fdc1cbb4_0_233"/>
          <p:cNvGrpSpPr/>
          <p:nvPr/>
        </p:nvGrpSpPr>
        <p:grpSpPr>
          <a:xfrm>
            <a:off x="5386840" y="4254610"/>
            <a:ext cx="518057" cy="512095"/>
            <a:chOff x="1272075" y="3239850"/>
            <a:chExt cx="680400" cy="632450"/>
          </a:xfrm>
        </p:grpSpPr>
        <p:cxnSp>
          <p:nvCxnSpPr>
            <p:cNvPr id="695" name="Google Shape;695;g2f5fdc1cbb4_0_233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96" name="Google Shape;696;g2f5fdc1cbb4_0_233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97" name="Google Shape;697;g2f5fdc1cbb4_0_233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698" name="Google Shape;698;g2f5fdc1cbb4_0_233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699" name="Google Shape;699;g2f5fdc1cbb4_0_233"/>
          <p:cNvGrpSpPr/>
          <p:nvPr/>
        </p:nvGrpSpPr>
        <p:grpSpPr>
          <a:xfrm>
            <a:off x="6598740" y="4254610"/>
            <a:ext cx="518057" cy="512095"/>
            <a:chOff x="1272075" y="3239850"/>
            <a:chExt cx="680400" cy="632450"/>
          </a:xfrm>
        </p:grpSpPr>
        <p:cxnSp>
          <p:nvCxnSpPr>
            <p:cNvPr id="700" name="Google Shape;700;g2f5fdc1cbb4_0_233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01" name="Google Shape;701;g2f5fdc1cbb4_0_233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02" name="Google Shape;702;g2f5fdc1cbb4_0_233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03" name="Google Shape;703;g2f5fdc1cbb4_0_233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704" name="Google Shape;704;g2f5fdc1cbb4_0_233"/>
          <p:cNvGrpSpPr/>
          <p:nvPr/>
        </p:nvGrpSpPr>
        <p:grpSpPr>
          <a:xfrm>
            <a:off x="7679690" y="4254610"/>
            <a:ext cx="518057" cy="512095"/>
            <a:chOff x="1272075" y="3239850"/>
            <a:chExt cx="680400" cy="632450"/>
          </a:xfrm>
        </p:grpSpPr>
        <p:cxnSp>
          <p:nvCxnSpPr>
            <p:cNvPr id="705" name="Google Shape;705;g2f5fdc1cbb4_0_233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06" name="Google Shape;706;g2f5fdc1cbb4_0_233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07" name="Google Shape;707;g2f5fdc1cbb4_0_233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08" name="Google Shape;708;g2f5fdc1cbb4_0_233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709" name="Google Shape;709;g2f5fdc1cbb4_0_233"/>
          <p:cNvGrpSpPr/>
          <p:nvPr/>
        </p:nvGrpSpPr>
        <p:grpSpPr>
          <a:xfrm>
            <a:off x="5386840" y="5275347"/>
            <a:ext cx="518057" cy="512095"/>
            <a:chOff x="1272075" y="3239850"/>
            <a:chExt cx="680400" cy="632450"/>
          </a:xfrm>
        </p:grpSpPr>
        <p:cxnSp>
          <p:nvCxnSpPr>
            <p:cNvPr id="710" name="Google Shape;710;g2f5fdc1cbb4_0_233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1" name="Google Shape;711;g2f5fdc1cbb4_0_233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2" name="Google Shape;712;g2f5fdc1cbb4_0_233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3" name="Google Shape;713;g2f5fdc1cbb4_0_233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714" name="Google Shape;714;g2f5fdc1cbb4_0_233"/>
          <p:cNvGrpSpPr/>
          <p:nvPr/>
        </p:nvGrpSpPr>
        <p:grpSpPr>
          <a:xfrm>
            <a:off x="6598740" y="5275347"/>
            <a:ext cx="518057" cy="512095"/>
            <a:chOff x="1272075" y="3239850"/>
            <a:chExt cx="680400" cy="632450"/>
          </a:xfrm>
        </p:grpSpPr>
        <p:cxnSp>
          <p:nvCxnSpPr>
            <p:cNvPr id="715" name="Google Shape;715;g2f5fdc1cbb4_0_233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6" name="Google Shape;716;g2f5fdc1cbb4_0_233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7" name="Google Shape;717;g2f5fdc1cbb4_0_233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18" name="Google Shape;718;g2f5fdc1cbb4_0_233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  <p:grpSp>
        <p:nvGrpSpPr>
          <p:cNvPr id="719" name="Google Shape;719;g2f5fdc1cbb4_0_233"/>
          <p:cNvGrpSpPr/>
          <p:nvPr/>
        </p:nvGrpSpPr>
        <p:grpSpPr>
          <a:xfrm>
            <a:off x="7679690" y="5275347"/>
            <a:ext cx="518057" cy="512095"/>
            <a:chOff x="1272075" y="3239850"/>
            <a:chExt cx="680400" cy="632450"/>
          </a:xfrm>
        </p:grpSpPr>
        <p:cxnSp>
          <p:nvCxnSpPr>
            <p:cNvPr id="720" name="Google Shape;720;g2f5fdc1cbb4_0_233"/>
            <p:cNvCxnSpPr/>
            <p:nvPr/>
          </p:nvCxnSpPr>
          <p:spPr>
            <a:xfrm rot="10800000">
              <a:off x="1608375" y="32398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21" name="Google Shape;721;g2f5fdc1cbb4_0_233"/>
            <p:cNvCxnSpPr/>
            <p:nvPr/>
          </p:nvCxnSpPr>
          <p:spPr>
            <a:xfrm rot="-5400000">
              <a:off x="17607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22" name="Google Shape;722;g2f5fdc1cbb4_0_233"/>
            <p:cNvCxnSpPr/>
            <p:nvPr/>
          </p:nvCxnSpPr>
          <p:spPr>
            <a:xfrm>
              <a:off x="1608375" y="349400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cxnSp>
          <p:nvCxnSpPr>
            <p:cNvPr id="723" name="Google Shape;723;g2f5fdc1cbb4_0_233"/>
            <p:cNvCxnSpPr/>
            <p:nvPr/>
          </p:nvCxnSpPr>
          <p:spPr>
            <a:xfrm rot="5400000">
              <a:off x="1458675" y="3392250"/>
              <a:ext cx="5100" cy="378300"/>
            </a:xfrm>
            <a:prstGeom prst="straightConnector1">
              <a:avLst/>
            </a:prstGeom>
            <a:noFill/>
            <a:ln w="28575" cap="flat" cmpd="sng">
              <a:solidFill>
                <a:srgbClr val="CC3300"/>
              </a:solidFill>
              <a:prstDash val="solid"/>
              <a:round/>
              <a:headEnd type="none" w="sm" len="sm"/>
              <a:tailEnd type="triangle" w="med" len="med"/>
            </a:ln>
          </p:spPr>
        </p:cxnSp>
      </p:grp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default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CC9900"/>
      </a:accent4>
      <a:accent5>
        <a:srgbClr val="3B812F"/>
      </a:accent5>
      <a:accent6>
        <a:srgbClr val="FFFFFF"/>
      </a:accent6>
      <a:hlink>
        <a:srgbClr val="996600"/>
      </a:hlink>
      <a:folHlink>
        <a:srgbClr val="AFBF3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0ec0d4c-04c6-4704-9b9d-f9c1df4ff1ba">
      <Terms xmlns="http://schemas.microsoft.com/office/infopath/2007/PartnerControls"/>
    </lcf76f155ced4ddcb4097134ff3c332f>
    <TaxCatchAll xmlns="c0587088-7c24-4881-8fa2-37f7164e5cc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4F5DF901266EB46A712FE93801BA1D6" ma:contentTypeVersion="15" ma:contentTypeDescription="Create a new document." ma:contentTypeScope="" ma:versionID="7cf47ee2fdae45ad2b2738e5487ef8f5">
  <xsd:schema xmlns:xsd="http://www.w3.org/2001/XMLSchema" xmlns:xs="http://www.w3.org/2001/XMLSchema" xmlns:p="http://schemas.microsoft.com/office/2006/metadata/properties" xmlns:ns2="70ec0d4c-04c6-4704-9b9d-f9c1df4ff1ba" xmlns:ns3="c0587088-7c24-4881-8fa2-37f7164e5ccf" targetNamespace="http://schemas.microsoft.com/office/2006/metadata/properties" ma:root="true" ma:fieldsID="ab34482a2b14c90b47d89902a7710ce8" ns2:_="" ns3:_="">
    <xsd:import namespace="70ec0d4c-04c6-4704-9b9d-f9c1df4ff1ba"/>
    <xsd:import namespace="c0587088-7c24-4881-8fa2-37f7164e5cc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LengthInSeconds" minOccurs="0"/>
                <xsd:element ref="ns2:MediaServiceObjectDetectorVersion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c0d4c-04c6-4704-9b9d-f9c1df4ff1b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13b0b881-3bf5-4493-8d21-dd6cf614d6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587088-7c24-4881-8fa2-37f7164e5ccf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1e35ec3c-03b4-409f-a06e-371fbcf352db}" ma:internalName="TaxCatchAll" ma:showField="CatchAllData" ma:web="c0587088-7c24-4881-8fa2-37f7164e5cc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72D3269-20C0-47D8-9094-693665A1398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B34DE56-D1C0-474A-ADD8-F696BB58B858}">
  <ds:schemaRefs>
    <ds:schemaRef ds:uri="http://schemas.microsoft.com/office/2006/metadata/properties"/>
    <ds:schemaRef ds:uri="http://schemas.microsoft.com/office/infopath/2007/PartnerControls"/>
    <ds:schemaRef ds:uri="70ec0d4c-04c6-4704-9b9d-f9c1df4ff1ba"/>
    <ds:schemaRef ds:uri="c0587088-7c24-4881-8fa2-37f7164e5ccf"/>
  </ds:schemaRefs>
</ds:datastoreItem>
</file>

<file path=customXml/itemProps3.xml><?xml version="1.0" encoding="utf-8"?>
<ds:datastoreItem xmlns:ds="http://schemas.openxmlformats.org/officeDocument/2006/customXml" ds:itemID="{F158D71A-AB89-4A23-982D-FAA2F5E484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c0d4c-04c6-4704-9b9d-f9c1df4ff1ba"/>
    <ds:schemaRef ds:uri="c0587088-7c24-4881-8fa2-37f7164e5cc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4592</Words>
  <Application>Microsoft Office PowerPoint</Application>
  <PresentationFormat>On-screen Show (4:3)</PresentationFormat>
  <Paragraphs>1085</Paragraphs>
  <Slides>53</Slides>
  <Notes>53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Noto Sans Symbols</vt:lpstr>
      <vt:lpstr>Arial</vt:lpstr>
      <vt:lpstr>Garamond</vt:lpstr>
      <vt:lpstr>Edge</vt:lpstr>
      <vt:lpstr>PowerPoint Presentation</vt:lpstr>
      <vt:lpstr>Reaching Agreements</vt:lpstr>
      <vt:lpstr>Maximum Expected Profit </vt:lpstr>
      <vt:lpstr>Maximum Expected Profit</vt:lpstr>
      <vt:lpstr>Maximum Expected Profit</vt:lpstr>
      <vt:lpstr>Maximum Expected Profit</vt:lpstr>
      <vt:lpstr>Maximum Expected Profit</vt:lpstr>
      <vt:lpstr>Maximum Expected Profit</vt:lpstr>
      <vt:lpstr>Maximum Expected Profit</vt:lpstr>
      <vt:lpstr>Maximum Expected Profit</vt:lpstr>
      <vt:lpstr>Maximum Expected Profit </vt:lpstr>
      <vt:lpstr>Maximum Expected Profit </vt:lpstr>
      <vt:lpstr>Maximum Expected Profit </vt:lpstr>
      <vt:lpstr>Maximum Expected Profit </vt:lpstr>
      <vt:lpstr>Maximum Expected Profit </vt:lpstr>
      <vt:lpstr>Maximum Expected Profit </vt:lpstr>
      <vt:lpstr>Maximum Expected Profit </vt:lpstr>
      <vt:lpstr>Markov chains  </vt:lpstr>
      <vt:lpstr>Markov chains  </vt:lpstr>
      <vt:lpstr>Markov chains  </vt:lpstr>
      <vt:lpstr>Markov chains  </vt:lpstr>
      <vt:lpstr>Markov chains  </vt:lpstr>
      <vt:lpstr>Markov chains  </vt:lpstr>
      <vt:lpstr>Markov chains  </vt:lpstr>
      <vt:lpstr>Markov chains  </vt:lpstr>
      <vt:lpstr>Markov chains  </vt:lpstr>
      <vt:lpstr>Markov chains  </vt:lpstr>
      <vt:lpstr>Markov Decision Processes (MDP)</vt:lpstr>
      <vt:lpstr>Markov Decision Processes (MDP)</vt:lpstr>
      <vt:lpstr>Markov Decision Processes (MDP)</vt:lpstr>
      <vt:lpstr>Markov Decision Processes (MDP)</vt:lpstr>
      <vt:lpstr>Markov Decision Processes (MDP)</vt:lpstr>
      <vt:lpstr>Markov Decision Processes (MDP)</vt:lpstr>
      <vt:lpstr>Markov Decision Processes (MDP)</vt:lpstr>
      <vt:lpstr>Markov Decision Processes (MDP)</vt:lpstr>
      <vt:lpstr>Markov Decision Processes (MDP)</vt:lpstr>
      <vt:lpstr>Markov Decision Processes (MDP)</vt:lpstr>
      <vt:lpstr>Markov Decision Processes (MDP)</vt:lpstr>
      <vt:lpstr>Beast-Search </vt:lpstr>
      <vt:lpstr>Beast-Search </vt:lpstr>
      <vt:lpstr>Beast-Search </vt:lpstr>
      <vt:lpstr> Q-Learning Algorithm</vt:lpstr>
      <vt:lpstr> Q-Learning Algorithm</vt:lpstr>
      <vt:lpstr> Q-Learning Algorithm</vt:lpstr>
      <vt:lpstr> Q-Learning Algorithm</vt:lpstr>
      <vt:lpstr> Q-Learning Algorithm</vt:lpstr>
      <vt:lpstr> Q-Learning Algorithm</vt:lpstr>
      <vt:lpstr> Q-Learning Algorithm</vt:lpstr>
      <vt:lpstr> Q-Learning Algorithm</vt:lpstr>
      <vt:lpstr>Example</vt:lpstr>
      <vt:lpstr>Markov Decision Processes (MDP)   </vt:lpstr>
      <vt:lpstr>Markov Decision Processes (MDP)   </vt:lpstr>
      <vt:lpstr>Markov Decision Processes (MDP)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Jeff Rosenschein</dc:creator>
  <cp:lastModifiedBy>Alfredo Alan Flores Saldivar</cp:lastModifiedBy>
  <cp:revision>1</cp:revision>
  <dcterms:created xsi:type="dcterms:W3CDTF">2002-09-12T12:30:06Z</dcterms:created>
  <dcterms:modified xsi:type="dcterms:W3CDTF">2025-08-25T22:08:02Z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0x01010094F5DF901266EB46A712FE93801BA1D6</vt:lpwstr>
  </property>
</Properties>
</file>